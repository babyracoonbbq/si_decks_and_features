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  <p:sldMasterId id="2147483661" r:id="rId2"/>
    <p:sldMasterId id="2147483668" r:id="rId3"/>
    <p:sldMasterId id="2147483670" r:id="rId4"/>
    <p:sldMasterId id="2147483672" r:id="rId5"/>
  </p:sldMasterIdLst>
  <p:notesMasterIdLst>
    <p:notesMasterId r:id="rId13"/>
  </p:notesMasterIdLst>
  <p:sldIdLst>
    <p:sldId id="257" r:id="rId6"/>
    <p:sldId id="263" r:id="rId7"/>
    <p:sldId id="262" r:id="rId8"/>
    <p:sldId id="261" r:id="rId9"/>
    <p:sldId id="260" r:id="rId10"/>
    <p:sldId id="264" r:id="rId11"/>
    <p:sldId id="258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C9C"/>
    <a:srgbClr val="005DC8"/>
    <a:srgbClr val="59C8DC"/>
    <a:srgbClr val="F0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72" autoAdjust="0"/>
    <p:restoredTop sz="96781" autoAdjust="0"/>
  </p:normalViewPr>
  <p:slideViewPr>
    <p:cSldViewPr snapToGrid="0">
      <p:cViewPr>
        <p:scale>
          <a:sx n="75" d="100"/>
          <a:sy n="75" d="100"/>
        </p:scale>
        <p:origin x="1776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8" d="100"/>
          <a:sy n="98" d="100"/>
        </p:scale>
        <p:origin x="359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B76A68-DD57-4EE1-A897-EB050063E29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2D768-54B6-4C32-8682-C753D2277F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68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TCAD的基础定位和核心价值。其次，将重点分析TCAD在半导体、量子计算和可控核聚变这三大未来赛道中所发挥的全局性作用。接着，我们会探讨TCAD在产学研联动中的价值。然后，通过国际经验教训，阐述自主可控EDA/TCAD的重要性。最后，将以国产企业为例，展望我国EDA生态的构建与未来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TCAD的基础定位和核心价值。其次，将重点分析TCAD在半导体、量子计算和可控核聚变这三大未来赛道中所发挥的全局性作用。接着，我们会探讨TCAD在产学研联动中的价值。然后，通过国际经验教训，阐述自主可控EDA/TCAD的重要性。最后，将以国产企业为例，展望我国EDA生态的构建与未来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TCAD的基础定位和核心价值。其次，将重点分析TCAD在半导体、量子计算和可控核聚变这三大未来赛道中所发挥的全局性作用。接着，我们会探讨TCAD在产学研联动中的价值。然后，通过国际经验教训，阐述自主可控EDA/TCAD的重要性。最后，将以国产企业为例，展望我国EDA生态的构建与未来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TCAD的基础定位和核心价值。其次，将重点分析TCAD在半导体、量子计算和可控核聚变这三大未来赛道中所发挥的全局性作用。接着，我们会探讨TCAD在产学研联动中的价值。然后，通过国际经验教训，阐述自主可控EDA/TCAD的重要性。最后，将以国产企业为例，展望我国EDA生态的构建与未来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TCAD的基础定位和核心价值。其次，将重点分析TCAD在半导体、量子计算和可控核聚变这三大未来赛道中所发挥的全局性作用。接着，我们会探讨TCAD在产学研联动中的价值。然后，通过国际经验教训，阐述自主可控EDA/TCAD的重要性。最后，将以国产企业为例，展望我国EDA生态的构建与未来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TCAD的基础定位和核心价值。其次，将重点分析TCAD在半导体、量子计算和可控核聚变这三大未来赛道中所发挥的全局性作用。接着，我们会探讨TCAD在产学研联动中的价值。然后，通过国际经验教训，阐述自主可控EDA/TCAD的重要性。最后，将以国产企业为例，展望我国EDA生态的构建与未来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67993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将明确TCAD的基础定位和核心价值。其次，将重点分析TCAD在半导体、量子计算和可控核聚变这三大未来赛道中所发挥的全局性作用。接着，我们会探讨TCAD在产学研联动中的价值。然后，通过国际经验教训，阐述自主可控EDA/TCAD的重要性。最后，将以国产企业为例，展望我国EDA生态的构建与未来启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9BDA014-92A6-426D-B7EF-9CF5F346F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" y="1"/>
            <a:ext cx="12191283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31B1AD7-37C2-4615-8A05-D7466E3569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69" y="296936"/>
            <a:ext cx="1977404" cy="555286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3F1E45AE-208C-4BD2-9DAB-02B4E520C41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995877" y="6571976"/>
            <a:ext cx="203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Advanced Manufacturing EDA Co.,Ltd</a:t>
            </a:r>
          </a:p>
        </p:txBody>
      </p:sp>
      <p:sp>
        <p:nvSpPr>
          <p:cNvPr id="16" name="标题 12">
            <a:extLst>
              <a:ext uri="{FF2B5EF4-FFF2-40B4-BE49-F238E27FC236}">
                <a16:creationId xmlns:a16="http://schemas.microsoft.com/office/drawing/2014/main" id="{E37138CF-1980-4F89-88DB-8B36381C8F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069" y="1704041"/>
            <a:ext cx="9839277" cy="797169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  击  以  编  辑  主  标  题  样  式</a:t>
            </a:r>
          </a:p>
        </p:txBody>
      </p:sp>
      <p:sp>
        <p:nvSpPr>
          <p:cNvPr id="17" name="文本占位符 14">
            <a:extLst>
              <a:ext uri="{FF2B5EF4-FFF2-40B4-BE49-F238E27FC236}">
                <a16:creationId xmlns:a16="http://schemas.microsoft.com/office/drawing/2014/main" id="{35D8AEC6-81C6-458B-82EC-E12E57286A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070" y="2658779"/>
            <a:ext cx="5300976" cy="1038184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输入您的姓名</a:t>
            </a:r>
            <a:endParaRPr lang="en-US" altLang="zh-CN" dirty="0"/>
          </a:p>
          <a:p>
            <a:r>
              <a:rPr lang="zh-CN" altLang="en-US" dirty="0"/>
              <a:t>输入您的组织</a:t>
            </a:r>
            <a:endParaRPr lang="en-US" altLang="zh-CN" dirty="0"/>
          </a:p>
          <a:p>
            <a:r>
              <a:rPr lang="zh-CN" altLang="en-US" dirty="0"/>
              <a:t>输入日期</a:t>
            </a:r>
          </a:p>
        </p:txBody>
      </p:sp>
    </p:spTree>
    <p:extLst>
      <p:ext uri="{BB962C8B-B14F-4D97-AF65-F5344CB8AC3E}">
        <p14:creationId xmlns:p14="http://schemas.microsoft.com/office/powerpoint/2010/main" val="296695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7B948E8-EC0F-4A91-A65D-86A27C92E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324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AC03055-212A-4DD2-9DE9-D2654F6C1D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0731" cy="685800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F4429-56CF-49D8-8E0F-EDAF412B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597143"/>
            <a:ext cx="457200" cy="232634"/>
          </a:xfrm>
        </p:spPr>
        <p:txBody>
          <a:bodyPr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368F3B-5AF7-4907-849D-62C5FB8331E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20F9492-B241-4FC5-89B7-BB84FE5D0A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7" y="211016"/>
            <a:ext cx="203864" cy="433754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E8211635-4D1B-432B-B286-AD7FCF5C5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922" y="131884"/>
            <a:ext cx="9612024" cy="59201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5DC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单击以编辑主标题样式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5BFE19-7D91-4B6A-A189-E57026917A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677" y="235319"/>
            <a:ext cx="1343723" cy="377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0E717F-F7AE-4D56-9CEA-FED704951D4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282934" y="6611779"/>
            <a:ext cx="5626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全芯智造专有，未经允许禁止转发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AMEGADAC proprietary, unauthorized transfer limited.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A6D22B-F219-4EBC-8FFC-24DBE9A009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712" y="847976"/>
            <a:ext cx="10942576" cy="56342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编辑主文本样式</a:t>
            </a:r>
            <a:endParaRPr lang="en-US" dirty="0"/>
          </a:p>
          <a:p>
            <a:pPr lvl="1"/>
            <a:r>
              <a:rPr lang="zh-CN" altLang="en-US" dirty="0"/>
              <a:t>第二级</a:t>
            </a:r>
            <a:endParaRPr lang="en-US" dirty="0"/>
          </a:p>
          <a:p>
            <a:pPr lvl="2"/>
            <a:r>
              <a:rPr lang="zh-CN" altLang="en-US" dirty="0"/>
              <a:t>第三级</a:t>
            </a:r>
            <a:endParaRPr lang="en-US" dirty="0"/>
          </a:p>
          <a:p>
            <a:pPr lvl="3"/>
            <a:r>
              <a:rPr lang="zh-CN" altLang="en-US" dirty="0"/>
              <a:t>第四级</a:t>
            </a:r>
            <a:endParaRPr 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12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11C51F4-6D90-4330-9452-CFC47135A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FBBA07-38EA-487F-8B7F-675C077033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049" y="6326723"/>
            <a:ext cx="1220466" cy="34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8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9BDA014-92A6-426D-B7EF-9CF5F346F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" y="1"/>
            <a:ext cx="12191283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31B1AD7-37C2-4615-8A05-D7466E356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69" y="296936"/>
            <a:ext cx="1977404" cy="555286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3F1E45AE-208C-4BD2-9DAB-02B4E520C414}"/>
              </a:ext>
            </a:extLst>
          </p:cNvPr>
          <p:cNvSpPr txBox="1">
            <a:spLocks noChangeAspect="1"/>
          </p:cNvSpPr>
          <p:nvPr/>
        </p:nvSpPr>
        <p:spPr>
          <a:xfrm>
            <a:off x="9995877" y="6571976"/>
            <a:ext cx="203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Advanced Manufacturing EDA Co.,Ltd</a:t>
            </a:r>
          </a:p>
        </p:txBody>
      </p:sp>
      <p:sp>
        <p:nvSpPr>
          <p:cNvPr id="16" name="标题 12">
            <a:extLst>
              <a:ext uri="{FF2B5EF4-FFF2-40B4-BE49-F238E27FC236}">
                <a16:creationId xmlns:a16="http://schemas.microsoft.com/office/drawing/2014/main" id="{E37138CF-1980-4F89-88DB-8B36381C8F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069" y="1704041"/>
            <a:ext cx="9839277" cy="797169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  击  以  编  辑  主  标  题  样  式</a:t>
            </a:r>
          </a:p>
        </p:txBody>
      </p:sp>
      <p:sp>
        <p:nvSpPr>
          <p:cNvPr id="17" name="文本占位符 14">
            <a:extLst>
              <a:ext uri="{FF2B5EF4-FFF2-40B4-BE49-F238E27FC236}">
                <a16:creationId xmlns:a16="http://schemas.microsoft.com/office/drawing/2014/main" id="{35D8AEC6-81C6-458B-82EC-E12E57286A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070" y="2658779"/>
            <a:ext cx="5300976" cy="1038184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输入您的姓名</a:t>
            </a:r>
            <a:endParaRPr lang="en-US" altLang="zh-CN" dirty="0"/>
          </a:p>
          <a:p>
            <a:r>
              <a:rPr lang="zh-CN" altLang="en-US" dirty="0"/>
              <a:t>输入您的组织</a:t>
            </a:r>
            <a:endParaRPr lang="en-US" altLang="zh-CN" dirty="0"/>
          </a:p>
          <a:p>
            <a:r>
              <a:rPr lang="zh-CN" altLang="en-US" dirty="0"/>
              <a:t>输入日期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2DA30AA-F2FF-883C-8F7B-500D54469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" y="403"/>
            <a:ext cx="12190565" cy="6857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DF3F75C-E279-E7DB-36C3-72423780F6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50" y="393699"/>
            <a:ext cx="1813564" cy="381001"/>
          </a:xfrm>
          <a:prstGeom prst="rect">
            <a:avLst/>
          </a:prstGeom>
        </p:spPr>
      </p:pic>
      <p:sp>
        <p:nvSpPr>
          <p:cNvPr id="4" name="TextBox 10">
            <a:extLst>
              <a:ext uri="{FF2B5EF4-FFF2-40B4-BE49-F238E27FC236}">
                <a16:creationId xmlns:a16="http://schemas.microsoft.com/office/drawing/2014/main" id="{05F4EA8B-0519-3FF6-F7F8-40723AC3D8EE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744075" y="6571976"/>
            <a:ext cx="2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© Advanced Manufacturing EDA Co.,Ltd</a:t>
            </a:r>
          </a:p>
        </p:txBody>
      </p:sp>
    </p:spTree>
    <p:extLst>
      <p:ext uri="{BB962C8B-B14F-4D97-AF65-F5344CB8AC3E}">
        <p14:creationId xmlns:p14="http://schemas.microsoft.com/office/powerpoint/2010/main" val="408065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7B948E8-EC0F-4A91-A65D-86A27C92E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C2774AD-16F7-8672-2BDA-E82C15BD3C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4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AC03055-212A-4DD2-9DE9-D2654F6C1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0731" cy="685800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F4429-56CF-49D8-8E0F-EDAF412B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597143"/>
            <a:ext cx="457200" cy="232634"/>
          </a:xfrm>
        </p:spPr>
        <p:txBody>
          <a:bodyPr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368F3B-5AF7-4907-849D-62C5FB8331E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20F9492-B241-4FC5-89B7-BB84FE5D0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7" y="211016"/>
            <a:ext cx="203864" cy="433754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E8211635-4D1B-432B-B286-AD7FCF5C5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922" y="131884"/>
            <a:ext cx="9612024" cy="59201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5DC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单击以编辑主标题样式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5BFE19-7D91-4B6A-A189-E57026917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677" y="235319"/>
            <a:ext cx="1343723" cy="377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0E717F-F7AE-4D56-9CEA-FED704951D4D}"/>
              </a:ext>
            </a:extLst>
          </p:cNvPr>
          <p:cNvSpPr txBox="1">
            <a:spLocks noChangeAspect="1"/>
          </p:cNvSpPr>
          <p:nvPr/>
        </p:nvSpPr>
        <p:spPr>
          <a:xfrm>
            <a:off x="3282934" y="6611779"/>
            <a:ext cx="5626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全芯智造专有，未经允许禁止转发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AMEGADAC proprietary, unauthorized transfer limited.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A6D22B-F219-4EBC-8FFC-24DBE9A009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712" y="847976"/>
            <a:ext cx="10942576" cy="56342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编辑主文本样式</a:t>
            </a:r>
            <a:endParaRPr lang="en-US" dirty="0"/>
          </a:p>
          <a:p>
            <a:pPr lvl="1"/>
            <a:r>
              <a:rPr lang="zh-CN" altLang="en-US" dirty="0"/>
              <a:t>第二级</a:t>
            </a:r>
            <a:endParaRPr lang="en-US" dirty="0"/>
          </a:p>
          <a:p>
            <a:pPr lvl="2"/>
            <a:r>
              <a:rPr lang="zh-CN" altLang="en-US" dirty="0"/>
              <a:t>第三级</a:t>
            </a:r>
            <a:endParaRPr lang="en-US" dirty="0"/>
          </a:p>
          <a:p>
            <a:pPr lvl="3"/>
            <a:r>
              <a:rPr lang="zh-CN" altLang="en-US" dirty="0"/>
              <a:t>第四级</a:t>
            </a:r>
            <a:endParaRPr 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64FE2B-B7CD-E4F1-FACE-AD8B0CB0A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18C8B1E-9139-2034-F945-28AE9B0A8D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7" y="211016"/>
            <a:ext cx="203864" cy="43375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57FB3D2-13A1-C890-27B8-D7EA70097AC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49" y="275492"/>
            <a:ext cx="1450847" cy="304799"/>
          </a:xfrm>
          <a:prstGeom prst="rect">
            <a:avLst/>
          </a:prstGeom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444424FF-6543-520A-9F3E-2F3932867841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370286" y="6582508"/>
            <a:ext cx="94514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AMEGADAC proprietary, unauthorized transfer limited.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903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11C51F4-6D90-4330-9452-CFC4713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FBBA07-38EA-487F-8B7F-675C07703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049" y="6326723"/>
            <a:ext cx="1220466" cy="34272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15AF4403-C315-95ED-D6F3-57A625D8C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93676D3-1EC4-E462-CCE2-CA024F86F9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386" y="6267937"/>
            <a:ext cx="1813564" cy="38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13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41720035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9BDA014-92A6-426D-B7EF-9CF5F346F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" y="403"/>
            <a:ext cx="12190565" cy="68575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31B1AD7-37C2-4615-8A05-D7466E3569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50" y="393699"/>
            <a:ext cx="1813564" cy="381001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3F1E45AE-208C-4BD2-9DAB-02B4E520C41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744075" y="6571976"/>
            <a:ext cx="22838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© Advanced Manufacturing EDA Co.,Ltd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27ACBCA-D72C-4BCE-970E-B5A5E6ACF5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069" y="1792979"/>
            <a:ext cx="9426198" cy="797169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defRPr>
            </a:lvl1pPr>
          </a:lstStyle>
          <a:p>
            <a:r>
              <a:rPr lang="en-US" altLang="zh-CN" sz="4400" dirty="0"/>
              <a:t>Click to edit Master title style</a:t>
            </a:r>
            <a:endParaRPr lang="zh-CN" altLang="en-US" sz="4400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49BF8A3-E3C9-47A4-BFA6-4789FE8700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070" y="2764650"/>
            <a:ext cx="5245439" cy="926505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Your Name</a:t>
            </a:r>
            <a:br>
              <a:rPr lang="en-US" dirty="0"/>
            </a:br>
            <a:r>
              <a:rPr lang="en-US" dirty="0"/>
              <a:t>Enter Your Organization</a:t>
            </a:r>
            <a:br>
              <a:rPr lang="en-US" dirty="0"/>
            </a:br>
            <a:r>
              <a:rPr lang="en-US" dirty="0"/>
              <a:t>Enter Date</a:t>
            </a:r>
          </a:p>
        </p:txBody>
      </p:sp>
    </p:spTree>
    <p:extLst>
      <p:ext uri="{BB962C8B-B14F-4D97-AF65-F5344CB8AC3E}">
        <p14:creationId xmlns:p14="http://schemas.microsoft.com/office/powerpoint/2010/main" val="1089517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7B948E8-EC0F-4A91-A65D-86A27C92E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76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AC03055-212A-4DD2-9DE9-D2654F6C1D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F4429-56CF-49D8-8E0F-EDAF412B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597143"/>
            <a:ext cx="457200" cy="232634"/>
          </a:xfrm>
        </p:spPr>
        <p:txBody>
          <a:bodyPr/>
          <a:lstStyle>
            <a:lvl1pPr algn="ctr">
              <a:defRPr sz="1000">
                <a:solidFill>
                  <a:schemeClr val="bg2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1pPr>
          </a:lstStyle>
          <a:p>
            <a:fld id="{4C368F3B-5AF7-4907-849D-62C5FB8331E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20F9492-B241-4FC5-89B7-BB84FE5D0A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7" y="211016"/>
            <a:ext cx="203864" cy="433754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E8211635-4D1B-432B-B286-AD7FCF5C5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922" y="131884"/>
            <a:ext cx="9612024" cy="592016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005DC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5BFE19-7D91-4B6A-A189-E57026917A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549" y="275492"/>
            <a:ext cx="1450847" cy="3047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0E717F-F7AE-4D56-9CEA-FED704951D4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370286" y="6582508"/>
            <a:ext cx="94514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2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rPr>
              <a:t>AMEGADAC proprietary, unauthorized transfer limited.</a:t>
            </a:r>
            <a:endParaRPr lang="en-US" sz="1000" dirty="0">
              <a:solidFill>
                <a:schemeClr val="bg2">
                  <a:lumMod val="50000"/>
                </a:schemeClr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73CC5E5-7C37-4706-AF40-907CC2621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712" y="847976"/>
            <a:ext cx="10942576" cy="56342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5371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11C51F4-6D90-4330-9452-CFC47135A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FBBA07-38EA-487F-8B7F-675C077033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386" y="6267937"/>
            <a:ext cx="1813564" cy="38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3344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C5DB5D4C-B7A3-440F-93DB-E8380CBB1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1760"/>
            <a:ext cx="12192000" cy="4206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846829"/>
            <a:ext cx="10515600" cy="1184024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accent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562" y="2122969"/>
            <a:ext cx="10515600" cy="373195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pic>
        <p:nvPicPr>
          <p:cNvPr id="9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533" y="38100"/>
            <a:ext cx="2601887" cy="754713"/>
          </a:xfrm>
          <a:prstGeom prst="rect">
            <a:avLst/>
          </a:prstGeom>
        </p:spPr>
      </p:pic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6194634" y="6295219"/>
            <a:ext cx="5171528" cy="246221"/>
          </a:xfrm>
        </p:spPr>
        <p:txBody>
          <a:bodyPr>
            <a:sp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61564E51-D01A-481D-B189-BB944304FC76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94634" y="5995501"/>
            <a:ext cx="5171528" cy="246221"/>
          </a:xfrm>
        </p:spPr>
        <p:txBody>
          <a:bodyPr>
            <a:spAutoFit/>
          </a:bodyPr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TextBox 10"/>
          <p:cNvSpPr txBox="1">
            <a:spLocks noChangeAspect="1"/>
          </p:cNvSpPr>
          <p:nvPr userDrawn="1"/>
        </p:nvSpPr>
        <p:spPr>
          <a:xfrm>
            <a:off x="9512918" y="6657945"/>
            <a:ext cx="24152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</a:rPr>
              <a:t>© Advanced Manufacturing EDA Co., Ltd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850561" y="2902062"/>
            <a:ext cx="5245439" cy="79200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Your Name</a:t>
            </a:r>
            <a:br>
              <a:rPr lang="en-US" dirty="0"/>
            </a:br>
            <a:r>
              <a:rPr lang="en-US" dirty="0"/>
              <a:t>Enter Your Organization</a:t>
            </a:r>
            <a:br>
              <a:rPr lang="en-US" dirty="0"/>
            </a:br>
            <a:r>
              <a:rPr lang="en-US" dirty="0"/>
              <a:t>Enter Date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C8E1F1-AF7B-48E8-A11F-874F4CD214C1}"/>
              </a:ext>
            </a:extLst>
          </p:cNvPr>
          <p:cNvSpPr/>
          <p:nvPr userDrawn="1"/>
        </p:nvSpPr>
        <p:spPr>
          <a:xfrm>
            <a:off x="0" y="2651760"/>
            <a:ext cx="12192000" cy="45719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517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24765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476499" y="-1"/>
            <a:ext cx="123825" cy="6858001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2984914" y="936416"/>
            <a:ext cx="8368885" cy="535531"/>
          </a:xfrm>
        </p:spPr>
        <p:txBody>
          <a:bodyPr>
            <a:spAutoFit/>
          </a:bodyPr>
          <a:lstStyle>
            <a:lvl1pPr marL="457200" indent="-457200">
              <a:buFont typeface="+mj-lt"/>
              <a:buAutoNum type="arabicPeriod"/>
              <a:defRPr sz="32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59386" y="6481986"/>
            <a:ext cx="4114800" cy="365125"/>
          </a:xfrm>
        </p:spPr>
        <p:txBody>
          <a:bodyPr/>
          <a:lstStyle>
            <a:lvl1pPr algn="l">
              <a:defRPr sz="9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7558146" y="6549132"/>
            <a:ext cx="8226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Confidential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01691" y="6560665"/>
            <a:ext cx="669758" cy="297335"/>
          </a:xfrm>
        </p:spPr>
        <p:txBody>
          <a:bodyPr/>
          <a:lstStyle>
            <a:lvl1pPr>
              <a:defRPr sz="9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C99E4B9-6F9B-4E9C-B9ED-1A69269839DA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0" y="10889"/>
            <a:ext cx="2475426" cy="68580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521B8D1-A0E5-472D-B199-F4A837004A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81" r="23318" b="21519"/>
          <a:stretch/>
        </p:blipFill>
        <p:spPr>
          <a:xfrm>
            <a:off x="3277257" y="2170259"/>
            <a:ext cx="2573769" cy="251748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042CA33-6C6B-4445-BD94-F3DC1416B5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95"/>
          <a:stretch/>
        </p:blipFill>
        <p:spPr>
          <a:xfrm>
            <a:off x="0" y="10889"/>
            <a:ext cx="2475426" cy="683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09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7B581864-048F-4015-89F7-50522067A3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9749" y="37130"/>
            <a:ext cx="1134909" cy="72000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0" y="6651403"/>
            <a:ext cx="12192000" cy="216000"/>
          </a:xfrm>
          <a:prstGeom prst="rect">
            <a:avLst/>
          </a:prstGeom>
          <a:solidFill>
            <a:srgbClr val="005D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92170" y="6647055"/>
            <a:ext cx="511885" cy="220348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EC99E4B9-6F9B-4E9C-B9ED-1A69269839D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65368" y="6647055"/>
            <a:ext cx="5476973" cy="210945"/>
          </a:xfrm>
        </p:spPr>
        <p:txBody>
          <a:bodyPr/>
          <a:lstStyle>
            <a:lvl1pPr algn="ctr">
              <a:defRPr sz="7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TextBox 12"/>
          <p:cNvSpPr txBox="1">
            <a:spLocks noChangeAspect="1"/>
          </p:cNvSpPr>
          <p:nvPr userDrawn="1"/>
        </p:nvSpPr>
        <p:spPr>
          <a:xfrm>
            <a:off x="1370287" y="6636292"/>
            <a:ext cx="94514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全芯智造保密专有，请遵守约定，禁止传给第三方</a:t>
            </a:r>
            <a:r>
              <a:rPr lang="en-US" altLang="zh-CN" sz="10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/AMEDAC confidential and proprietary, unauthorized transfer and/or publicity shall be strictly limited.</a:t>
            </a:r>
            <a:endParaRPr lang="en-US" sz="10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2" y="625843"/>
            <a:ext cx="11185632" cy="6163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712" y="30642"/>
            <a:ext cx="10942576" cy="562378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24712" y="847976"/>
            <a:ext cx="10942576" cy="56342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4" name="矩形 13"/>
          <p:cNvSpPr/>
          <p:nvPr userDrawn="1"/>
        </p:nvSpPr>
        <p:spPr>
          <a:xfrm>
            <a:off x="353" y="172614"/>
            <a:ext cx="319910" cy="387585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376699" y="172613"/>
            <a:ext cx="56437" cy="387585"/>
          </a:xfrm>
          <a:prstGeom prst="rect">
            <a:avLst/>
          </a:prstGeom>
          <a:solidFill>
            <a:srgbClr val="F0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3406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25842"/>
            <a:ext cx="11592171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0" y="6540436"/>
            <a:ext cx="1158893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>
            <a:off x="1524000" y="6540436"/>
            <a:ext cx="0" cy="3175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7653" y="6560665"/>
            <a:ext cx="669758" cy="297335"/>
          </a:xfrm>
        </p:spPr>
        <p:txBody>
          <a:bodyPr/>
          <a:lstStyle>
            <a:lvl1pPr algn="ctr">
              <a:defRPr sz="9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C99E4B9-6F9B-4E9C-B9ED-1A69269839D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15" hasCustomPrompt="1"/>
          </p:nvPr>
        </p:nvSpPr>
        <p:spPr>
          <a:xfrm>
            <a:off x="10077454" y="6546877"/>
            <a:ext cx="1511477" cy="317500"/>
          </a:xfrm>
        </p:spPr>
        <p:txBody>
          <a:bodyPr anchor="ctr">
            <a:noAutofit/>
          </a:bodyPr>
          <a:lstStyle>
            <a:lvl1pPr marL="0" indent="0" algn="r">
              <a:buNone/>
              <a:defRPr sz="1000"/>
            </a:lvl1pPr>
          </a:lstStyle>
          <a:p>
            <a:r>
              <a:rPr lang="en-US" dirty="0"/>
              <a:t>Company logo here</a:t>
            </a:r>
          </a:p>
        </p:txBody>
      </p:sp>
      <p:cxnSp>
        <p:nvCxnSpPr>
          <p:cNvPr id="22" name="Straight Connector 23"/>
          <p:cNvCxnSpPr/>
          <p:nvPr userDrawn="1"/>
        </p:nvCxnSpPr>
        <p:spPr>
          <a:xfrm>
            <a:off x="10009301" y="6540436"/>
            <a:ext cx="0" cy="3175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24712" y="64223"/>
            <a:ext cx="10942576" cy="562378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24712" y="847976"/>
            <a:ext cx="10942576" cy="5634216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</a:schemeClr>
                </a:solidFill>
              </a:defRPr>
            </a:lvl2pPr>
            <a:lvl3pPr marL="914400" indent="0">
              <a:buNone/>
              <a:defRPr sz="1100">
                <a:solidFill>
                  <a:schemeClr val="tx1">
                    <a:lumMod val="50000"/>
                  </a:schemeClr>
                </a:solidFill>
              </a:defRPr>
            </a:lvl3pPr>
            <a:lvl4pPr marL="1371600" indent="0">
              <a:buNone/>
              <a:defRPr sz="1050">
                <a:solidFill>
                  <a:schemeClr val="tx1">
                    <a:lumMod val="50000"/>
                  </a:schemeClr>
                </a:solidFill>
              </a:defRPr>
            </a:lvl4pPr>
            <a:lvl5pPr marL="1828800" indent="0">
              <a:buNone/>
              <a:defRPr sz="105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435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Summ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 flipH="1">
            <a:off x="0" y="6540436"/>
            <a:ext cx="1158893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1524000" y="6540436"/>
            <a:ext cx="0" cy="3175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67653" y="6560665"/>
            <a:ext cx="669758" cy="297334"/>
          </a:xfrm>
        </p:spPr>
        <p:txBody>
          <a:bodyPr/>
          <a:lstStyle>
            <a:lvl1pPr algn="ctr">
              <a:defRPr sz="9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C99E4B9-6F9B-4E9C-B9ED-1A69269839D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3" name="Picture Placeholder 19"/>
          <p:cNvSpPr>
            <a:spLocks noGrp="1"/>
          </p:cNvSpPr>
          <p:nvPr>
            <p:ph type="pic" sz="quarter" idx="15" hasCustomPrompt="1"/>
          </p:nvPr>
        </p:nvSpPr>
        <p:spPr>
          <a:xfrm>
            <a:off x="10077454" y="6546877"/>
            <a:ext cx="1511477" cy="317500"/>
          </a:xfrm>
        </p:spPr>
        <p:txBody>
          <a:bodyPr anchor="ctr">
            <a:noAutofit/>
          </a:bodyPr>
          <a:lstStyle>
            <a:lvl1pPr marL="0" indent="0" algn="r">
              <a:buNone/>
              <a:defRPr sz="1000"/>
            </a:lvl1pPr>
          </a:lstStyle>
          <a:p>
            <a:r>
              <a:rPr lang="en-US" dirty="0"/>
              <a:t>Company logo here</a:t>
            </a:r>
          </a:p>
        </p:txBody>
      </p:sp>
      <p:cxnSp>
        <p:nvCxnSpPr>
          <p:cNvPr id="24" name="Straight Connector 23"/>
          <p:cNvCxnSpPr/>
          <p:nvPr userDrawn="1"/>
        </p:nvCxnSpPr>
        <p:spPr>
          <a:xfrm>
            <a:off x="10009301" y="6540436"/>
            <a:ext cx="0" cy="31756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0" y="671561"/>
            <a:ext cx="11566525" cy="375657"/>
          </a:xfr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tIns="90000" bIns="90000" anchor="t">
            <a:spAutoFit/>
          </a:bodyPr>
          <a:lstStyle>
            <a:lvl1pPr marL="630555" indent="0">
              <a:buNone/>
              <a:defRPr sz="1400" b="1">
                <a:solidFill>
                  <a:schemeClr val="accent6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625842"/>
            <a:ext cx="11592171" cy="457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712" y="64223"/>
            <a:ext cx="10942576" cy="562378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624712" y="1188220"/>
            <a:ext cx="10942576" cy="5293972"/>
          </a:xfrm>
        </p:spPr>
        <p:txBody>
          <a:bodyPr>
            <a:normAutofit/>
          </a:bodyPr>
          <a:lstStyle>
            <a:lvl1pPr marL="0" indent="0">
              <a:buNone/>
              <a:defRPr sz="1400" b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1200" b="0">
                <a:solidFill>
                  <a:schemeClr val="tx1">
                    <a:lumMod val="50000"/>
                  </a:schemeClr>
                </a:solidFill>
              </a:defRPr>
            </a:lvl2pPr>
            <a:lvl3pPr marL="914400" indent="0">
              <a:buNone/>
              <a:defRPr sz="1100" b="0">
                <a:solidFill>
                  <a:schemeClr val="tx1">
                    <a:lumMod val="50000"/>
                  </a:schemeClr>
                </a:solidFill>
              </a:defRPr>
            </a:lvl3pPr>
            <a:lvl4pPr marL="1371600" indent="0">
              <a:buNone/>
              <a:defRPr sz="1050" b="0">
                <a:solidFill>
                  <a:schemeClr val="tx1">
                    <a:lumMod val="50000"/>
                  </a:schemeClr>
                </a:solidFill>
              </a:defRPr>
            </a:lvl4pPr>
            <a:lvl5pPr marL="1828800" indent="0">
              <a:buNone/>
              <a:defRPr sz="1050" b="0">
                <a:solidFill>
                  <a:schemeClr val="tx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751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Q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88AB6F3-3270-4359-A954-7DAE17D4D1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234"/>
            <a:ext cx="12192000" cy="685753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89" y="894177"/>
            <a:ext cx="1939684" cy="562632"/>
          </a:xfrm>
          <a:prstGeom prst="rect">
            <a:avLst/>
          </a:prstGeom>
        </p:spPr>
      </p:pic>
      <p:sp>
        <p:nvSpPr>
          <p:cNvPr id="20" name="TextBox 19"/>
          <p:cNvSpPr txBox="1">
            <a:spLocks noChangeAspect="1"/>
          </p:cNvSpPr>
          <p:nvPr userDrawn="1"/>
        </p:nvSpPr>
        <p:spPr>
          <a:xfrm>
            <a:off x="488206" y="1349087"/>
            <a:ext cx="2182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1"/>
                </a:solidFill>
              </a:rPr>
              <a:t>© Advanced Manufacturing EDA Co., Ltd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49B1F5F-362F-4DF2-937B-61C39BF9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1926598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847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794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869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9BDA014-92A6-426D-B7EF-9CF5F346F7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" y="1"/>
            <a:ext cx="12191283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31B1AD7-37C2-4615-8A05-D7466E3569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69" y="296936"/>
            <a:ext cx="1977404" cy="555286"/>
          </a:xfrm>
          <a:prstGeom prst="rect">
            <a:avLst/>
          </a:prstGeom>
        </p:spPr>
      </p:pic>
      <p:sp>
        <p:nvSpPr>
          <p:cNvPr id="13" name="TextBox 10">
            <a:extLst>
              <a:ext uri="{FF2B5EF4-FFF2-40B4-BE49-F238E27FC236}">
                <a16:creationId xmlns:a16="http://schemas.microsoft.com/office/drawing/2014/main" id="{3F1E45AE-208C-4BD2-9DAB-02B4E520C41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9995877" y="6571976"/>
            <a:ext cx="203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Advanced Manufacturing EDA Co.,Ltd</a:t>
            </a:r>
          </a:p>
        </p:txBody>
      </p:sp>
      <p:sp>
        <p:nvSpPr>
          <p:cNvPr id="16" name="标题 12">
            <a:extLst>
              <a:ext uri="{FF2B5EF4-FFF2-40B4-BE49-F238E27FC236}">
                <a16:creationId xmlns:a16="http://schemas.microsoft.com/office/drawing/2014/main" id="{E37138CF-1980-4F89-88DB-8B36381C8F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069" y="1704041"/>
            <a:ext cx="9839277" cy="797169"/>
          </a:xfrm>
        </p:spPr>
        <p:txBody>
          <a:bodyPr/>
          <a:lstStyle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  击  以  编  辑  主  标  题  样  式</a:t>
            </a:r>
          </a:p>
        </p:txBody>
      </p:sp>
      <p:sp>
        <p:nvSpPr>
          <p:cNvPr id="17" name="文本占位符 14">
            <a:extLst>
              <a:ext uri="{FF2B5EF4-FFF2-40B4-BE49-F238E27FC236}">
                <a16:creationId xmlns:a16="http://schemas.microsoft.com/office/drawing/2014/main" id="{35D8AEC6-81C6-458B-82EC-E12E57286A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2070" y="2658779"/>
            <a:ext cx="5300976" cy="1038184"/>
          </a:xfrm>
        </p:spPr>
        <p:txBody>
          <a:bodyPr>
            <a:noAutofit/>
          </a:bodyPr>
          <a:lstStyle>
            <a:lvl1pPr marL="0" indent="0">
              <a:buNone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输入您的姓名</a:t>
            </a:r>
            <a:endParaRPr lang="en-US" altLang="zh-CN" dirty="0"/>
          </a:p>
          <a:p>
            <a:r>
              <a:rPr lang="zh-CN" altLang="en-US" dirty="0"/>
              <a:t>输入您的组织</a:t>
            </a:r>
            <a:endParaRPr lang="en-US" altLang="zh-CN" dirty="0"/>
          </a:p>
          <a:p>
            <a:r>
              <a:rPr lang="zh-CN" altLang="en-US" dirty="0"/>
              <a:t>输入日期</a:t>
            </a:r>
          </a:p>
        </p:txBody>
      </p:sp>
    </p:spTree>
    <p:extLst>
      <p:ext uri="{BB962C8B-B14F-4D97-AF65-F5344CB8AC3E}">
        <p14:creationId xmlns:p14="http://schemas.microsoft.com/office/powerpoint/2010/main" val="4261449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7B948E8-EC0F-4A91-A65D-86A27C92E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760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AC03055-212A-4DD2-9DE9-D2654F6C1D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0731" cy="6858000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7F4429-56CF-49D8-8E0F-EDAF412B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34800" y="6597143"/>
            <a:ext cx="457200" cy="232634"/>
          </a:xfrm>
        </p:spPr>
        <p:txBody>
          <a:bodyPr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C368F3B-5AF7-4907-849D-62C5FB8331E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20F9492-B241-4FC5-89B7-BB84FE5D0A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7" y="211016"/>
            <a:ext cx="203864" cy="433754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E8211635-4D1B-432B-B286-AD7FCF5C5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922" y="131884"/>
            <a:ext cx="9612024" cy="592016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5DC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单击以编辑主标题样式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A5BFE19-7D91-4B6A-A189-E57026917A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677" y="235319"/>
            <a:ext cx="1343723" cy="3773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0E717F-F7AE-4D56-9CEA-FED704951D4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3282934" y="6611779"/>
            <a:ext cx="56261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全芯智造专有，未经允许禁止转发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AMEGADAC proprietary, unauthorized transfer limited.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AA6D22B-F219-4EBC-8FFC-24DBE9A009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4712" y="847976"/>
            <a:ext cx="10942576" cy="563421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16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编辑主文本样式</a:t>
            </a:r>
            <a:endParaRPr lang="en-US" dirty="0"/>
          </a:p>
          <a:p>
            <a:pPr lvl="1"/>
            <a:r>
              <a:rPr lang="zh-CN" altLang="en-US" dirty="0"/>
              <a:t>第二级</a:t>
            </a:r>
            <a:endParaRPr lang="en-US" dirty="0"/>
          </a:p>
          <a:p>
            <a:pPr lvl="2"/>
            <a:r>
              <a:rPr lang="zh-CN" altLang="en-US" dirty="0"/>
              <a:t>第三级</a:t>
            </a:r>
            <a:endParaRPr lang="en-US" dirty="0"/>
          </a:p>
          <a:p>
            <a:pPr lvl="3"/>
            <a:r>
              <a:rPr lang="zh-CN" altLang="en-US" dirty="0"/>
              <a:t>第四级</a:t>
            </a:r>
            <a:endParaRPr 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588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11C51F4-6D90-4330-9452-CFC47135A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FBBA07-38EA-487F-8B7F-675C077033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049" y="6326723"/>
            <a:ext cx="1220466" cy="34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04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2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ags" Target="../tags/tag3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0CFAD5-4EEE-4728-B131-E1302CDE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4E625C-1772-4CDB-AE59-81A1C4DD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148DB-9947-4C40-B3B4-0A08BF711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7DD27-BADE-4734-9218-06E80D628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C3394-9B11-41AD-9D97-7A78F98C4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68F3B-5AF7-4907-849D-62C5FB8331E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1860748-A2B9-756D-67E1-5641BCECA6D1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202072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347" imgH="348" progId="TCLayout.ActiveDocument.1">
                  <p:embed/>
                </p:oleObj>
              </mc:Choice>
              <mc:Fallback>
                <p:oleObj name="think-cell 幻灯片" r:id="rId16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CD48131-58DA-1ED3-1202-9DA5F46E4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778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49" r:id="rId10"/>
    <p:sldLayoutId id="2147483650" r:id="rId11"/>
    <p:sldLayoutId id="2147483651" r:id="rId12"/>
    <p:sldLayoutId id="214748365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C693D-98AC-45B3-B1BE-1878F242CB65}" type="datetimeFigureOut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E2731-72F7-44FB-A430-9B4DBF371F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421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&#10;&#10;描述已自动生成">
            <a:extLst>
              <a:ext uri="{FF2B5EF4-FFF2-40B4-BE49-F238E27FC236}">
                <a16:creationId xmlns:a16="http://schemas.microsoft.com/office/drawing/2014/main" id="{3DCF4650-3B14-4084-8902-FE37543A3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20A62698-E8F5-456A-B22F-3E66BE7C6A75}"/>
              </a:ext>
            </a:extLst>
          </p:cNvPr>
          <p:cNvSpPr txBox="1">
            <a:spLocks noChangeAspect="1"/>
          </p:cNvSpPr>
          <p:nvPr/>
        </p:nvSpPr>
        <p:spPr>
          <a:xfrm>
            <a:off x="2342164" y="6532305"/>
            <a:ext cx="7507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全芯智造公司保密专有，仅供内部使用，禁止外传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AMEDAC Confidential and Proprietary, no publicity and internal use only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D2318B-FF4D-4203-954C-CE9A9BFFF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589" y="382828"/>
            <a:ext cx="666667" cy="3523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ADE3F66-D3EB-4DFC-9104-0E68AB2998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8033" y="151044"/>
            <a:ext cx="1387111" cy="59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13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&#10;&#10;描述已自动生成">
            <a:extLst>
              <a:ext uri="{FF2B5EF4-FFF2-40B4-BE49-F238E27FC236}">
                <a16:creationId xmlns:a16="http://schemas.microsoft.com/office/drawing/2014/main" id="{3DCF4650-3B14-4084-8902-FE37543A3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20A62698-E8F5-456A-B22F-3E66BE7C6A75}"/>
              </a:ext>
            </a:extLst>
          </p:cNvPr>
          <p:cNvSpPr txBox="1">
            <a:spLocks noChangeAspect="1"/>
          </p:cNvSpPr>
          <p:nvPr/>
        </p:nvSpPr>
        <p:spPr>
          <a:xfrm>
            <a:off x="2342164" y="6611779"/>
            <a:ext cx="7507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全芯智造公司保密专有，仅供内部使用，禁止外传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AMEDAC Confidential and Proprietary, no publicity and internal use only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D2318B-FF4D-4203-954C-CE9A9BFFF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589" y="383895"/>
            <a:ext cx="666667" cy="3523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175597-43A8-422E-8B4D-7F27C3CD866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0207" y="27500"/>
            <a:ext cx="1104900" cy="70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B97863D-434C-44C1-B783-392D7C896E20}"/>
              </a:ext>
            </a:extLst>
          </p:cNvPr>
          <p:cNvGraphicFramePr>
            <a:graphicFrameLocks/>
          </p:cNvGraphicFramePr>
          <p:nvPr>
            <p:custDataLst>
              <p:tags r:id="rId6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7" imgH="348" progId="TCLayout.ActiveDocument.1">
                  <p:embed/>
                </p:oleObj>
              </mc:Choice>
              <mc:Fallback>
                <p:oleObj name="think-cell 幻灯片" r:id="rId7" imgW="347" imgH="34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97863D-434C-44C1-B783-392D7C896E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0CFAD5-4EEE-4728-B131-E1302CDE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4E625C-1772-4CDB-AE59-81A1C4DD5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148DB-9947-4C40-B3B4-0A08BF711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7DD27-BADE-4734-9218-06E80D6289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C3394-9B11-41AD-9D97-7A78F98C4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68F3B-5AF7-4907-849D-62C5FB8331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84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7" Type="http://schemas.openxmlformats.org/officeDocument/2006/relationships/image" Target="../media/image2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gif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9.gif"/><Relationship Id="rId4" Type="http://schemas.openxmlformats.org/officeDocument/2006/relationships/image" Target="../media/image2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C93311D4-B6FD-EACE-DD5B-54D17F1A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StressThermal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BA6E077-FCF5-97EE-8BA9-4E9A641D73FD}"/>
              </a:ext>
            </a:extLst>
          </p:cNvPr>
          <p:cNvGrpSpPr>
            <a:grpSpLocks noChangeAspect="1"/>
          </p:cNvGrpSpPr>
          <p:nvPr/>
        </p:nvGrpSpPr>
        <p:grpSpPr>
          <a:xfrm>
            <a:off x="671922" y="131884"/>
            <a:ext cx="11275988" cy="6021266"/>
            <a:chOff x="365760" y="457215"/>
            <a:chExt cx="13898880" cy="7421865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A8B5E7CB-42B0-F181-7E72-FF10C6363733}"/>
                </a:ext>
              </a:extLst>
            </p:cNvPr>
            <p:cNvSpPr/>
            <p:nvPr/>
          </p:nvSpPr>
          <p:spPr>
            <a:xfrm>
              <a:off x="4245566" y="457215"/>
              <a:ext cx="9144000" cy="3810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67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multidimensional simulation environment for IC interconnect reliability analysis</a:t>
              </a:r>
              <a:endParaRPr lang="en-US" sz="1467" dirty="0"/>
            </a:p>
          </p:txBody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68463DE8-B38B-E0E0-889E-6918DEDF4889}"/>
                </a:ext>
              </a:extLst>
            </p:cNvPr>
            <p:cNvSpPr/>
            <p:nvPr/>
          </p:nvSpPr>
          <p:spPr>
            <a:xfrm>
              <a:off x="365760" y="1478280"/>
              <a:ext cx="13898880" cy="2301240"/>
            </a:xfrm>
            <a:prstGeom prst="roundRect">
              <a:avLst>
                <a:gd name="adj" fmla="val 3974"/>
              </a:avLst>
            </a:prstGeom>
            <a:solidFill>
              <a:srgbClr val="F5F7FA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05E6E4F1-4662-10A0-86D4-EFA2D0671FCE}"/>
                </a:ext>
              </a:extLst>
            </p:cNvPr>
            <p:cNvSpPr/>
            <p:nvPr/>
          </p:nvSpPr>
          <p:spPr>
            <a:xfrm>
              <a:off x="533400" y="1577340"/>
              <a:ext cx="135636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ANALYSIS MODES</a:t>
              </a:r>
              <a:endParaRPr lang="en-US" sz="963" dirty="0"/>
            </a:p>
          </p:txBody>
        </p:sp>
        <p:sp>
          <p:nvSpPr>
            <p:cNvPr id="7" name="Shape 4">
              <a:hlinkClick r:id="rId3" action="ppaction://hlinksldjump"/>
              <a:extLst>
                <a:ext uri="{FF2B5EF4-FFF2-40B4-BE49-F238E27FC236}">
                  <a16:creationId xmlns:a16="http://schemas.microsoft.com/office/drawing/2014/main" id="{6A8FDC1B-9AA6-56D8-1D51-5B4DEACA3183}"/>
                </a:ext>
              </a:extLst>
            </p:cNvPr>
            <p:cNvSpPr/>
            <p:nvPr/>
          </p:nvSpPr>
          <p:spPr>
            <a:xfrm>
              <a:off x="533400" y="1874520"/>
              <a:ext cx="3299460" cy="1767840"/>
            </a:xfrm>
            <a:prstGeom prst="roundRect">
              <a:avLst>
                <a:gd name="adj" fmla="val 5172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BCF288B7-B44D-0114-B117-555027EA53D7}"/>
                </a:ext>
              </a:extLst>
            </p:cNvPr>
            <p:cNvSpPr/>
            <p:nvPr/>
          </p:nvSpPr>
          <p:spPr>
            <a:xfrm>
              <a:off x="716280" y="2042160"/>
              <a:ext cx="2781300" cy="339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51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</a:t>
              </a:r>
              <a:endParaRPr lang="en-US" sz="1513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D21EF9B9-1C06-43A1-52E1-1BE2D1FB34EC}"/>
                </a:ext>
              </a:extLst>
            </p:cNvPr>
            <p:cNvSpPr/>
            <p:nvPr/>
          </p:nvSpPr>
          <p:spPr>
            <a:xfrm>
              <a:off x="716280" y="2499360"/>
              <a:ext cx="2933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∇·σ + b = 0</a:t>
              </a:r>
              <a:endParaRPr lang="en-US" sz="1100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54AC4BA4-43C7-0A34-93B3-B5C1A1A98A6E}"/>
                </a:ext>
              </a:extLst>
            </p:cNvPr>
            <p:cNvSpPr/>
            <p:nvPr/>
          </p:nvSpPr>
          <p:spPr>
            <a:xfrm>
              <a:off x="716280" y="2781300"/>
              <a:ext cx="2933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Quasistatic force equilibrium</a:t>
              </a:r>
              <a:endParaRPr lang="en-US" sz="1100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E9095056-F35F-4477-18D1-005A5EBFA4E3}"/>
                </a:ext>
              </a:extLst>
            </p:cNvPr>
            <p:cNvSpPr/>
            <p:nvPr/>
          </p:nvSpPr>
          <p:spPr>
            <a:xfrm>
              <a:off x="670560" y="3177540"/>
              <a:ext cx="3025140" cy="320040"/>
            </a:xfrm>
            <a:prstGeom prst="roundRect">
              <a:avLst>
                <a:gd name="adj" fmla="val 28571"/>
              </a:avLst>
            </a:prstGeom>
            <a:solidFill>
              <a:srgbClr val="EAF1F8"/>
            </a:solidFill>
            <a:ln w="10160">
              <a:solidFill>
                <a:srgbClr val="EAF1F8"/>
              </a:solidFill>
              <a:prstDash val="solid"/>
            </a:ln>
          </p:spPr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A7A9CEDC-7E8D-0456-9B3B-331AC85A6014}"/>
                </a:ext>
              </a:extLst>
            </p:cNvPr>
            <p:cNvSpPr/>
            <p:nvPr/>
          </p:nvSpPr>
          <p:spPr>
            <a:xfrm>
              <a:off x="716280" y="3230880"/>
              <a:ext cx="29337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Solve for: </a:t>
              </a:r>
              <a:r>
                <a:rPr lang="en-US" sz="96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displacement field u</a:t>
              </a:r>
              <a:endParaRPr lang="en-US" sz="963" dirty="0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6E2137C6-9EBC-A9EB-C11E-E87C0563F8B5}"/>
                </a:ext>
              </a:extLst>
            </p:cNvPr>
            <p:cNvSpPr/>
            <p:nvPr/>
          </p:nvSpPr>
          <p:spPr>
            <a:xfrm>
              <a:off x="3954780" y="1874520"/>
              <a:ext cx="3299460" cy="1767840"/>
            </a:xfrm>
            <a:prstGeom prst="roundRect">
              <a:avLst>
                <a:gd name="adj" fmla="val 5172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B6F268B0-ABC1-5860-DFFE-A871C593048F}"/>
                </a:ext>
              </a:extLst>
            </p:cNvPr>
            <p:cNvSpPr/>
            <p:nvPr/>
          </p:nvSpPr>
          <p:spPr>
            <a:xfrm>
              <a:off x="4137660" y="2042160"/>
              <a:ext cx="2781300" cy="339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513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</a:t>
              </a:r>
              <a:endParaRPr lang="en-US" sz="1513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1C794CC4-7679-D445-DFD8-C2797C6919DF}"/>
                </a:ext>
              </a:extLst>
            </p:cNvPr>
            <p:cNvSpPr/>
            <p:nvPr/>
          </p:nvSpPr>
          <p:spPr>
            <a:xfrm>
              <a:off x="4137660" y="2499360"/>
              <a:ext cx="2933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ρcₚ ∂T/∂t − ∇·(k∇T) = Q</a:t>
              </a:r>
              <a:endParaRPr lang="en-US" sz="1100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3798665A-E14D-A372-94D8-F3121C0D1AEC}"/>
                </a:ext>
              </a:extLst>
            </p:cNvPr>
            <p:cNvSpPr/>
            <p:nvPr/>
          </p:nvSpPr>
          <p:spPr>
            <a:xfrm>
              <a:off x="4137660" y="2781300"/>
              <a:ext cx="2933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Heat equation</a:t>
              </a:r>
              <a:endParaRPr lang="en-US" sz="1100" dirty="0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9AC96D02-C061-EA5F-4459-39E9002E8210}"/>
                </a:ext>
              </a:extLst>
            </p:cNvPr>
            <p:cNvSpPr/>
            <p:nvPr/>
          </p:nvSpPr>
          <p:spPr>
            <a:xfrm>
              <a:off x="4091940" y="3177540"/>
              <a:ext cx="3025140" cy="320040"/>
            </a:xfrm>
            <a:prstGeom prst="roundRect">
              <a:avLst>
                <a:gd name="adj" fmla="val 28571"/>
              </a:avLst>
            </a:prstGeom>
            <a:solidFill>
              <a:srgbClr val="EAF1F8"/>
            </a:solidFill>
            <a:ln w="10160">
              <a:solidFill>
                <a:srgbClr val="EAF1F8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AEDF08B6-A653-F087-A239-1E402DCA8C57}"/>
                </a:ext>
              </a:extLst>
            </p:cNvPr>
            <p:cNvSpPr/>
            <p:nvPr/>
          </p:nvSpPr>
          <p:spPr>
            <a:xfrm>
              <a:off x="4137660" y="3230880"/>
              <a:ext cx="29337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Solve for: </a:t>
              </a:r>
              <a:r>
                <a:rPr lang="en-US" sz="963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 field T</a:t>
              </a:r>
              <a:endParaRPr lang="en-US" sz="963" dirty="0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54FAD77D-012E-EAD6-52CD-027447FB54B0}"/>
                </a:ext>
              </a:extLst>
            </p:cNvPr>
            <p:cNvSpPr/>
            <p:nvPr/>
          </p:nvSpPr>
          <p:spPr>
            <a:xfrm>
              <a:off x="365760" y="3810000"/>
              <a:ext cx="13898880" cy="2880360"/>
            </a:xfrm>
            <a:prstGeom prst="roundRect">
              <a:avLst>
                <a:gd name="adj" fmla="val 3175"/>
              </a:avLst>
            </a:prstGeom>
            <a:solidFill>
              <a:srgbClr val="F5F7FA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CA9D74BF-0F9A-B25A-C056-D904F658DD87}"/>
                </a:ext>
              </a:extLst>
            </p:cNvPr>
            <p:cNvSpPr/>
            <p:nvPr/>
          </p:nvSpPr>
          <p:spPr>
            <a:xfrm>
              <a:off x="533400" y="3901440"/>
              <a:ext cx="135636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COUPLED ANALYSIS</a:t>
              </a:r>
              <a:endParaRPr lang="en-US" sz="963" dirty="0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DA7399DA-45EE-738E-7CD0-3BAD5A095446}"/>
                </a:ext>
              </a:extLst>
            </p:cNvPr>
            <p:cNvSpPr/>
            <p:nvPr/>
          </p:nvSpPr>
          <p:spPr>
            <a:xfrm>
              <a:off x="2667000" y="3642360"/>
              <a:ext cx="0" cy="85344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FA1BF6A1-0EF0-C648-0B3B-D8B596B5EA9A}"/>
                </a:ext>
              </a:extLst>
            </p:cNvPr>
            <p:cNvSpPr/>
            <p:nvPr/>
          </p:nvSpPr>
          <p:spPr>
            <a:xfrm>
              <a:off x="2667000" y="3642360"/>
              <a:ext cx="0" cy="853440"/>
            </a:xfrm>
            <a:prstGeom prst="line">
              <a:avLst/>
            </a:prstGeom>
            <a:noFill/>
            <a:ln w="34290">
              <a:solidFill>
                <a:srgbClr val="88739A"/>
              </a:solidFill>
              <a:prstDash val="solid"/>
            </a:ln>
          </p:spPr>
        </p:sp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9BF35867-D8D5-C147-8AF6-0787F6BFAC51}"/>
                </a:ext>
              </a:extLst>
            </p:cNvPr>
            <p:cNvSpPr/>
            <p:nvPr/>
          </p:nvSpPr>
          <p:spPr>
            <a:xfrm>
              <a:off x="2667000" y="4495800"/>
              <a:ext cx="8077200" cy="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B7703339-5849-40E9-4155-F0CF8F9E8EDB}"/>
                </a:ext>
              </a:extLst>
            </p:cNvPr>
            <p:cNvSpPr/>
            <p:nvPr/>
          </p:nvSpPr>
          <p:spPr>
            <a:xfrm>
              <a:off x="2667000" y="4495800"/>
              <a:ext cx="8077200" cy="0"/>
            </a:xfrm>
            <a:prstGeom prst="line">
              <a:avLst/>
            </a:prstGeom>
            <a:noFill/>
            <a:ln w="34290">
              <a:solidFill>
                <a:srgbClr val="88739A"/>
              </a:solidFill>
              <a:prstDash val="solid"/>
            </a:ln>
          </p:spPr>
        </p:sp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02301F00-FA66-6E65-6308-E68C67A2488D}"/>
                </a:ext>
              </a:extLst>
            </p:cNvPr>
            <p:cNvSpPr/>
            <p:nvPr/>
          </p:nvSpPr>
          <p:spPr>
            <a:xfrm>
              <a:off x="10744200" y="3642360"/>
              <a:ext cx="0" cy="108204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931DECE8-C041-106C-62F8-E3C367F61D0B}"/>
                </a:ext>
              </a:extLst>
            </p:cNvPr>
            <p:cNvSpPr/>
            <p:nvPr/>
          </p:nvSpPr>
          <p:spPr>
            <a:xfrm>
              <a:off x="10744200" y="3642360"/>
              <a:ext cx="0" cy="1082040"/>
            </a:xfrm>
            <a:prstGeom prst="line">
              <a:avLst/>
            </a:prstGeom>
            <a:noFill/>
            <a:ln w="34290">
              <a:solidFill>
                <a:srgbClr val="88739A"/>
              </a:solidFill>
              <a:prstDash val="solid"/>
            </a:ln>
          </p:spPr>
        </p:sp>
        <p:sp>
          <p:nvSpPr>
            <p:cNvPr id="28" name="Shape 24">
              <a:extLst>
                <a:ext uri="{FF2B5EF4-FFF2-40B4-BE49-F238E27FC236}">
                  <a16:creationId xmlns:a16="http://schemas.microsoft.com/office/drawing/2014/main" id="{18790641-EF77-428E-F97F-17CAE22E1EAA}"/>
                </a:ext>
              </a:extLst>
            </p:cNvPr>
            <p:cNvSpPr/>
            <p:nvPr/>
          </p:nvSpPr>
          <p:spPr>
            <a:xfrm>
              <a:off x="2621280" y="3596640"/>
              <a:ext cx="91440" cy="91440"/>
            </a:xfrm>
            <a:prstGeom prst="roundRect">
              <a:avLst>
                <a:gd name="adj" fmla="val 100000"/>
              </a:avLst>
            </a:prstGeom>
            <a:solidFill>
              <a:srgbClr val="88739A"/>
            </a:solidFill>
            <a:ln w="10160">
              <a:solidFill>
                <a:srgbClr val="88739A"/>
              </a:solidFill>
              <a:prstDash val="solid"/>
            </a:ln>
          </p:spPr>
        </p:sp>
        <p:sp>
          <p:nvSpPr>
            <p:cNvPr id="29" name="Shape 25">
              <a:extLst>
                <a:ext uri="{FF2B5EF4-FFF2-40B4-BE49-F238E27FC236}">
                  <a16:creationId xmlns:a16="http://schemas.microsoft.com/office/drawing/2014/main" id="{0565C326-7A8F-EE94-21D4-A08AA701FBD7}"/>
                </a:ext>
              </a:extLst>
            </p:cNvPr>
            <p:cNvSpPr/>
            <p:nvPr/>
          </p:nvSpPr>
          <p:spPr>
            <a:xfrm>
              <a:off x="10706100" y="4457700"/>
              <a:ext cx="76200" cy="76200"/>
            </a:xfrm>
            <a:prstGeom prst="roundRect">
              <a:avLst>
                <a:gd name="adj" fmla="val 120000"/>
              </a:avLst>
            </a:prstGeom>
            <a:solidFill>
              <a:srgbClr val="88739A"/>
            </a:solidFill>
            <a:ln w="10160">
              <a:solidFill>
                <a:srgbClr val="88739A"/>
              </a:solidFill>
              <a:prstDash val="solid"/>
            </a:ln>
          </p:spPr>
        </p:sp>
        <p:sp>
          <p:nvSpPr>
            <p:cNvPr id="30" name="Shape 26">
              <a:extLst>
                <a:ext uri="{FF2B5EF4-FFF2-40B4-BE49-F238E27FC236}">
                  <a16:creationId xmlns:a16="http://schemas.microsoft.com/office/drawing/2014/main" id="{AA213A51-BEA1-E36B-7B8D-664FD8B7E414}"/>
                </a:ext>
              </a:extLst>
            </p:cNvPr>
            <p:cNvSpPr/>
            <p:nvPr/>
          </p:nvSpPr>
          <p:spPr>
            <a:xfrm>
              <a:off x="3200400" y="3642360"/>
              <a:ext cx="0" cy="62484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AB7DD8EE-B995-749E-18B1-75273DD85D6C}"/>
                </a:ext>
              </a:extLst>
            </p:cNvPr>
            <p:cNvSpPr/>
            <p:nvPr/>
          </p:nvSpPr>
          <p:spPr>
            <a:xfrm>
              <a:off x="3200400" y="3642360"/>
              <a:ext cx="0" cy="624840"/>
            </a:xfrm>
            <a:prstGeom prst="line">
              <a:avLst/>
            </a:prstGeom>
            <a:noFill/>
            <a:ln w="34290">
              <a:solidFill>
                <a:srgbClr val="548D80"/>
              </a:solidFill>
              <a:prstDash val="solid"/>
            </a:ln>
          </p:spPr>
        </p:sp>
        <p:sp>
          <p:nvSpPr>
            <p:cNvPr id="32" name="Shape 28">
              <a:extLst>
                <a:ext uri="{FF2B5EF4-FFF2-40B4-BE49-F238E27FC236}">
                  <a16:creationId xmlns:a16="http://schemas.microsoft.com/office/drawing/2014/main" id="{6BE5F344-DF3B-0589-7CAF-FCCE06F7DDB5}"/>
                </a:ext>
              </a:extLst>
            </p:cNvPr>
            <p:cNvSpPr/>
            <p:nvPr/>
          </p:nvSpPr>
          <p:spPr>
            <a:xfrm>
              <a:off x="3200400" y="4267200"/>
              <a:ext cx="685800" cy="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04C5358D-0E44-2870-D7A0-51949E681B6A}"/>
                </a:ext>
              </a:extLst>
            </p:cNvPr>
            <p:cNvSpPr/>
            <p:nvPr/>
          </p:nvSpPr>
          <p:spPr>
            <a:xfrm>
              <a:off x="3200400" y="4267200"/>
              <a:ext cx="685800" cy="0"/>
            </a:xfrm>
            <a:prstGeom prst="line">
              <a:avLst/>
            </a:prstGeom>
            <a:noFill/>
            <a:ln w="34290">
              <a:solidFill>
                <a:srgbClr val="548D80"/>
              </a:solidFill>
              <a:prstDash val="solid"/>
            </a:ln>
          </p:spPr>
        </p:sp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61150B0E-31AE-6287-3C4D-A44D0AB5B37F}"/>
                </a:ext>
              </a:extLst>
            </p:cNvPr>
            <p:cNvSpPr/>
            <p:nvPr/>
          </p:nvSpPr>
          <p:spPr>
            <a:xfrm>
              <a:off x="3886200" y="4267200"/>
              <a:ext cx="0" cy="45720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79BF1A8B-7B65-5253-62CB-A01A8D95391F}"/>
                </a:ext>
              </a:extLst>
            </p:cNvPr>
            <p:cNvSpPr/>
            <p:nvPr/>
          </p:nvSpPr>
          <p:spPr>
            <a:xfrm>
              <a:off x="3886200" y="4267200"/>
              <a:ext cx="0" cy="457200"/>
            </a:xfrm>
            <a:prstGeom prst="line">
              <a:avLst/>
            </a:prstGeom>
            <a:noFill/>
            <a:ln w="34290">
              <a:solidFill>
                <a:srgbClr val="548D80"/>
              </a:solidFill>
              <a:prstDash val="solid"/>
            </a:ln>
          </p:spPr>
        </p:sp>
        <p:sp>
          <p:nvSpPr>
            <p:cNvPr id="36" name="Shape 32">
              <a:extLst>
                <a:ext uri="{FF2B5EF4-FFF2-40B4-BE49-F238E27FC236}">
                  <a16:creationId xmlns:a16="http://schemas.microsoft.com/office/drawing/2014/main" id="{8611C98B-F318-BA44-1EDB-81C902326850}"/>
                </a:ext>
              </a:extLst>
            </p:cNvPr>
            <p:cNvSpPr/>
            <p:nvPr/>
          </p:nvSpPr>
          <p:spPr>
            <a:xfrm>
              <a:off x="4572000" y="3642360"/>
              <a:ext cx="0" cy="62484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37" name="Shape 33">
              <a:extLst>
                <a:ext uri="{FF2B5EF4-FFF2-40B4-BE49-F238E27FC236}">
                  <a16:creationId xmlns:a16="http://schemas.microsoft.com/office/drawing/2014/main" id="{7867D8ED-D5F4-7D94-36A3-B8ED4D7F82E3}"/>
                </a:ext>
              </a:extLst>
            </p:cNvPr>
            <p:cNvSpPr/>
            <p:nvPr/>
          </p:nvSpPr>
          <p:spPr>
            <a:xfrm>
              <a:off x="4572000" y="3642360"/>
              <a:ext cx="0" cy="624840"/>
            </a:xfrm>
            <a:prstGeom prst="line">
              <a:avLst/>
            </a:prstGeom>
            <a:noFill/>
            <a:ln w="34290">
              <a:solidFill>
                <a:srgbClr val="548D80"/>
              </a:solidFill>
              <a:prstDash val="solid"/>
            </a:ln>
          </p:spPr>
        </p:sp>
        <p:sp>
          <p:nvSpPr>
            <p:cNvPr id="38" name="Shape 34">
              <a:extLst>
                <a:ext uri="{FF2B5EF4-FFF2-40B4-BE49-F238E27FC236}">
                  <a16:creationId xmlns:a16="http://schemas.microsoft.com/office/drawing/2014/main" id="{10BE1066-3264-8123-D76D-C12D1598C53C}"/>
                </a:ext>
              </a:extLst>
            </p:cNvPr>
            <p:cNvSpPr/>
            <p:nvPr/>
          </p:nvSpPr>
          <p:spPr>
            <a:xfrm>
              <a:off x="3886200" y="4267200"/>
              <a:ext cx="685800" cy="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26F066C1-AC45-4D4D-DFA8-E96CF5314D4C}"/>
                </a:ext>
              </a:extLst>
            </p:cNvPr>
            <p:cNvSpPr/>
            <p:nvPr/>
          </p:nvSpPr>
          <p:spPr>
            <a:xfrm>
              <a:off x="3886200" y="4267200"/>
              <a:ext cx="685800" cy="0"/>
            </a:xfrm>
            <a:prstGeom prst="line">
              <a:avLst/>
            </a:prstGeom>
            <a:noFill/>
            <a:ln w="34290">
              <a:solidFill>
                <a:srgbClr val="548D80"/>
              </a:solidFill>
              <a:prstDash val="solid"/>
            </a:ln>
          </p:spPr>
        </p:sp>
        <p:sp>
          <p:nvSpPr>
            <p:cNvPr id="40" name="Shape 36">
              <a:extLst>
                <a:ext uri="{FF2B5EF4-FFF2-40B4-BE49-F238E27FC236}">
                  <a16:creationId xmlns:a16="http://schemas.microsoft.com/office/drawing/2014/main" id="{FBC646FD-A082-923B-E695-4DEDC920B2DC}"/>
                </a:ext>
              </a:extLst>
            </p:cNvPr>
            <p:cNvSpPr/>
            <p:nvPr/>
          </p:nvSpPr>
          <p:spPr>
            <a:xfrm>
              <a:off x="3154680" y="3596640"/>
              <a:ext cx="91440" cy="91440"/>
            </a:xfrm>
            <a:prstGeom prst="roundRect">
              <a:avLst>
                <a:gd name="adj" fmla="val 100000"/>
              </a:avLst>
            </a:prstGeom>
            <a:solidFill>
              <a:srgbClr val="548D80"/>
            </a:solidFill>
            <a:ln w="10160">
              <a:solidFill>
                <a:srgbClr val="548D80"/>
              </a:solidFill>
              <a:prstDash val="solid"/>
            </a:ln>
          </p:spPr>
        </p:sp>
        <p:sp>
          <p:nvSpPr>
            <p:cNvPr id="41" name="Shape 37">
              <a:extLst>
                <a:ext uri="{FF2B5EF4-FFF2-40B4-BE49-F238E27FC236}">
                  <a16:creationId xmlns:a16="http://schemas.microsoft.com/office/drawing/2014/main" id="{9F7457D5-AE69-0FC2-B6B1-784C05B1DA6E}"/>
                </a:ext>
              </a:extLst>
            </p:cNvPr>
            <p:cNvSpPr/>
            <p:nvPr/>
          </p:nvSpPr>
          <p:spPr>
            <a:xfrm>
              <a:off x="4526280" y="3596640"/>
              <a:ext cx="91440" cy="91440"/>
            </a:xfrm>
            <a:prstGeom prst="roundRect">
              <a:avLst>
                <a:gd name="adj" fmla="val 100000"/>
              </a:avLst>
            </a:prstGeom>
            <a:solidFill>
              <a:srgbClr val="548D80"/>
            </a:solidFill>
            <a:ln w="10160">
              <a:solidFill>
                <a:srgbClr val="548D80"/>
              </a:solidFill>
              <a:prstDash val="solid"/>
            </a:ln>
          </p:spPr>
        </p:sp>
        <p:sp>
          <p:nvSpPr>
            <p:cNvPr id="42" name="Shape 38">
              <a:extLst>
                <a:ext uri="{FF2B5EF4-FFF2-40B4-BE49-F238E27FC236}">
                  <a16:creationId xmlns:a16="http://schemas.microsoft.com/office/drawing/2014/main" id="{4F90F358-7B83-8DE0-0010-4A332CFE6214}"/>
                </a:ext>
              </a:extLst>
            </p:cNvPr>
            <p:cNvSpPr/>
            <p:nvPr/>
          </p:nvSpPr>
          <p:spPr>
            <a:xfrm>
              <a:off x="3848100" y="4229100"/>
              <a:ext cx="76200" cy="76200"/>
            </a:xfrm>
            <a:prstGeom prst="roundRect">
              <a:avLst>
                <a:gd name="adj" fmla="val 120000"/>
              </a:avLst>
            </a:prstGeom>
            <a:solidFill>
              <a:srgbClr val="548D80"/>
            </a:solidFill>
            <a:ln w="10160">
              <a:solidFill>
                <a:srgbClr val="548D80"/>
              </a:solidFill>
              <a:prstDash val="solid"/>
            </a:ln>
          </p:spPr>
        </p:sp>
        <p:sp>
          <p:nvSpPr>
            <p:cNvPr id="43" name="Shape 39">
              <a:extLst>
                <a:ext uri="{FF2B5EF4-FFF2-40B4-BE49-F238E27FC236}">
                  <a16:creationId xmlns:a16="http://schemas.microsoft.com/office/drawing/2014/main" id="{9371330C-2795-AB4E-0437-D18C4C3AAF36}"/>
                </a:ext>
              </a:extLst>
            </p:cNvPr>
            <p:cNvSpPr/>
            <p:nvPr/>
          </p:nvSpPr>
          <p:spPr>
            <a:xfrm>
              <a:off x="6477000" y="3642360"/>
              <a:ext cx="0" cy="62484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44" name="Shape 40">
              <a:extLst>
                <a:ext uri="{FF2B5EF4-FFF2-40B4-BE49-F238E27FC236}">
                  <a16:creationId xmlns:a16="http://schemas.microsoft.com/office/drawing/2014/main" id="{67434636-A820-D351-A350-6696AC3F299E}"/>
                </a:ext>
              </a:extLst>
            </p:cNvPr>
            <p:cNvSpPr/>
            <p:nvPr/>
          </p:nvSpPr>
          <p:spPr>
            <a:xfrm>
              <a:off x="6477000" y="3642360"/>
              <a:ext cx="0" cy="624840"/>
            </a:xfrm>
            <a:prstGeom prst="line">
              <a:avLst/>
            </a:prstGeom>
            <a:noFill/>
            <a:ln w="34290">
              <a:solidFill>
                <a:srgbClr val="B4834D"/>
              </a:solidFill>
              <a:prstDash val="solid"/>
            </a:ln>
          </p:spPr>
        </p:sp>
        <p:sp>
          <p:nvSpPr>
            <p:cNvPr id="45" name="Shape 41">
              <a:extLst>
                <a:ext uri="{FF2B5EF4-FFF2-40B4-BE49-F238E27FC236}">
                  <a16:creationId xmlns:a16="http://schemas.microsoft.com/office/drawing/2014/main" id="{C7666AEC-F94D-C1A3-DC5A-96A6291C0437}"/>
                </a:ext>
              </a:extLst>
            </p:cNvPr>
            <p:cNvSpPr/>
            <p:nvPr/>
          </p:nvSpPr>
          <p:spPr>
            <a:xfrm>
              <a:off x="6477000" y="4267200"/>
              <a:ext cx="838200" cy="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46" name="Shape 42">
              <a:extLst>
                <a:ext uri="{FF2B5EF4-FFF2-40B4-BE49-F238E27FC236}">
                  <a16:creationId xmlns:a16="http://schemas.microsoft.com/office/drawing/2014/main" id="{3BCF9C3C-C9F3-4E20-46C4-550D998ACC77}"/>
                </a:ext>
              </a:extLst>
            </p:cNvPr>
            <p:cNvSpPr/>
            <p:nvPr/>
          </p:nvSpPr>
          <p:spPr>
            <a:xfrm>
              <a:off x="6477000" y="4267200"/>
              <a:ext cx="838200" cy="0"/>
            </a:xfrm>
            <a:prstGeom prst="line">
              <a:avLst/>
            </a:prstGeom>
            <a:noFill/>
            <a:ln w="34290">
              <a:solidFill>
                <a:srgbClr val="B4834D"/>
              </a:solidFill>
              <a:prstDash val="solid"/>
            </a:ln>
          </p:spPr>
        </p:sp>
        <p:sp>
          <p:nvSpPr>
            <p:cNvPr id="47" name="Shape 43">
              <a:extLst>
                <a:ext uri="{FF2B5EF4-FFF2-40B4-BE49-F238E27FC236}">
                  <a16:creationId xmlns:a16="http://schemas.microsoft.com/office/drawing/2014/main" id="{BF217916-416D-F93C-8F06-2D9F820B8742}"/>
                </a:ext>
              </a:extLst>
            </p:cNvPr>
            <p:cNvSpPr/>
            <p:nvPr/>
          </p:nvSpPr>
          <p:spPr>
            <a:xfrm>
              <a:off x="7315200" y="4267200"/>
              <a:ext cx="0" cy="45720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48" name="Shape 44">
              <a:extLst>
                <a:ext uri="{FF2B5EF4-FFF2-40B4-BE49-F238E27FC236}">
                  <a16:creationId xmlns:a16="http://schemas.microsoft.com/office/drawing/2014/main" id="{286534A5-B21A-7745-B4F1-860F978B77FB}"/>
                </a:ext>
              </a:extLst>
            </p:cNvPr>
            <p:cNvSpPr/>
            <p:nvPr/>
          </p:nvSpPr>
          <p:spPr>
            <a:xfrm>
              <a:off x="7315200" y="4267200"/>
              <a:ext cx="0" cy="457200"/>
            </a:xfrm>
            <a:prstGeom prst="line">
              <a:avLst/>
            </a:prstGeom>
            <a:noFill/>
            <a:ln w="34290">
              <a:solidFill>
                <a:srgbClr val="B4834D"/>
              </a:solidFill>
              <a:prstDash val="solid"/>
            </a:ln>
          </p:spPr>
        </p:sp>
        <p:sp>
          <p:nvSpPr>
            <p:cNvPr id="49" name="Shape 45">
              <a:extLst>
                <a:ext uri="{FF2B5EF4-FFF2-40B4-BE49-F238E27FC236}">
                  <a16:creationId xmlns:a16="http://schemas.microsoft.com/office/drawing/2014/main" id="{5DF88EC4-F75B-74E5-70B3-55E22766A453}"/>
                </a:ext>
              </a:extLst>
            </p:cNvPr>
            <p:cNvSpPr/>
            <p:nvPr/>
          </p:nvSpPr>
          <p:spPr>
            <a:xfrm>
              <a:off x="8153400" y="3642360"/>
              <a:ext cx="0" cy="62484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50" name="Shape 46">
              <a:extLst>
                <a:ext uri="{FF2B5EF4-FFF2-40B4-BE49-F238E27FC236}">
                  <a16:creationId xmlns:a16="http://schemas.microsoft.com/office/drawing/2014/main" id="{F7F1590A-4580-1C71-B55D-89BFFF9230A8}"/>
                </a:ext>
              </a:extLst>
            </p:cNvPr>
            <p:cNvSpPr/>
            <p:nvPr/>
          </p:nvSpPr>
          <p:spPr>
            <a:xfrm>
              <a:off x="8153400" y="3642360"/>
              <a:ext cx="0" cy="624840"/>
            </a:xfrm>
            <a:prstGeom prst="line">
              <a:avLst/>
            </a:prstGeom>
            <a:noFill/>
            <a:ln w="34290">
              <a:solidFill>
                <a:srgbClr val="B4834D"/>
              </a:solidFill>
              <a:prstDash val="solid"/>
            </a:ln>
          </p:spPr>
        </p:sp>
        <p:sp>
          <p:nvSpPr>
            <p:cNvPr id="51" name="Shape 47">
              <a:extLst>
                <a:ext uri="{FF2B5EF4-FFF2-40B4-BE49-F238E27FC236}">
                  <a16:creationId xmlns:a16="http://schemas.microsoft.com/office/drawing/2014/main" id="{5DE6A83D-B9C7-5CA4-6F31-CAEFBDBFC236}"/>
                </a:ext>
              </a:extLst>
            </p:cNvPr>
            <p:cNvSpPr/>
            <p:nvPr/>
          </p:nvSpPr>
          <p:spPr>
            <a:xfrm>
              <a:off x="7315200" y="4267200"/>
              <a:ext cx="838200" cy="0"/>
            </a:xfrm>
            <a:prstGeom prst="line">
              <a:avLst/>
            </a:prstGeom>
            <a:noFill/>
            <a:ln w="76200">
              <a:solidFill>
                <a:srgbClr val="F5F7FA"/>
              </a:solidFill>
              <a:prstDash val="solid"/>
            </a:ln>
          </p:spPr>
        </p:sp>
        <p:sp>
          <p:nvSpPr>
            <p:cNvPr id="52" name="Shape 48">
              <a:extLst>
                <a:ext uri="{FF2B5EF4-FFF2-40B4-BE49-F238E27FC236}">
                  <a16:creationId xmlns:a16="http://schemas.microsoft.com/office/drawing/2014/main" id="{59785690-A0D2-8630-48F4-DB64D1055663}"/>
                </a:ext>
              </a:extLst>
            </p:cNvPr>
            <p:cNvSpPr/>
            <p:nvPr/>
          </p:nvSpPr>
          <p:spPr>
            <a:xfrm>
              <a:off x="7315200" y="4267200"/>
              <a:ext cx="838200" cy="0"/>
            </a:xfrm>
            <a:prstGeom prst="line">
              <a:avLst/>
            </a:prstGeom>
            <a:noFill/>
            <a:ln w="34290">
              <a:solidFill>
                <a:srgbClr val="B4834D"/>
              </a:solidFill>
              <a:prstDash val="solid"/>
            </a:ln>
          </p:spPr>
        </p:sp>
        <p:sp>
          <p:nvSpPr>
            <p:cNvPr id="53" name="Shape 49">
              <a:extLst>
                <a:ext uri="{FF2B5EF4-FFF2-40B4-BE49-F238E27FC236}">
                  <a16:creationId xmlns:a16="http://schemas.microsoft.com/office/drawing/2014/main" id="{60FB3152-F177-BCFB-A868-6F04B1F2C82F}"/>
                </a:ext>
              </a:extLst>
            </p:cNvPr>
            <p:cNvSpPr/>
            <p:nvPr/>
          </p:nvSpPr>
          <p:spPr>
            <a:xfrm>
              <a:off x="6431280" y="3596640"/>
              <a:ext cx="91440" cy="91440"/>
            </a:xfrm>
            <a:prstGeom prst="roundRect">
              <a:avLst>
                <a:gd name="adj" fmla="val 100000"/>
              </a:avLst>
            </a:prstGeom>
            <a:solidFill>
              <a:srgbClr val="B4834D"/>
            </a:solidFill>
            <a:ln w="10160">
              <a:solidFill>
                <a:srgbClr val="B4834D"/>
              </a:solidFill>
              <a:prstDash val="solid"/>
            </a:ln>
          </p:spPr>
        </p:sp>
        <p:sp>
          <p:nvSpPr>
            <p:cNvPr id="54" name="Shape 50">
              <a:extLst>
                <a:ext uri="{FF2B5EF4-FFF2-40B4-BE49-F238E27FC236}">
                  <a16:creationId xmlns:a16="http://schemas.microsoft.com/office/drawing/2014/main" id="{0CF2FDA4-A149-DC1F-ECC3-C35150D32E4B}"/>
                </a:ext>
              </a:extLst>
            </p:cNvPr>
            <p:cNvSpPr/>
            <p:nvPr/>
          </p:nvSpPr>
          <p:spPr>
            <a:xfrm>
              <a:off x="7277100" y="4229100"/>
              <a:ext cx="76200" cy="76200"/>
            </a:xfrm>
            <a:prstGeom prst="roundRect">
              <a:avLst>
                <a:gd name="adj" fmla="val 120000"/>
              </a:avLst>
            </a:prstGeom>
            <a:solidFill>
              <a:srgbClr val="B4834D"/>
            </a:solidFill>
            <a:ln w="10160">
              <a:solidFill>
                <a:srgbClr val="B4834D"/>
              </a:solidFill>
              <a:prstDash val="solid"/>
            </a:ln>
          </p:spPr>
        </p:sp>
        <p:sp>
          <p:nvSpPr>
            <p:cNvPr id="55" name="Shape 51">
              <a:extLst>
                <a:ext uri="{FF2B5EF4-FFF2-40B4-BE49-F238E27FC236}">
                  <a16:creationId xmlns:a16="http://schemas.microsoft.com/office/drawing/2014/main" id="{6A88B088-9BF3-9559-D299-A27EC3D51A76}"/>
                </a:ext>
              </a:extLst>
            </p:cNvPr>
            <p:cNvSpPr/>
            <p:nvPr/>
          </p:nvSpPr>
          <p:spPr>
            <a:xfrm>
              <a:off x="533400" y="4724400"/>
              <a:ext cx="4419600" cy="1844040"/>
            </a:xfrm>
            <a:prstGeom prst="roundRect">
              <a:avLst>
                <a:gd name="adj" fmla="val 4959"/>
              </a:avLst>
            </a:prstGeom>
            <a:solidFill>
              <a:srgbClr val="E6F0EC"/>
            </a:solidFill>
            <a:ln w="10160">
              <a:solidFill>
                <a:srgbClr val="548D80"/>
              </a:solidFill>
              <a:prstDash val="solid"/>
            </a:ln>
          </p:spPr>
        </p:sp>
        <p:sp>
          <p:nvSpPr>
            <p:cNvPr id="56" name="Text 52">
              <a:extLst>
                <a:ext uri="{FF2B5EF4-FFF2-40B4-BE49-F238E27FC236}">
                  <a16:creationId xmlns:a16="http://schemas.microsoft.com/office/drawing/2014/main" id="{E3327328-8131-81D2-5CF1-FF666919DAB8}"/>
                </a:ext>
              </a:extLst>
            </p:cNvPr>
            <p:cNvSpPr/>
            <p:nvPr/>
          </p:nvSpPr>
          <p:spPr>
            <a:xfrm>
              <a:off x="716280" y="4846320"/>
              <a:ext cx="405384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7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Thermomechanical</a:t>
              </a:r>
              <a:endParaRPr lang="en-US" sz="1375" dirty="0"/>
            </a:p>
          </p:txBody>
        </p:sp>
        <p:sp>
          <p:nvSpPr>
            <p:cNvPr id="57" name="Text 53">
              <a:extLst>
                <a:ext uri="{FF2B5EF4-FFF2-40B4-BE49-F238E27FC236}">
                  <a16:creationId xmlns:a16="http://schemas.microsoft.com/office/drawing/2014/main" id="{1EF22833-9B15-9662-4CF4-95DF139C4B3D}"/>
                </a:ext>
              </a:extLst>
            </p:cNvPr>
            <p:cNvSpPr/>
            <p:nvPr/>
          </p:nvSpPr>
          <p:spPr>
            <a:xfrm>
              <a:off x="716280" y="5135880"/>
              <a:ext cx="4053840" cy="198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71" b="1" dirty="0">
                  <a:solidFill>
                    <a:srgbClr val="548D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expansion</a:t>
              </a:r>
              <a:endParaRPr lang="en-US" sz="871" dirty="0"/>
            </a:p>
          </p:txBody>
        </p:sp>
        <p:sp>
          <p:nvSpPr>
            <p:cNvPr id="58" name="Text 54">
              <a:extLst>
                <a:ext uri="{FF2B5EF4-FFF2-40B4-BE49-F238E27FC236}">
                  <a16:creationId xmlns:a16="http://schemas.microsoft.com/office/drawing/2014/main" id="{9E25221B-FB1B-8853-B3AA-54285330769E}"/>
                </a:ext>
              </a:extLst>
            </p:cNvPr>
            <p:cNvSpPr/>
            <p:nvPr/>
          </p:nvSpPr>
          <p:spPr>
            <a:xfrm>
              <a:off x="716280" y="5516880"/>
              <a:ext cx="40538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</a:t>
              </a: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→ </a:t>
              </a:r>
              <a:r>
                <a:rPr lang="en-US" sz="1008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</a:t>
              </a:r>
              <a:endParaRPr lang="en-US" sz="1008" dirty="0"/>
            </a:p>
          </p:txBody>
        </p:sp>
        <p:sp>
          <p:nvSpPr>
            <p:cNvPr id="59" name="Text 55">
              <a:extLst>
                <a:ext uri="{FF2B5EF4-FFF2-40B4-BE49-F238E27FC236}">
                  <a16:creationId xmlns:a16="http://schemas.microsoft.com/office/drawing/2014/main" id="{4CC227A7-8E96-D57F-C1B3-3B2773A5C048}"/>
                </a:ext>
              </a:extLst>
            </p:cNvPr>
            <p:cNvSpPr/>
            <p:nvPr/>
          </p:nvSpPr>
          <p:spPr>
            <a:xfrm>
              <a:off x="716280" y="5745480"/>
              <a:ext cx="405384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Δεᵗʰ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≈ αᵣₑₗ(</a:t>
              </a:r>
              <a:r>
                <a:rPr lang="en-US" sz="1192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T̄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 </a:t>
              </a:r>
              <a:r>
                <a:rPr lang="en-US" sz="1192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ΔT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I</a:t>
              </a:r>
              <a:endParaRPr lang="en-US" sz="1192" dirty="0"/>
            </a:p>
          </p:txBody>
        </p:sp>
        <p:sp>
          <p:nvSpPr>
            <p:cNvPr id="60" name="Text 56">
              <a:extLst>
                <a:ext uri="{FF2B5EF4-FFF2-40B4-BE49-F238E27FC236}">
                  <a16:creationId xmlns:a16="http://schemas.microsoft.com/office/drawing/2014/main" id="{A4EBB1D1-9BCD-2E4A-6D76-A2A20458F8C7}"/>
                </a:ext>
              </a:extLst>
            </p:cNvPr>
            <p:cNvSpPr/>
            <p:nvPr/>
          </p:nvSpPr>
          <p:spPr>
            <a:xfrm>
              <a:off x="716280" y="6019800"/>
              <a:ext cx="40538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</a:t>
              </a: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→ </a:t>
              </a:r>
              <a:r>
                <a:rPr lang="en-US" sz="1008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</a:t>
              </a:r>
              <a:endParaRPr lang="en-US" sz="1008" dirty="0"/>
            </a:p>
          </p:txBody>
        </p:sp>
        <p:sp>
          <p:nvSpPr>
            <p:cNvPr id="61" name="Text 57">
              <a:extLst>
                <a:ext uri="{FF2B5EF4-FFF2-40B4-BE49-F238E27FC236}">
                  <a16:creationId xmlns:a16="http://schemas.microsoft.com/office/drawing/2014/main" id="{658206F2-3893-E05D-1E26-E98062CC9484}"/>
                </a:ext>
              </a:extLst>
            </p:cNvPr>
            <p:cNvSpPr/>
            <p:nvPr/>
          </p:nvSpPr>
          <p:spPr>
            <a:xfrm>
              <a:off x="716280" y="6248400"/>
              <a:ext cx="405384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C(</a:t>
              </a:r>
              <a:r>
                <a:rPr lang="en-US" sz="1192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192" dirty="0"/>
            </a:p>
          </p:txBody>
        </p:sp>
        <p:sp>
          <p:nvSpPr>
            <p:cNvPr id="62" name="Shape 58">
              <a:extLst>
                <a:ext uri="{FF2B5EF4-FFF2-40B4-BE49-F238E27FC236}">
                  <a16:creationId xmlns:a16="http://schemas.microsoft.com/office/drawing/2014/main" id="{BB26C9CB-BD8A-8541-4248-0E6D15DA1FBB}"/>
                </a:ext>
              </a:extLst>
            </p:cNvPr>
            <p:cNvSpPr/>
            <p:nvPr/>
          </p:nvSpPr>
          <p:spPr>
            <a:xfrm>
              <a:off x="5105400" y="4724400"/>
              <a:ext cx="4419600" cy="1844040"/>
            </a:xfrm>
            <a:prstGeom prst="roundRect">
              <a:avLst>
                <a:gd name="adj" fmla="val 4959"/>
              </a:avLst>
            </a:prstGeom>
            <a:solidFill>
              <a:srgbClr val="F6EDE2"/>
            </a:solidFill>
            <a:ln w="10160">
              <a:solidFill>
                <a:srgbClr val="B4834D"/>
              </a:solidFill>
              <a:prstDash val="solid"/>
            </a:ln>
          </p:spPr>
        </p:sp>
        <p:sp>
          <p:nvSpPr>
            <p:cNvPr id="63" name="Text 59">
              <a:extLst>
                <a:ext uri="{FF2B5EF4-FFF2-40B4-BE49-F238E27FC236}">
                  <a16:creationId xmlns:a16="http://schemas.microsoft.com/office/drawing/2014/main" id="{4FD56284-A6F8-C7EC-D6D9-198F496F8876}"/>
                </a:ext>
              </a:extLst>
            </p:cNvPr>
            <p:cNvSpPr/>
            <p:nvPr/>
          </p:nvSpPr>
          <p:spPr>
            <a:xfrm>
              <a:off x="5288280" y="4846320"/>
              <a:ext cx="405384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7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Electrothermal</a:t>
              </a:r>
              <a:endParaRPr lang="en-US" sz="1375" dirty="0"/>
            </a:p>
          </p:txBody>
        </p:sp>
        <p:sp>
          <p:nvSpPr>
            <p:cNvPr id="64" name="Text 60">
              <a:extLst>
                <a:ext uri="{FF2B5EF4-FFF2-40B4-BE49-F238E27FC236}">
                  <a16:creationId xmlns:a16="http://schemas.microsoft.com/office/drawing/2014/main" id="{73CA08BE-998C-5982-847C-F6E27B51BAE0}"/>
                </a:ext>
              </a:extLst>
            </p:cNvPr>
            <p:cNvSpPr/>
            <p:nvPr/>
          </p:nvSpPr>
          <p:spPr>
            <a:xfrm>
              <a:off x="5288280" y="5158740"/>
              <a:ext cx="4053840" cy="198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71" b="1" dirty="0">
                  <a:solidFill>
                    <a:srgbClr val="B4834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Joule heating · temperature-dependent conductivity</a:t>
              </a:r>
              <a:endParaRPr lang="en-US" sz="871" dirty="0"/>
            </a:p>
          </p:txBody>
        </p:sp>
        <p:sp>
          <p:nvSpPr>
            <p:cNvPr id="65" name="Text 61">
              <a:extLst>
                <a:ext uri="{FF2B5EF4-FFF2-40B4-BE49-F238E27FC236}">
                  <a16:creationId xmlns:a16="http://schemas.microsoft.com/office/drawing/2014/main" id="{4C61D577-4A0A-08B2-655E-15250786C08B}"/>
                </a:ext>
              </a:extLst>
            </p:cNvPr>
            <p:cNvSpPr/>
            <p:nvPr/>
          </p:nvSpPr>
          <p:spPr>
            <a:xfrm>
              <a:off x="5288280" y="5463540"/>
              <a:ext cx="40538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current</a:t>
              </a: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→ </a:t>
              </a:r>
              <a:r>
                <a:rPr lang="en-US" sz="1008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</a:t>
              </a:r>
              <a:endParaRPr lang="en-US" sz="1008" dirty="0"/>
            </a:p>
          </p:txBody>
        </p:sp>
        <p:sp>
          <p:nvSpPr>
            <p:cNvPr id="66" name="Text 62">
              <a:extLst>
                <a:ext uri="{FF2B5EF4-FFF2-40B4-BE49-F238E27FC236}">
                  <a16:creationId xmlns:a16="http://schemas.microsoft.com/office/drawing/2014/main" id="{C096C867-4D5F-539C-1FB3-0972FD56834E}"/>
                </a:ext>
              </a:extLst>
            </p:cNvPr>
            <p:cNvSpPr/>
            <p:nvPr/>
          </p:nvSpPr>
          <p:spPr>
            <a:xfrm>
              <a:off x="5288280" y="5692140"/>
              <a:ext cx="405384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</a:t>
              </a:r>
              <a:r>
                <a:rPr lang="en-US" sz="1192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J꜀·E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σₑ(</a:t>
              </a:r>
              <a:r>
                <a:rPr lang="en-US" sz="1192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)|E|²</a:t>
              </a:r>
              <a:endParaRPr lang="en-US" sz="1192" dirty="0"/>
            </a:p>
          </p:txBody>
        </p:sp>
        <p:sp>
          <p:nvSpPr>
            <p:cNvPr id="67" name="Shape 63">
              <a:extLst>
                <a:ext uri="{FF2B5EF4-FFF2-40B4-BE49-F238E27FC236}">
                  <a16:creationId xmlns:a16="http://schemas.microsoft.com/office/drawing/2014/main" id="{581C2C8F-A84A-D726-EAE5-4DEE151D3AD1}"/>
                </a:ext>
              </a:extLst>
            </p:cNvPr>
            <p:cNvSpPr/>
            <p:nvPr/>
          </p:nvSpPr>
          <p:spPr>
            <a:xfrm>
              <a:off x="9677400" y="4724400"/>
              <a:ext cx="4419600" cy="1844040"/>
            </a:xfrm>
            <a:prstGeom prst="roundRect">
              <a:avLst>
                <a:gd name="adj" fmla="val 4959"/>
              </a:avLst>
            </a:prstGeom>
            <a:solidFill>
              <a:srgbClr val="EEE9F3"/>
            </a:solidFill>
            <a:ln w="10160">
              <a:solidFill>
                <a:srgbClr val="88739A"/>
              </a:solidFill>
              <a:prstDash val="solid"/>
            </a:ln>
          </p:spPr>
        </p:sp>
        <p:sp>
          <p:nvSpPr>
            <p:cNvPr id="68" name="Text 64">
              <a:extLst>
                <a:ext uri="{FF2B5EF4-FFF2-40B4-BE49-F238E27FC236}">
                  <a16:creationId xmlns:a16="http://schemas.microsoft.com/office/drawing/2014/main" id="{1DCBAFE1-BE89-F219-F5E1-6DCFB6BB613A}"/>
                </a:ext>
              </a:extLst>
            </p:cNvPr>
            <p:cNvSpPr/>
            <p:nvPr/>
          </p:nvSpPr>
          <p:spPr>
            <a:xfrm>
              <a:off x="9860280" y="4846320"/>
              <a:ext cx="405384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7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Electromechanical</a:t>
              </a:r>
              <a:endParaRPr lang="en-US" sz="1375" dirty="0"/>
            </a:p>
          </p:txBody>
        </p:sp>
        <p:sp>
          <p:nvSpPr>
            <p:cNvPr id="69" name="Text 65">
              <a:extLst>
                <a:ext uri="{FF2B5EF4-FFF2-40B4-BE49-F238E27FC236}">
                  <a16:creationId xmlns:a16="http://schemas.microsoft.com/office/drawing/2014/main" id="{81678B2C-85F3-B872-A364-548D054EC34B}"/>
                </a:ext>
              </a:extLst>
            </p:cNvPr>
            <p:cNvSpPr/>
            <p:nvPr/>
          </p:nvSpPr>
          <p:spPr>
            <a:xfrm>
              <a:off x="9860280" y="5158740"/>
              <a:ext cx="4053840" cy="198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71" b="1" dirty="0">
                  <a:solidFill>
                    <a:srgbClr val="8873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Inverse piezoelectric effect</a:t>
              </a:r>
              <a:endParaRPr lang="en-US" sz="871" dirty="0"/>
            </a:p>
          </p:txBody>
        </p:sp>
        <p:sp>
          <p:nvSpPr>
            <p:cNvPr id="70" name="Text 66">
              <a:extLst>
                <a:ext uri="{FF2B5EF4-FFF2-40B4-BE49-F238E27FC236}">
                  <a16:creationId xmlns:a16="http://schemas.microsoft.com/office/drawing/2014/main" id="{E6CF4F6D-930A-8E83-2EFF-18CAD19F67BB}"/>
                </a:ext>
              </a:extLst>
            </p:cNvPr>
            <p:cNvSpPr/>
            <p:nvPr/>
          </p:nvSpPr>
          <p:spPr>
            <a:xfrm>
              <a:off x="9860280" y="5463540"/>
              <a:ext cx="40538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analysis</a:t>
              </a: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→ </a:t>
              </a:r>
              <a:r>
                <a:rPr lang="en-US" sz="1008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</a:t>
              </a:r>
              <a:endParaRPr lang="en-US" sz="1008" dirty="0"/>
            </a:p>
          </p:txBody>
        </p:sp>
        <p:sp>
          <p:nvSpPr>
            <p:cNvPr id="71" name="Text 67">
              <a:extLst>
                <a:ext uri="{FF2B5EF4-FFF2-40B4-BE49-F238E27FC236}">
                  <a16:creationId xmlns:a16="http://schemas.microsoft.com/office/drawing/2014/main" id="{1506AB5E-B3DF-5D11-273D-5219C4AF1719}"/>
                </a:ext>
              </a:extLst>
            </p:cNvPr>
            <p:cNvSpPr/>
            <p:nvPr/>
          </p:nvSpPr>
          <p:spPr>
            <a:xfrm>
              <a:off x="9860280" y="5692140"/>
              <a:ext cx="405384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σⱼᵖ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= −Σᵢ eᵢⱼ (</a:t>
              </a:r>
              <a:r>
                <a:rPr lang="en-US" sz="1192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Eᵢⁿᵉʷ − Eᵢᵒˡᵈ</a:t>
              </a: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192" dirty="0"/>
            </a:p>
          </p:txBody>
        </p:sp>
        <p:sp>
          <p:nvSpPr>
            <p:cNvPr id="72" name="Shape 68">
              <a:extLst>
                <a:ext uri="{FF2B5EF4-FFF2-40B4-BE49-F238E27FC236}">
                  <a16:creationId xmlns:a16="http://schemas.microsoft.com/office/drawing/2014/main" id="{C0396DCF-8D37-B422-26D9-D16FB5C11349}"/>
                </a:ext>
              </a:extLst>
            </p:cNvPr>
            <p:cNvSpPr/>
            <p:nvPr/>
          </p:nvSpPr>
          <p:spPr>
            <a:xfrm>
              <a:off x="365760" y="6812280"/>
              <a:ext cx="13898880" cy="1066800"/>
            </a:xfrm>
            <a:prstGeom prst="roundRect">
              <a:avLst>
                <a:gd name="adj" fmla="val 8571"/>
              </a:avLst>
            </a:prstGeom>
            <a:solidFill>
              <a:srgbClr val="F5F7FA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73" name="Text 69">
              <a:extLst>
                <a:ext uri="{FF2B5EF4-FFF2-40B4-BE49-F238E27FC236}">
                  <a16:creationId xmlns:a16="http://schemas.microsoft.com/office/drawing/2014/main" id="{31DB5D74-AC5C-4226-5BC7-3A51B7E2E6D2}"/>
                </a:ext>
              </a:extLst>
            </p:cNvPr>
            <p:cNvSpPr/>
            <p:nvPr/>
          </p:nvSpPr>
          <p:spPr>
            <a:xfrm>
              <a:off x="533400" y="6903720"/>
              <a:ext cx="135636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NUMERICS</a:t>
              </a:r>
              <a:endParaRPr lang="en-US" sz="963" dirty="0"/>
            </a:p>
          </p:txBody>
        </p:sp>
        <p:sp>
          <p:nvSpPr>
            <p:cNvPr id="74" name="Shape 70">
              <a:extLst>
                <a:ext uri="{FF2B5EF4-FFF2-40B4-BE49-F238E27FC236}">
                  <a16:creationId xmlns:a16="http://schemas.microsoft.com/office/drawing/2014/main" id="{D45AD9A4-C9D2-C294-AA5F-132E837C6FDE}"/>
                </a:ext>
              </a:extLst>
            </p:cNvPr>
            <p:cNvSpPr/>
            <p:nvPr/>
          </p:nvSpPr>
          <p:spPr>
            <a:xfrm>
              <a:off x="533400" y="7147560"/>
              <a:ext cx="3299460" cy="624840"/>
            </a:xfrm>
            <a:prstGeom prst="roundRect">
              <a:avLst>
                <a:gd name="adj" fmla="val 14634"/>
              </a:avLst>
            </a:prstGeom>
            <a:solidFill>
              <a:srgbClr val="EAF0F4"/>
            </a:solidFill>
            <a:ln w="10160">
              <a:solidFill>
                <a:srgbClr val="CEDBE6"/>
              </a:solidFill>
              <a:prstDash val="solid"/>
            </a:ln>
          </p:spPr>
        </p:sp>
        <p:sp>
          <p:nvSpPr>
            <p:cNvPr id="75" name="Text 71">
              <a:extLst>
                <a:ext uri="{FF2B5EF4-FFF2-40B4-BE49-F238E27FC236}">
                  <a16:creationId xmlns:a16="http://schemas.microsoft.com/office/drawing/2014/main" id="{1622DAC2-AB87-0572-9CEC-FD4373E9C917}"/>
                </a:ext>
              </a:extLst>
            </p:cNvPr>
            <p:cNvSpPr/>
            <p:nvPr/>
          </p:nvSpPr>
          <p:spPr>
            <a:xfrm>
              <a:off x="670560" y="7200900"/>
              <a:ext cx="302514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Spatial discretization</a:t>
              </a:r>
              <a:endParaRPr lang="en-US" sz="917" dirty="0"/>
            </a:p>
          </p:txBody>
        </p:sp>
        <p:sp>
          <p:nvSpPr>
            <p:cNvPr id="76" name="Text 72">
              <a:extLst>
                <a:ext uri="{FF2B5EF4-FFF2-40B4-BE49-F238E27FC236}">
                  <a16:creationId xmlns:a16="http://schemas.microsoft.com/office/drawing/2014/main" id="{3B4BC0F9-7BE2-71C2-D655-EB86F25C1712}"/>
                </a:ext>
              </a:extLst>
            </p:cNvPr>
            <p:cNvSpPr/>
            <p:nvPr/>
          </p:nvSpPr>
          <p:spPr>
            <a:xfrm>
              <a:off x="670560" y="7391400"/>
              <a:ext cx="30251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FEM · Mechanics</a:t>
              </a:r>
              <a:endParaRPr lang="en-US" sz="1008" dirty="0"/>
            </a:p>
          </p:txBody>
        </p:sp>
        <p:sp>
          <p:nvSpPr>
            <p:cNvPr id="77" name="Text 73">
              <a:extLst>
                <a:ext uri="{FF2B5EF4-FFF2-40B4-BE49-F238E27FC236}">
                  <a16:creationId xmlns:a16="http://schemas.microsoft.com/office/drawing/2014/main" id="{ECB50603-D506-3D0C-EC70-47225DD31B02}"/>
                </a:ext>
              </a:extLst>
            </p:cNvPr>
            <p:cNvSpPr/>
            <p:nvPr/>
          </p:nvSpPr>
          <p:spPr>
            <a:xfrm>
              <a:off x="670560" y="7574280"/>
              <a:ext cx="30251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FVM · Thermal / Electrical</a:t>
              </a:r>
              <a:endParaRPr lang="en-US" sz="1008" dirty="0"/>
            </a:p>
          </p:txBody>
        </p:sp>
        <p:sp>
          <p:nvSpPr>
            <p:cNvPr id="78" name="Shape 74">
              <a:extLst>
                <a:ext uri="{FF2B5EF4-FFF2-40B4-BE49-F238E27FC236}">
                  <a16:creationId xmlns:a16="http://schemas.microsoft.com/office/drawing/2014/main" id="{AC404043-2DB6-C4D5-0C91-9828B587BF7E}"/>
                </a:ext>
              </a:extLst>
            </p:cNvPr>
            <p:cNvSpPr/>
            <p:nvPr/>
          </p:nvSpPr>
          <p:spPr>
            <a:xfrm>
              <a:off x="3954780" y="7147560"/>
              <a:ext cx="3299460" cy="624840"/>
            </a:xfrm>
            <a:prstGeom prst="roundRect">
              <a:avLst>
                <a:gd name="adj" fmla="val 14634"/>
              </a:avLst>
            </a:prstGeom>
            <a:solidFill>
              <a:srgbClr val="EAF0F4"/>
            </a:solidFill>
            <a:ln w="10160">
              <a:solidFill>
                <a:srgbClr val="CEDBE6"/>
              </a:solidFill>
              <a:prstDash val="solid"/>
            </a:ln>
          </p:spPr>
        </p:sp>
        <p:sp>
          <p:nvSpPr>
            <p:cNvPr id="79" name="Text 75">
              <a:extLst>
                <a:ext uri="{FF2B5EF4-FFF2-40B4-BE49-F238E27FC236}">
                  <a16:creationId xmlns:a16="http://schemas.microsoft.com/office/drawing/2014/main" id="{9B8440AF-1213-4C3E-2925-8AFDF92E8152}"/>
                </a:ext>
              </a:extLst>
            </p:cNvPr>
            <p:cNvSpPr/>
            <p:nvPr/>
          </p:nvSpPr>
          <p:spPr>
            <a:xfrm>
              <a:off x="4091940" y="7200900"/>
              <a:ext cx="302514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Time integration</a:t>
              </a:r>
              <a:endParaRPr lang="en-US" sz="917" dirty="0"/>
            </a:p>
          </p:txBody>
        </p:sp>
        <p:sp>
          <p:nvSpPr>
            <p:cNvPr id="80" name="Text 76">
              <a:extLst>
                <a:ext uri="{FF2B5EF4-FFF2-40B4-BE49-F238E27FC236}">
                  <a16:creationId xmlns:a16="http://schemas.microsoft.com/office/drawing/2014/main" id="{54407FD3-E51A-3196-7BA6-0C784BE51E24}"/>
                </a:ext>
              </a:extLst>
            </p:cNvPr>
            <p:cNvSpPr/>
            <p:nvPr/>
          </p:nvSpPr>
          <p:spPr>
            <a:xfrm>
              <a:off x="4091940" y="7475220"/>
              <a:ext cx="30251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TRBDF</a:t>
              </a:r>
              <a:endParaRPr lang="en-US" sz="1008" dirty="0"/>
            </a:p>
          </p:txBody>
        </p:sp>
        <p:sp>
          <p:nvSpPr>
            <p:cNvPr id="81" name="Shape 77">
              <a:extLst>
                <a:ext uri="{FF2B5EF4-FFF2-40B4-BE49-F238E27FC236}">
                  <a16:creationId xmlns:a16="http://schemas.microsoft.com/office/drawing/2014/main" id="{EF82A4AA-C54D-6F76-4701-FC9F72FA682B}"/>
                </a:ext>
              </a:extLst>
            </p:cNvPr>
            <p:cNvSpPr/>
            <p:nvPr/>
          </p:nvSpPr>
          <p:spPr>
            <a:xfrm>
              <a:off x="7376160" y="7147560"/>
              <a:ext cx="3299460" cy="624840"/>
            </a:xfrm>
            <a:prstGeom prst="roundRect">
              <a:avLst>
                <a:gd name="adj" fmla="val 14634"/>
              </a:avLst>
            </a:prstGeom>
            <a:solidFill>
              <a:srgbClr val="EAF0F4"/>
            </a:solidFill>
            <a:ln w="10160">
              <a:solidFill>
                <a:srgbClr val="CEDBE6"/>
              </a:solidFill>
              <a:prstDash val="solid"/>
            </a:ln>
          </p:spPr>
        </p:sp>
        <p:sp>
          <p:nvSpPr>
            <p:cNvPr id="82" name="Text 78">
              <a:extLst>
                <a:ext uri="{FF2B5EF4-FFF2-40B4-BE49-F238E27FC236}">
                  <a16:creationId xmlns:a16="http://schemas.microsoft.com/office/drawing/2014/main" id="{60D969D6-D8EE-A306-4C27-82FA46E81A5E}"/>
                </a:ext>
              </a:extLst>
            </p:cNvPr>
            <p:cNvSpPr/>
            <p:nvPr/>
          </p:nvSpPr>
          <p:spPr>
            <a:xfrm>
              <a:off x="7513320" y="7200900"/>
              <a:ext cx="302514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Nonlinear solution</a:t>
              </a:r>
              <a:endParaRPr lang="en-US" sz="917" dirty="0"/>
            </a:p>
          </p:txBody>
        </p:sp>
        <p:sp>
          <p:nvSpPr>
            <p:cNvPr id="83" name="Text 79">
              <a:extLst>
                <a:ext uri="{FF2B5EF4-FFF2-40B4-BE49-F238E27FC236}">
                  <a16:creationId xmlns:a16="http://schemas.microsoft.com/office/drawing/2014/main" id="{550FDB84-B95B-59F9-0C5B-28E3C1AA8CF3}"/>
                </a:ext>
              </a:extLst>
            </p:cNvPr>
            <p:cNvSpPr/>
            <p:nvPr/>
          </p:nvSpPr>
          <p:spPr>
            <a:xfrm>
              <a:off x="7513320" y="7475220"/>
              <a:ext cx="30251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Newton method</a:t>
              </a:r>
              <a:endParaRPr lang="en-US" sz="1008" dirty="0"/>
            </a:p>
          </p:txBody>
        </p:sp>
        <p:sp>
          <p:nvSpPr>
            <p:cNvPr id="84" name="Shape 80">
              <a:extLst>
                <a:ext uri="{FF2B5EF4-FFF2-40B4-BE49-F238E27FC236}">
                  <a16:creationId xmlns:a16="http://schemas.microsoft.com/office/drawing/2014/main" id="{17AF96A9-E46F-1FD7-F67F-67C302713F31}"/>
                </a:ext>
              </a:extLst>
            </p:cNvPr>
            <p:cNvSpPr/>
            <p:nvPr/>
          </p:nvSpPr>
          <p:spPr>
            <a:xfrm>
              <a:off x="10797540" y="7147560"/>
              <a:ext cx="3299460" cy="624840"/>
            </a:xfrm>
            <a:prstGeom prst="roundRect">
              <a:avLst>
                <a:gd name="adj" fmla="val 14634"/>
              </a:avLst>
            </a:prstGeom>
            <a:solidFill>
              <a:srgbClr val="EAF0F4"/>
            </a:solidFill>
            <a:ln w="10160">
              <a:solidFill>
                <a:srgbClr val="CEDBE6"/>
              </a:solidFill>
              <a:prstDash val="solid"/>
            </a:ln>
          </p:spPr>
        </p:sp>
        <p:sp>
          <p:nvSpPr>
            <p:cNvPr id="85" name="Text 81">
              <a:extLst>
                <a:ext uri="{FF2B5EF4-FFF2-40B4-BE49-F238E27FC236}">
                  <a16:creationId xmlns:a16="http://schemas.microsoft.com/office/drawing/2014/main" id="{E99B3004-CF10-5827-0AE5-023F70E05A3A}"/>
                </a:ext>
              </a:extLst>
            </p:cNvPr>
            <p:cNvSpPr/>
            <p:nvPr/>
          </p:nvSpPr>
          <p:spPr>
            <a:xfrm>
              <a:off x="10934700" y="7200900"/>
              <a:ext cx="302514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Linear solvers</a:t>
              </a:r>
              <a:endParaRPr lang="en-US" sz="917" dirty="0"/>
            </a:p>
          </p:txBody>
        </p:sp>
        <p:sp>
          <p:nvSpPr>
            <p:cNvPr id="86" name="Text 82">
              <a:extLst>
                <a:ext uri="{FF2B5EF4-FFF2-40B4-BE49-F238E27FC236}">
                  <a16:creationId xmlns:a16="http://schemas.microsoft.com/office/drawing/2014/main" id="{C13AB09C-31BF-8417-42D8-CF9C146D9BA6}"/>
                </a:ext>
              </a:extLst>
            </p:cNvPr>
            <p:cNvSpPr/>
            <p:nvPr/>
          </p:nvSpPr>
          <p:spPr>
            <a:xfrm>
              <a:off x="10934700" y="7475220"/>
              <a:ext cx="30251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Direct · Iterative</a:t>
              </a:r>
              <a:endParaRPr lang="en-US" sz="1008" dirty="0"/>
            </a:p>
          </p:txBody>
        </p:sp>
        <p:sp>
          <p:nvSpPr>
            <p:cNvPr id="87" name="Shape 83">
              <a:extLst>
                <a:ext uri="{FF2B5EF4-FFF2-40B4-BE49-F238E27FC236}">
                  <a16:creationId xmlns:a16="http://schemas.microsoft.com/office/drawing/2014/main" id="{BC33430F-DB93-4672-D32C-1124133DE2CF}"/>
                </a:ext>
              </a:extLst>
            </p:cNvPr>
            <p:cNvSpPr/>
            <p:nvPr/>
          </p:nvSpPr>
          <p:spPr>
            <a:xfrm>
              <a:off x="7376160" y="1874520"/>
              <a:ext cx="6720840" cy="1767840"/>
            </a:xfrm>
            <a:prstGeom prst="roundRect">
              <a:avLst>
                <a:gd name="adj" fmla="val 5172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88" name="Text 84">
              <a:extLst>
                <a:ext uri="{FF2B5EF4-FFF2-40B4-BE49-F238E27FC236}">
                  <a16:creationId xmlns:a16="http://schemas.microsoft.com/office/drawing/2014/main" id="{37CFC5F0-3731-D9E6-CC0E-9429907FF12C}"/>
                </a:ext>
              </a:extLst>
            </p:cNvPr>
            <p:cNvSpPr/>
            <p:nvPr/>
          </p:nvSpPr>
          <p:spPr>
            <a:xfrm>
              <a:off x="7559040" y="1981200"/>
              <a:ext cx="62484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7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analysis</a:t>
              </a:r>
              <a:endParaRPr lang="en-US" sz="1375" dirty="0"/>
            </a:p>
          </p:txBody>
        </p:sp>
        <p:sp>
          <p:nvSpPr>
            <p:cNvPr id="89" name="Text 85">
              <a:extLst>
                <a:ext uri="{FF2B5EF4-FFF2-40B4-BE49-F238E27FC236}">
                  <a16:creationId xmlns:a16="http://schemas.microsoft.com/office/drawing/2014/main" id="{D50C89DC-FA3E-97E2-46DB-AEA6F39C78D8}"/>
                </a:ext>
              </a:extLst>
            </p:cNvPr>
            <p:cNvSpPr/>
            <p:nvPr/>
          </p:nvSpPr>
          <p:spPr>
            <a:xfrm>
              <a:off x="7559040" y="2316480"/>
              <a:ext cx="3048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46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current</a:t>
              </a:r>
              <a:endParaRPr lang="en-US" sz="1146" dirty="0"/>
            </a:p>
          </p:txBody>
        </p:sp>
        <p:sp>
          <p:nvSpPr>
            <p:cNvPr id="90" name="Text 86">
              <a:extLst>
                <a:ext uri="{FF2B5EF4-FFF2-40B4-BE49-F238E27FC236}">
                  <a16:creationId xmlns:a16="http://schemas.microsoft.com/office/drawing/2014/main" id="{691A7895-CCA0-E75F-0037-8924A73379E0}"/>
                </a:ext>
              </a:extLst>
            </p:cNvPr>
            <p:cNvSpPr/>
            <p:nvPr/>
          </p:nvSpPr>
          <p:spPr>
            <a:xfrm>
              <a:off x="10980420" y="2316480"/>
              <a:ext cx="29337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46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Electrostatic</a:t>
              </a:r>
              <a:endParaRPr lang="en-US" sz="1146" dirty="0"/>
            </a:p>
          </p:txBody>
        </p:sp>
        <p:sp>
          <p:nvSpPr>
            <p:cNvPr id="91" name="Shape 87">
              <a:extLst>
                <a:ext uri="{FF2B5EF4-FFF2-40B4-BE49-F238E27FC236}">
                  <a16:creationId xmlns:a16="http://schemas.microsoft.com/office/drawing/2014/main" id="{C408DC5F-2617-6680-39C7-6D2E710B3E7E}"/>
                </a:ext>
              </a:extLst>
            </p:cNvPr>
            <p:cNvSpPr/>
            <p:nvPr/>
          </p:nvSpPr>
          <p:spPr>
            <a:xfrm>
              <a:off x="10759440" y="2331720"/>
              <a:ext cx="7620" cy="838200"/>
            </a:xfrm>
            <a:prstGeom prst="roundRect">
              <a:avLst>
                <a:gd name="adj" fmla="val 1200000"/>
              </a:avLst>
            </a:prstGeom>
            <a:solidFill>
              <a:srgbClr val="B5C9DD"/>
            </a:solidFill>
            <a:ln w="10160">
              <a:solidFill>
                <a:srgbClr val="B5C9DD"/>
              </a:solidFill>
              <a:prstDash val="solid"/>
            </a:ln>
          </p:spPr>
        </p:sp>
        <p:sp>
          <p:nvSpPr>
            <p:cNvPr id="92" name="Text 88">
              <a:extLst>
                <a:ext uri="{FF2B5EF4-FFF2-40B4-BE49-F238E27FC236}">
                  <a16:creationId xmlns:a16="http://schemas.microsoft.com/office/drawing/2014/main" id="{A13C68EE-80A3-8708-BAF4-DB2BBA8F6F42}"/>
                </a:ext>
              </a:extLst>
            </p:cNvPr>
            <p:cNvSpPr/>
            <p:nvPr/>
          </p:nvSpPr>
          <p:spPr>
            <a:xfrm>
              <a:off x="7559040" y="2598420"/>
              <a:ext cx="30480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∇·(σₑ∇φ) = ∇·Jᴅ</a:t>
              </a:r>
              <a:endParaRPr lang="en-US" sz="1008" dirty="0"/>
            </a:p>
          </p:txBody>
        </p:sp>
        <p:sp>
          <p:nvSpPr>
            <p:cNvPr id="93" name="Text 89">
              <a:extLst>
                <a:ext uri="{FF2B5EF4-FFF2-40B4-BE49-F238E27FC236}">
                  <a16:creationId xmlns:a16="http://schemas.microsoft.com/office/drawing/2014/main" id="{12D9AD18-2FFD-AE72-0686-EDD40AC67F13}"/>
                </a:ext>
              </a:extLst>
            </p:cNvPr>
            <p:cNvSpPr/>
            <p:nvPr/>
          </p:nvSpPr>
          <p:spPr>
            <a:xfrm>
              <a:off x="7559040" y="2804160"/>
              <a:ext cx="30480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Jᴅ = −∂(ε∇φ)/∂t</a:t>
              </a:r>
              <a:endParaRPr lang="en-US" sz="1008" dirty="0"/>
            </a:p>
          </p:txBody>
        </p:sp>
        <p:sp>
          <p:nvSpPr>
            <p:cNvPr id="94" name="Text 90">
              <a:extLst>
                <a:ext uri="{FF2B5EF4-FFF2-40B4-BE49-F238E27FC236}">
                  <a16:creationId xmlns:a16="http://schemas.microsoft.com/office/drawing/2014/main" id="{9A0F26A9-3027-87E5-14F9-D8842A12FE1B}"/>
                </a:ext>
              </a:extLst>
            </p:cNvPr>
            <p:cNvSpPr/>
            <p:nvPr/>
          </p:nvSpPr>
          <p:spPr>
            <a:xfrm>
              <a:off x="7559040" y="3048000"/>
              <a:ext cx="30480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Current Laplace equation</a:t>
              </a:r>
              <a:endParaRPr lang="en-US" sz="963" dirty="0"/>
            </a:p>
          </p:txBody>
        </p:sp>
        <p:sp>
          <p:nvSpPr>
            <p:cNvPr id="95" name="Text 91">
              <a:extLst>
                <a:ext uri="{FF2B5EF4-FFF2-40B4-BE49-F238E27FC236}">
                  <a16:creationId xmlns:a16="http://schemas.microsoft.com/office/drawing/2014/main" id="{65D0EA59-1BDD-1AF3-AA8A-B73DCDF5BFB6}"/>
                </a:ext>
              </a:extLst>
            </p:cNvPr>
            <p:cNvSpPr/>
            <p:nvPr/>
          </p:nvSpPr>
          <p:spPr>
            <a:xfrm>
              <a:off x="10980420" y="2697480"/>
              <a:ext cx="2933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∇·(ε∇φ) = −ρf</a:t>
              </a:r>
              <a:endParaRPr lang="en-US" sz="1100" dirty="0"/>
            </a:p>
          </p:txBody>
        </p:sp>
        <p:sp>
          <p:nvSpPr>
            <p:cNvPr id="96" name="Text 92">
              <a:extLst>
                <a:ext uri="{FF2B5EF4-FFF2-40B4-BE49-F238E27FC236}">
                  <a16:creationId xmlns:a16="http://schemas.microsoft.com/office/drawing/2014/main" id="{616C992C-98BB-C2DA-2EA9-81B5E2B76B80}"/>
                </a:ext>
              </a:extLst>
            </p:cNvPr>
            <p:cNvSpPr/>
            <p:nvPr/>
          </p:nvSpPr>
          <p:spPr>
            <a:xfrm>
              <a:off x="10980420" y="3048000"/>
              <a:ext cx="29337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Poisson equation in dielectrics</a:t>
              </a:r>
              <a:endParaRPr lang="en-US" sz="963" dirty="0"/>
            </a:p>
          </p:txBody>
        </p:sp>
        <p:sp>
          <p:nvSpPr>
            <p:cNvPr id="97" name="Shape 93">
              <a:extLst>
                <a:ext uri="{FF2B5EF4-FFF2-40B4-BE49-F238E27FC236}">
                  <a16:creationId xmlns:a16="http://schemas.microsoft.com/office/drawing/2014/main" id="{BF4997F0-0BA7-8D5E-43A7-FEAE5EB72EB0}"/>
                </a:ext>
              </a:extLst>
            </p:cNvPr>
            <p:cNvSpPr/>
            <p:nvPr/>
          </p:nvSpPr>
          <p:spPr>
            <a:xfrm>
              <a:off x="7513320" y="3329940"/>
              <a:ext cx="6446520" cy="228600"/>
            </a:xfrm>
            <a:prstGeom prst="roundRect">
              <a:avLst>
                <a:gd name="adj" fmla="val 40000"/>
              </a:avLst>
            </a:prstGeom>
            <a:solidFill>
              <a:srgbClr val="EAF1F8"/>
            </a:solidFill>
            <a:ln w="10160">
              <a:solidFill>
                <a:srgbClr val="EAF1F8"/>
              </a:solidFill>
              <a:prstDash val="solid"/>
            </a:ln>
          </p:spPr>
        </p:sp>
        <p:sp>
          <p:nvSpPr>
            <p:cNvPr id="98" name="Text 94">
              <a:extLst>
                <a:ext uri="{FF2B5EF4-FFF2-40B4-BE49-F238E27FC236}">
                  <a16:creationId xmlns:a16="http://schemas.microsoft.com/office/drawing/2014/main" id="{2EB63B65-7AF5-2D6C-7ECA-D0401927C4B3}"/>
                </a:ext>
              </a:extLst>
            </p:cNvPr>
            <p:cNvSpPr/>
            <p:nvPr/>
          </p:nvSpPr>
          <p:spPr>
            <a:xfrm>
              <a:off x="7635240" y="3345180"/>
              <a:ext cx="61722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Solve for: </a:t>
              </a:r>
              <a:r>
                <a:rPr lang="en-US" sz="963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 potential φ</a:t>
              </a:r>
              <a:r>
                <a:rPr lang="en-US" sz="9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, then derive </a:t>
              </a:r>
              <a:r>
                <a:rPr lang="en-US" sz="963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 field E = −∇φ</a:t>
              </a:r>
              <a:endParaRPr lang="en-US" sz="963" dirty="0"/>
            </a:p>
          </p:txBody>
        </p:sp>
        <p:sp>
          <p:nvSpPr>
            <p:cNvPr id="99" name="Shape 95">
              <a:extLst>
                <a:ext uri="{FF2B5EF4-FFF2-40B4-BE49-F238E27FC236}">
                  <a16:creationId xmlns:a16="http://schemas.microsoft.com/office/drawing/2014/main" id="{D1415C87-AFF9-3D53-7B8C-C30BB6ECA455}"/>
                </a:ext>
              </a:extLst>
            </p:cNvPr>
            <p:cNvSpPr/>
            <p:nvPr/>
          </p:nvSpPr>
          <p:spPr>
            <a:xfrm>
              <a:off x="8115300" y="3604260"/>
              <a:ext cx="76200" cy="76200"/>
            </a:xfrm>
            <a:prstGeom prst="roundRect">
              <a:avLst>
                <a:gd name="adj" fmla="val 120000"/>
              </a:avLst>
            </a:prstGeom>
            <a:solidFill>
              <a:srgbClr val="B4834D"/>
            </a:solidFill>
            <a:ln w="10160">
              <a:solidFill>
                <a:srgbClr val="B4834D"/>
              </a:solidFill>
              <a:prstDash val="solid"/>
            </a:ln>
          </p:spPr>
        </p:sp>
        <p:sp>
          <p:nvSpPr>
            <p:cNvPr id="100" name="Shape 96">
              <a:extLst>
                <a:ext uri="{FF2B5EF4-FFF2-40B4-BE49-F238E27FC236}">
                  <a16:creationId xmlns:a16="http://schemas.microsoft.com/office/drawing/2014/main" id="{FCE3BD5E-517F-5CBD-00CD-1628BCBC4A6D}"/>
                </a:ext>
              </a:extLst>
            </p:cNvPr>
            <p:cNvSpPr/>
            <p:nvPr/>
          </p:nvSpPr>
          <p:spPr>
            <a:xfrm>
              <a:off x="10706100" y="3604260"/>
              <a:ext cx="76200" cy="76200"/>
            </a:xfrm>
            <a:prstGeom prst="roundRect">
              <a:avLst>
                <a:gd name="adj" fmla="val 120000"/>
              </a:avLst>
            </a:prstGeom>
            <a:solidFill>
              <a:srgbClr val="88739A"/>
            </a:solidFill>
            <a:ln w="10160">
              <a:solidFill>
                <a:srgbClr val="88739A"/>
              </a:solidFill>
              <a:prstDash val="solid"/>
            </a:ln>
          </p:spPr>
        </p:sp>
        <p:sp>
          <p:nvSpPr>
            <p:cNvPr id="101" name="Text 97">
              <a:extLst>
                <a:ext uri="{FF2B5EF4-FFF2-40B4-BE49-F238E27FC236}">
                  <a16:creationId xmlns:a16="http://schemas.microsoft.com/office/drawing/2014/main" id="{3741672B-1832-DF8C-8336-5DA2C0BEA98B}"/>
                </a:ext>
              </a:extLst>
            </p:cNvPr>
            <p:cNvSpPr/>
            <p:nvPr/>
          </p:nvSpPr>
          <p:spPr>
            <a:xfrm>
              <a:off x="5288280" y="5958840"/>
              <a:ext cx="40538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</a:t>
              </a:r>
              <a:r>
                <a:rPr lang="en-US" sz="10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→ </a:t>
              </a:r>
              <a:r>
                <a:rPr lang="en-US" sz="1008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current</a:t>
              </a:r>
              <a:endParaRPr lang="en-US" sz="1008" dirty="0"/>
            </a:p>
          </p:txBody>
        </p:sp>
        <p:sp>
          <p:nvSpPr>
            <p:cNvPr id="151" name="Text 98">
              <a:extLst>
                <a:ext uri="{FF2B5EF4-FFF2-40B4-BE49-F238E27FC236}">
                  <a16:creationId xmlns:a16="http://schemas.microsoft.com/office/drawing/2014/main" id="{2475ABF7-F05D-07F5-BB88-4FEA1635751E}"/>
                </a:ext>
              </a:extLst>
            </p:cNvPr>
            <p:cNvSpPr/>
            <p:nvPr/>
          </p:nvSpPr>
          <p:spPr>
            <a:xfrm>
              <a:off x="5288280" y="6179820"/>
              <a:ext cx="405384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 → σₑ(T) → re-solve electric potential φ</a:t>
              </a:r>
              <a:endParaRPr lang="en-US" sz="917" dirty="0"/>
            </a:p>
          </p:txBody>
        </p:sp>
        <p:sp>
          <p:nvSpPr>
            <p:cNvPr id="152" name="Text 99">
              <a:extLst>
                <a:ext uri="{FF2B5EF4-FFF2-40B4-BE49-F238E27FC236}">
                  <a16:creationId xmlns:a16="http://schemas.microsoft.com/office/drawing/2014/main" id="{15F88452-4064-7B59-5844-38CFB6DEAD95}"/>
                </a:ext>
              </a:extLst>
            </p:cNvPr>
            <p:cNvSpPr/>
            <p:nvPr/>
          </p:nvSpPr>
          <p:spPr>
            <a:xfrm>
              <a:off x="5288280" y="6370320"/>
              <a:ext cx="405384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 = −∇φ; J꜀ = σₑ(T)E</a:t>
              </a:r>
              <a:endParaRPr lang="en-US" sz="917" dirty="0"/>
            </a:p>
          </p:txBody>
        </p:sp>
        <p:sp>
          <p:nvSpPr>
            <p:cNvPr id="153" name="Text 100">
              <a:extLst>
                <a:ext uri="{FF2B5EF4-FFF2-40B4-BE49-F238E27FC236}">
                  <a16:creationId xmlns:a16="http://schemas.microsoft.com/office/drawing/2014/main" id="{2F92A46C-2E49-C575-6572-B66BD6AB698F}"/>
                </a:ext>
              </a:extLst>
            </p:cNvPr>
            <p:cNvSpPr/>
            <p:nvPr/>
          </p:nvSpPr>
          <p:spPr>
            <a:xfrm>
              <a:off x="716280" y="5303520"/>
              <a:ext cx="4053840" cy="195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71" b="1" dirty="0">
                  <a:solidFill>
                    <a:srgbClr val="548D8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Temperature-dependent mechanical properties</a:t>
              </a:r>
              <a:endParaRPr lang="en-US" sz="871" dirty="0"/>
            </a:p>
          </p:txBody>
        </p:sp>
        <p:sp>
          <p:nvSpPr>
            <p:cNvPr id="154" name="Shape 101">
              <a:extLst>
                <a:ext uri="{FF2B5EF4-FFF2-40B4-BE49-F238E27FC236}">
                  <a16:creationId xmlns:a16="http://schemas.microsoft.com/office/drawing/2014/main" id="{CCB00551-F53A-EEF7-D98D-F3CBBC729BC7}"/>
                </a:ext>
              </a:extLst>
            </p:cNvPr>
            <p:cNvSpPr/>
            <p:nvPr/>
          </p:nvSpPr>
          <p:spPr>
            <a:xfrm>
              <a:off x="2887980" y="2057400"/>
              <a:ext cx="762000" cy="274320"/>
            </a:xfrm>
            <a:prstGeom prst="roundRect">
              <a:avLst>
                <a:gd name="adj" fmla="val 33333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55" name="Text 102">
              <a:extLst>
                <a:ext uri="{FF2B5EF4-FFF2-40B4-BE49-F238E27FC236}">
                  <a16:creationId xmlns:a16="http://schemas.microsoft.com/office/drawing/2014/main" id="{30AA9608-B84F-C6C7-6A6D-80917C3A6392}"/>
                </a:ext>
              </a:extLst>
            </p:cNvPr>
            <p:cNvSpPr/>
            <p:nvPr/>
          </p:nvSpPr>
          <p:spPr>
            <a:xfrm>
              <a:off x="2887980" y="2080260"/>
              <a:ext cx="7620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1008" dirty="0"/>
            </a:p>
          </p:txBody>
        </p:sp>
        <p:sp>
          <p:nvSpPr>
            <p:cNvPr id="156" name="Shape 103">
              <a:extLst>
                <a:ext uri="{FF2B5EF4-FFF2-40B4-BE49-F238E27FC236}">
                  <a16:creationId xmlns:a16="http://schemas.microsoft.com/office/drawing/2014/main" id="{9CFB764B-AB99-DBDA-F4BC-CF3CC927DB2E}"/>
                </a:ext>
              </a:extLst>
            </p:cNvPr>
            <p:cNvSpPr/>
            <p:nvPr/>
          </p:nvSpPr>
          <p:spPr>
            <a:xfrm>
              <a:off x="6309360" y="2057400"/>
              <a:ext cx="762000" cy="274320"/>
            </a:xfrm>
            <a:prstGeom prst="roundRect">
              <a:avLst>
                <a:gd name="adj" fmla="val 33333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157" name="Text 104">
              <a:extLst>
                <a:ext uri="{FF2B5EF4-FFF2-40B4-BE49-F238E27FC236}">
                  <a16:creationId xmlns:a16="http://schemas.microsoft.com/office/drawing/2014/main" id="{E2162B9A-6DF3-D011-7059-2B09681A499E}"/>
                </a:ext>
              </a:extLst>
            </p:cNvPr>
            <p:cNvSpPr/>
            <p:nvPr/>
          </p:nvSpPr>
          <p:spPr>
            <a:xfrm>
              <a:off x="6309360" y="2080260"/>
              <a:ext cx="7620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1008" dirty="0"/>
            </a:p>
          </p:txBody>
        </p:sp>
        <p:sp>
          <p:nvSpPr>
            <p:cNvPr id="158" name="Shape 105">
              <a:extLst>
                <a:ext uri="{FF2B5EF4-FFF2-40B4-BE49-F238E27FC236}">
                  <a16:creationId xmlns:a16="http://schemas.microsoft.com/office/drawing/2014/main" id="{AA87D9BE-FA30-9A5F-E147-F6B6414DEDE1}"/>
                </a:ext>
              </a:extLst>
            </p:cNvPr>
            <p:cNvSpPr/>
            <p:nvPr/>
          </p:nvSpPr>
          <p:spPr>
            <a:xfrm>
              <a:off x="12618720" y="1981200"/>
              <a:ext cx="1295400" cy="274320"/>
            </a:xfrm>
            <a:prstGeom prst="roundRect">
              <a:avLst>
                <a:gd name="adj" fmla="val 33333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59" name="Text 106">
              <a:extLst>
                <a:ext uri="{FF2B5EF4-FFF2-40B4-BE49-F238E27FC236}">
                  <a16:creationId xmlns:a16="http://schemas.microsoft.com/office/drawing/2014/main" id="{D8B84097-7EBF-9304-EEE0-83585B08BBB6}"/>
                </a:ext>
              </a:extLst>
            </p:cNvPr>
            <p:cNvSpPr/>
            <p:nvPr/>
          </p:nvSpPr>
          <p:spPr>
            <a:xfrm>
              <a:off x="12618720" y="2004060"/>
              <a:ext cx="12954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1008" dirty="0"/>
            </a:p>
          </p:txBody>
        </p:sp>
        <p:sp>
          <p:nvSpPr>
            <p:cNvPr id="160" name="Shape 107">
              <a:extLst>
                <a:ext uri="{FF2B5EF4-FFF2-40B4-BE49-F238E27FC236}">
                  <a16:creationId xmlns:a16="http://schemas.microsoft.com/office/drawing/2014/main" id="{5ED3AE4D-4B05-59D7-26FB-D21993BDAE7A}"/>
                </a:ext>
              </a:extLst>
            </p:cNvPr>
            <p:cNvSpPr/>
            <p:nvPr/>
          </p:nvSpPr>
          <p:spPr>
            <a:xfrm>
              <a:off x="3931920" y="4861560"/>
              <a:ext cx="838200" cy="274320"/>
            </a:xfrm>
            <a:prstGeom prst="roundRect">
              <a:avLst>
                <a:gd name="adj" fmla="val 33333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161" name="Text 108">
              <a:extLst>
                <a:ext uri="{FF2B5EF4-FFF2-40B4-BE49-F238E27FC236}">
                  <a16:creationId xmlns:a16="http://schemas.microsoft.com/office/drawing/2014/main" id="{E733EE01-4823-DB04-F6C6-CECE33787A2D}"/>
                </a:ext>
              </a:extLst>
            </p:cNvPr>
            <p:cNvSpPr/>
            <p:nvPr/>
          </p:nvSpPr>
          <p:spPr>
            <a:xfrm>
              <a:off x="3931920" y="4884420"/>
              <a:ext cx="8382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1008" dirty="0"/>
            </a:p>
          </p:txBody>
        </p:sp>
        <p:sp>
          <p:nvSpPr>
            <p:cNvPr id="162" name="Shape 109">
              <a:extLst>
                <a:ext uri="{FF2B5EF4-FFF2-40B4-BE49-F238E27FC236}">
                  <a16:creationId xmlns:a16="http://schemas.microsoft.com/office/drawing/2014/main" id="{3AD6E616-D802-530C-D093-2091B3E96152}"/>
                </a:ext>
              </a:extLst>
            </p:cNvPr>
            <p:cNvSpPr/>
            <p:nvPr/>
          </p:nvSpPr>
          <p:spPr>
            <a:xfrm>
              <a:off x="8046720" y="4861560"/>
              <a:ext cx="1295400" cy="274320"/>
            </a:xfrm>
            <a:prstGeom prst="roundRect">
              <a:avLst>
                <a:gd name="adj" fmla="val 33333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63" name="Text 110">
              <a:extLst>
                <a:ext uri="{FF2B5EF4-FFF2-40B4-BE49-F238E27FC236}">
                  <a16:creationId xmlns:a16="http://schemas.microsoft.com/office/drawing/2014/main" id="{3BCF97BF-8AD5-8816-6A99-5D7EA47B2D3F}"/>
                </a:ext>
              </a:extLst>
            </p:cNvPr>
            <p:cNvSpPr/>
            <p:nvPr/>
          </p:nvSpPr>
          <p:spPr>
            <a:xfrm>
              <a:off x="8046720" y="4884420"/>
              <a:ext cx="12954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1008" dirty="0"/>
            </a:p>
          </p:txBody>
        </p:sp>
        <p:sp>
          <p:nvSpPr>
            <p:cNvPr id="164" name="Shape 111">
              <a:extLst>
                <a:ext uri="{FF2B5EF4-FFF2-40B4-BE49-F238E27FC236}">
                  <a16:creationId xmlns:a16="http://schemas.microsoft.com/office/drawing/2014/main" id="{52360692-E9C9-81D2-7008-697966B8D608}"/>
                </a:ext>
              </a:extLst>
            </p:cNvPr>
            <p:cNvSpPr/>
            <p:nvPr/>
          </p:nvSpPr>
          <p:spPr>
            <a:xfrm>
              <a:off x="12618720" y="4861560"/>
              <a:ext cx="1295400" cy="274320"/>
            </a:xfrm>
            <a:prstGeom prst="roundRect">
              <a:avLst>
                <a:gd name="adj" fmla="val 33333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65" name="Text 112">
              <a:extLst>
                <a:ext uri="{FF2B5EF4-FFF2-40B4-BE49-F238E27FC236}">
                  <a16:creationId xmlns:a16="http://schemas.microsoft.com/office/drawing/2014/main" id="{DB32425A-64F7-AD57-364D-6F03EA7CF247}"/>
                </a:ext>
              </a:extLst>
            </p:cNvPr>
            <p:cNvSpPr/>
            <p:nvPr/>
          </p:nvSpPr>
          <p:spPr>
            <a:xfrm>
              <a:off x="12618720" y="4884420"/>
              <a:ext cx="12954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1008" dirty="0"/>
            </a:p>
          </p:txBody>
        </p:sp>
        <p:sp>
          <p:nvSpPr>
            <p:cNvPr id="166" name="Shape 113">
              <a:extLst>
                <a:ext uri="{FF2B5EF4-FFF2-40B4-BE49-F238E27FC236}">
                  <a16:creationId xmlns:a16="http://schemas.microsoft.com/office/drawing/2014/main" id="{4AB436DC-B85B-FF7A-6FAA-08CAC2749824}"/>
                </a:ext>
              </a:extLst>
            </p:cNvPr>
            <p:cNvSpPr/>
            <p:nvPr/>
          </p:nvSpPr>
          <p:spPr>
            <a:xfrm>
              <a:off x="4953000" y="1120140"/>
              <a:ext cx="838200" cy="274320"/>
            </a:xfrm>
            <a:prstGeom prst="roundRect">
              <a:avLst>
                <a:gd name="adj" fmla="val 33333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67" name="Text 114">
              <a:extLst>
                <a:ext uri="{FF2B5EF4-FFF2-40B4-BE49-F238E27FC236}">
                  <a16:creationId xmlns:a16="http://schemas.microsoft.com/office/drawing/2014/main" id="{E09F054B-CB50-3E8D-42CF-740BD338F619}"/>
                </a:ext>
              </a:extLst>
            </p:cNvPr>
            <p:cNvSpPr/>
            <p:nvPr/>
          </p:nvSpPr>
          <p:spPr>
            <a:xfrm>
              <a:off x="4953000" y="1143000"/>
              <a:ext cx="8382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1008" dirty="0"/>
            </a:p>
          </p:txBody>
        </p:sp>
        <p:sp>
          <p:nvSpPr>
            <p:cNvPr id="168" name="Text 115">
              <a:extLst>
                <a:ext uri="{FF2B5EF4-FFF2-40B4-BE49-F238E27FC236}">
                  <a16:creationId xmlns:a16="http://schemas.microsoft.com/office/drawing/2014/main" id="{915836B0-CBDC-9808-E969-FF04FDD13F1B}"/>
                </a:ext>
              </a:extLst>
            </p:cNvPr>
            <p:cNvSpPr/>
            <p:nvPr/>
          </p:nvSpPr>
          <p:spPr>
            <a:xfrm>
              <a:off x="5882640" y="1135380"/>
              <a:ext cx="2286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169" name="Shape 116">
              <a:extLst>
                <a:ext uri="{FF2B5EF4-FFF2-40B4-BE49-F238E27FC236}">
                  <a16:creationId xmlns:a16="http://schemas.microsoft.com/office/drawing/2014/main" id="{2B7B73B2-E136-0944-2D54-5DDF839DEECB}"/>
                </a:ext>
              </a:extLst>
            </p:cNvPr>
            <p:cNvSpPr/>
            <p:nvPr/>
          </p:nvSpPr>
          <p:spPr>
            <a:xfrm>
              <a:off x="6134100" y="1120140"/>
              <a:ext cx="1203960" cy="274320"/>
            </a:xfrm>
            <a:prstGeom prst="roundRect">
              <a:avLst>
                <a:gd name="adj" fmla="val 33333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170" name="Text 117">
              <a:extLst>
                <a:ext uri="{FF2B5EF4-FFF2-40B4-BE49-F238E27FC236}">
                  <a16:creationId xmlns:a16="http://schemas.microsoft.com/office/drawing/2014/main" id="{0D374AC7-A1B4-53D4-D746-582D1ED78B2E}"/>
                </a:ext>
              </a:extLst>
            </p:cNvPr>
            <p:cNvSpPr/>
            <p:nvPr/>
          </p:nvSpPr>
          <p:spPr>
            <a:xfrm>
              <a:off x="6134100" y="1143000"/>
              <a:ext cx="120396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1008" dirty="0"/>
            </a:p>
          </p:txBody>
        </p:sp>
        <p:sp>
          <p:nvSpPr>
            <p:cNvPr id="171" name="Text 118">
              <a:extLst>
                <a:ext uri="{FF2B5EF4-FFF2-40B4-BE49-F238E27FC236}">
                  <a16:creationId xmlns:a16="http://schemas.microsoft.com/office/drawing/2014/main" id="{63167B98-478B-65FA-57B5-8E146FF31D60}"/>
                </a:ext>
              </a:extLst>
            </p:cNvPr>
            <p:cNvSpPr/>
            <p:nvPr/>
          </p:nvSpPr>
          <p:spPr>
            <a:xfrm>
              <a:off x="7429500" y="1135380"/>
              <a:ext cx="2286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172" name="Shape 119">
              <a:extLst>
                <a:ext uri="{FF2B5EF4-FFF2-40B4-BE49-F238E27FC236}">
                  <a16:creationId xmlns:a16="http://schemas.microsoft.com/office/drawing/2014/main" id="{5C4E35A1-EDCC-CF2D-DEB8-6254891110F2}"/>
                </a:ext>
              </a:extLst>
            </p:cNvPr>
            <p:cNvSpPr/>
            <p:nvPr/>
          </p:nvSpPr>
          <p:spPr>
            <a:xfrm>
              <a:off x="7680960" y="1120140"/>
              <a:ext cx="853440" cy="274320"/>
            </a:xfrm>
            <a:prstGeom prst="roundRect">
              <a:avLst>
                <a:gd name="adj" fmla="val 33333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173" name="Text 120">
              <a:extLst>
                <a:ext uri="{FF2B5EF4-FFF2-40B4-BE49-F238E27FC236}">
                  <a16:creationId xmlns:a16="http://schemas.microsoft.com/office/drawing/2014/main" id="{D5B09388-9B6A-F24D-E692-A5FDE215936C}"/>
                </a:ext>
              </a:extLst>
            </p:cNvPr>
            <p:cNvSpPr/>
            <p:nvPr/>
          </p:nvSpPr>
          <p:spPr>
            <a:xfrm>
              <a:off x="7680961" y="1143000"/>
              <a:ext cx="8534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1008" dirty="0"/>
            </a:p>
          </p:txBody>
        </p:sp>
        <p:sp>
          <p:nvSpPr>
            <p:cNvPr id="174" name="Text 121">
              <a:extLst>
                <a:ext uri="{FF2B5EF4-FFF2-40B4-BE49-F238E27FC236}">
                  <a16:creationId xmlns:a16="http://schemas.microsoft.com/office/drawing/2014/main" id="{995F770C-C76E-2109-9445-A93C00016475}"/>
                </a:ext>
              </a:extLst>
            </p:cNvPr>
            <p:cNvSpPr/>
            <p:nvPr/>
          </p:nvSpPr>
          <p:spPr>
            <a:xfrm>
              <a:off x="8625840" y="1135380"/>
              <a:ext cx="2286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175" name="Shape 122">
              <a:extLst>
                <a:ext uri="{FF2B5EF4-FFF2-40B4-BE49-F238E27FC236}">
                  <a16:creationId xmlns:a16="http://schemas.microsoft.com/office/drawing/2014/main" id="{466F8894-9882-0522-B915-57728E229D51}"/>
                </a:ext>
              </a:extLst>
            </p:cNvPr>
            <p:cNvSpPr/>
            <p:nvPr/>
          </p:nvSpPr>
          <p:spPr>
            <a:xfrm>
              <a:off x="8877300" y="1120140"/>
              <a:ext cx="777240" cy="274320"/>
            </a:xfrm>
            <a:prstGeom prst="roundRect">
              <a:avLst>
                <a:gd name="adj" fmla="val 33333"/>
              </a:avLst>
            </a:prstGeom>
            <a:solidFill>
              <a:srgbClr val="E2EDF9"/>
            </a:solidFill>
            <a:ln w="10160">
              <a:solidFill>
                <a:srgbClr val="285F96"/>
              </a:solidFill>
              <a:prstDash val="solid"/>
            </a:ln>
          </p:spPr>
        </p:sp>
        <p:sp>
          <p:nvSpPr>
            <p:cNvPr id="176" name="Text 123">
              <a:extLst>
                <a:ext uri="{FF2B5EF4-FFF2-40B4-BE49-F238E27FC236}">
                  <a16:creationId xmlns:a16="http://schemas.microsoft.com/office/drawing/2014/main" id="{FD1EBA0F-0C37-C2BA-75C3-EB70654D5EDB}"/>
                </a:ext>
              </a:extLst>
            </p:cNvPr>
            <p:cNvSpPr/>
            <p:nvPr/>
          </p:nvSpPr>
          <p:spPr>
            <a:xfrm>
              <a:off x="8877300" y="1143000"/>
              <a:ext cx="7772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285F9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Beta</a:t>
              </a:r>
              <a:endParaRPr lang="en-US" sz="1008" dirty="0"/>
            </a:p>
          </p:txBody>
        </p:sp>
        <p:sp>
          <p:nvSpPr>
            <p:cNvPr id="177" name="Text 124">
              <a:extLst>
                <a:ext uri="{FF2B5EF4-FFF2-40B4-BE49-F238E27FC236}">
                  <a16:creationId xmlns:a16="http://schemas.microsoft.com/office/drawing/2014/main" id="{A65580BA-2ECD-B1CE-BC68-CF5A9FB3BA88}"/>
                </a:ext>
              </a:extLst>
            </p:cNvPr>
            <p:cNvSpPr/>
            <p:nvPr/>
          </p:nvSpPr>
          <p:spPr>
            <a:xfrm>
              <a:off x="9745979" y="1135380"/>
              <a:ext cx="2286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100" dirty="0"/>
            </a:p>
          </p:txBody>
        </p:sp>
        <p:sp>
          <p:nvSpPr>
            <p:cNvPr id="178" name="Shape 125">
              <a:extLst>
                <a:ext uri="{FF2B5EF4-FFF2-40B4-BE49-F238E27FC236}">
                  <a16:creationId xmlns:a16="http://schemas.microsoft.com/office/drawing/2014/main" id="{70066C9A-0C90-6595-D2D8-6C1B48E87DA8}"/>
                </a:ext>
              </a:extLst>
            </p:cNvPr>
            <p:cNvSpPr/>
            <p:nvPr/>
          </p:nvSpPr>
          <p:spPr>
            <a:xfrm>
              <a:off x="9997440" y="1120140"/>
              <a:ext cx="746760" cy="274320"/>
            </a:xfrm>
            <a:prstGeom prst="roundRect">
              <a:avLst>
                <a:gd name="adj" fmla="val 33333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79" name="Text 126">
              <a:extLst>
                <a:ext uri="{FF2B5EF4-FFF2-40B4-BE49-F238E27FC236}">
                  <a16:creationId xmlns:a16="http://schemas.microsoft.com/office/drawing/2014/main" id="{E6900DAA-2F9D-0232-AFC6-871414FA4333}"/>
                </a:ext>
              </a:extLst>
            </p:cNvPr>
            <p:cNvSpPr/>
            <p:nvPr/>
          </p:nvSpPr>
          <p:spPr>
            <a:xfrm>
              <a:off x="9997440" y="1143000"/>
              <a:ext cx="74676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00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1008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C93311D4-B6FD-EACE-DD5B-54D17F1A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Mechanics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FDCFEBF-ECD4-6705-6EB7-AF364D9201E3}"/>
              </a:ext>
            </a:extLst>
          </p:cNvPr>
          <p:cNvGrpSpPr>
            <a:grpSpLocks noChangeAspect="1"/>
          </p:cNvGrpSpPr>
          <p:nvPr/>
        </p:nvGrpSpPr>
        <p:grpSpPr>
          <a:xfrm>
            <a:off x="671921" y="238760"/>
            <a:ext cx="10965851" cy="5726611"/>
            <a:chOff x="457200" y="609600"/>
            <a:chExt cx="13716000" cy="7162800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0B2C941E-FDBE-AE33-F7F8-9757BD655B00}"/>
                </a:ext>
              </a:extLst>
            </p:cNvPr>
            <p:cNvSpPr/>
            <p:nvPr/>
          </p:nvSpPr>
          <p:spPr>
            <a:xfrm>
              <a:off x="4953000" y="678180"/>
              <a:ext cx="914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1920" dirty="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6EFBFE4E-FD26-823D-D4A7-C7E3CF388D06}"/>
                </a:ext>
              </a:extLst>
            </p:cNvPr>
            <p:cNvSpPr/>
            <p:nvPr/>
          </p:nvSpPr>
          <p:spPr>
            <a:xfrm>
              <a:off x="4048913" y="609600"/>
              <a:ext cx="9144000" cy="2971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Mature mechanics capabilities with extensive nonlinear analysis</a:t>
              </a:r>
              <a:endParaRPr lang="en-US" sz="1363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57700419-26CA-32D4-9617-6C1E6EA11461}"/>
                </a:ext>
              </a:extLst>
            </p:cNvPr>
            <p:cNvSpPr/>
            <p:nvPr/>
          </p:nvSpPr>
          <p:spPr>
            <a:xfrm>
              <a:off x="4048913" y="929640"/>
              <a:ext cx="9144000" cy="2971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Rich material models, elements, stress-causing mechanisms and boundary conditions</a:t>
              </a:r>
              <a:endParaRPr lang="en-US" sz="1363" dirty="0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76DAD207-4B8D-9EFA-A362-4CAE34FB91CA}"/>
                </a:ext>
              </a:extLst>
            </p:cNvPr>
            <p:cNvSpPr/>
            <p:nvPr/>
          </p:nvSpPr>
          <p:spPr>
            <a:xfrm>
              <a:off x="457200" y="1478280"/>
              <a:ext cx="4267200" cy="2933700"/>
            </a:xfrm>
            <a:prstGeom prst="roundRect">
              <a:avLst>
                <a:gd name="adj" fmla="val 3117"/>
              </a:avLst>
            </a:prstGeom>
            <a:solidFill>
              <a:srgbClr val="DDEAF5"/>
            </a:solidFill>
            <a:ln w="10160">
              <a:solidFill>
                <a:srgbClr val="7397B6"/>
              </a:solidFill>
              <a:prstDash val="solid"/>
            </a:ln>
          </p:spPr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A9BBDEF9-F90D-E096-9564-551F9E2729D5}"/>
                </a:ext>
              </a:extLst>
            </p:cNvPr>
            <p:cNvSpPr/>
            <p:nvPr/>
          </p:nvSpPr>
          <p:spPr>
            <a:xfrm>
              <a:off x="624840" y="1615440"/>
              <a:ext cx="3931920" cy="3169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Analysis methods</a:t>
              </a:r>
              <a:endParaRPr lang="en-US" sz="1453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090E8078-46BA-81D5-8FE2-FBF4855ACF8A}"/>
                </a:ext>
              </a:extLst>
            </p:cNvPr>
            <p:cNvSpPr/>
            <p:nvPr/>
          </p:nvSpPr>
          <p:spPr>
            <a:xfrm>
              <a:off x="457200" y="4564380"/>
              <a:ext cx="4267200" cy="3208020"/>
            </a:xfrm>
            <a:prstGeom prst="roundRect">
              <a:avLst>
                <a:gd name="adj" fmla="val 2850"/>
              </a:avLst>
            </a:prstGeom>
            <a:solidFill>
              <a:srgbClr val="DDEAF5"/>
            </a:solidFill>
            <a:ln w="10160">
              <a:solidFill>
                <a:srgbClr val="7397B6"/>
              </a:solidFill>
              <a:prstDash val="solid"/>
            </a:ln>
          </p:spPr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E0308FB5-AD2A-6BBA-E134-747C24C07E3B}"/>
                </a:ext>
              </a:extLst>
            </p:cNvPr>
            <p:cNvSpPr/>
            <p:nvPr/>
          </p:nvSpPr>
          <p:spPr>
            <a:xfrm>
              <a:off x="624840" y="4701540"/>
              <a:ext cx="3931920" cy="3169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Material models</a:t>
              </a:r>
              <a:endParaRPr lang="en-US" sz="1453" dirty="0"/>
            </a:p>
          </p:txBody>
        </p:sp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3014F81C-C731-ABCB-85E2-103F86B74A60}"/>
                </a:ext>
              </a:extLst>
            </p:cNvPr>
            <p:cNvSpPr/>
            <p:nvPr/>
          </p:nvSpPr>
          <p:spPr>
            <a:xfrm>
              <a:off x="4876800" y="1478280"/>
              <a:ext cx="4724400" cy="3086100"/>
            </a:xfrm>
            <a:prstGeom prst="roundRect">
              <a:avLst>
                <a:gd name="adj" fmla="val 2963"/>
              </a:avLst>
            </a:prstGeom>
            <a:solidFill>
              <a:srgbClr val="DDEAF5"/>
            </a:solidFill>
            <a:ln w="10160">
              <a:solidFill>
                <a:srgbClr val="7397B6"/>
              </a:solidFill>
              <a:prstDash val="solid"/>
            </a:ln>
          </p:spPr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400155F8-05B3-5177-71A3-E84448901F89}"/>
                </a:ext>
              </a:extLst>
            </p:cNvPr>
            <p:cNvSpPr/>
            <p:nvPr/>
          </p:nvSpPr>
          <p:spPr>
            <a:xfrm>
              <a:off x="5044440" y="1615440"/>
              <a:ext cx="4389120" cy="3169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Element library</a:t>
              </a:r>
              <a:endParaRPr lang="en-US" sz="1453" dirty="0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3A1B7D09-3562-41A8-6805-7066757B9009}"/>
                </a:ext>
              </a:extLst>
            </p:cNvPr>
            <p:cNvSpPr/>
            <p:nvPr/>
          </p:nvSpPr>
          <p:spPr>
            <a:xfrm>
              <a:off x="4876800" y="4716780"/>
              <a:ext cx="4724400" cy="3055620"/>
            </a:xfrm>
            <a:prstGeom prst="roundRect">
              <a:avLst>
                <a:gd name="adj" fmla="val 2993"/>
              </a:avLst>
            </a:prstGeom>
            <a:solidFill>
              <a:srgbClr val="DDEAF5"/>
            </a:solidFill>
            <a:ln w="10160">
              <a:solidFill>
                <a:srgbClr val="7397B6"/>
              </a:solidFill>
              <a:prstDash val="solid"/>
            </a:ln>
          </p:spPr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8C1F035B-A060-E176-79F2-1F55EBAEB9BB}"/>
                </a:ext>
              </a:extLst>
            </p:cNvPr>
            <p:cNvSpPr/>
            <p:nvPr/>
          </p:nvSpPr>
          <p:spPr>
            <a:xfrm>
              <a:off x="5044440" y="4853940"/>
              <a:ext cx="4389120" cy="3169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Stress-causing mechanisms</a:t>
              </a:r>
              <a:endParaRPr lang="en-US" sz="1453" dirty="0"/>
            </a:p>
          </p:txBody>
        </p:sp>
        <p:sp>
          <p:nvSpPr>
            <p:cNvPr id="15" name="Shape 12">
              <a:extLst>
                <a:ext uri="{FF2B5EF4-FFF2-40B4-BE49-F238E27FC236}">
                  <a16:creationId xmlns:a16="http://schemas.microsoft.com/office/drawing/2014/main" id="{722EC06A-B1FD-0795-43B0-27639FEA1BB2}"/>
                </a:ext>
              </a:extLst>
            </p:cNvPr>
            <p:cNvSpPr/>
            <p:nvPr/>
          </p:nvSpPr>
          <p:spPr>
            <a:xfrm>
              <a:off x="9753600" y="1478280"/>
              <a:ext cx="4419600" cy="3855720"/>
            </a:xfrm>
            <a:prstGeom prst="roundRect">
              <a:avLst>
                <a:gd name="adj" fmla="val 2372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6B205BFE-009A-BDC3-AADD-F83A506D102A}"/>
                </a:ext>
              </a:extLst>
            </p:cNvPr>
            <p:cNvSpPr/>
            <p:nvPr/>
          </p:nvSpPr>
          <p:spPr>
            <a:xfrm>
              <a:off x="9921240" y="1615440"/>
              <a:ext cx="4084320" cy="3169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Nonlinear analysis</a:t>
              </a:r>
              <a:endParaRPr lang="en-US" sz="1453" dirty="0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69FFF5B0-F606-BAD2-2E1A-F41FEAD8ACEE}"/>
                </a:ext>
              </a:extLst>
            </p:cNvPr>
            <p:cNvSpPr/>
            <p:nvPr/>
          </p:nvSpPr>
          <p:spPr>
            <a:xfrm>
              <a:off x="9753600" y="5486400"/>
              <a:ext cx="4419600" cy="2286000"/>
            </a:xfrm>
            <a:prstGeom prst="roundRect">
              <a:avLst>
                <a:gd name="adj" fmla="val 4000"/>
              </a:avLst>
            </a:prstGeom>
            <a:solidFill>
              <a:srgbClr val="DDEAF5"/>
            </a:solidFill>
            <a:ln w="10160">
              <a:solidFill>
                <a:srgbClr val="7397B6"/>
              </a:solidFill>
              <a:prstDash val="solid"/>
            </a:ln>
          </p:spPr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9557A2AE-E233-238E-2F0D-FE1B068A4E2F}"/>
                </a:ext>
              </a:extLst>
            </p:cNvPr>
            <p:cNvSpPr/>
            <p:nvPr/>
          </p:nvSpPr>
          <p:spPr>
            <a:xfrm>
              <a:off x="9921240" y="5623560"/>
              <a:ext cx="4084320" cy="3169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Boundary conditions &amp; constraints</a:t>
              </a:r>
              <a:endParaRPr lang="en-US" sz="1453" dirty="0"/>
            </a:p>
          </p:txBody>
        </p:sp>
        <p:pic>
          <p:nvPicPr>
            <p:cNvPr id="19" name="Image 0" descr="preencoded.png">
              <a:extLst>
                <a:ext uri="{FF2B5EF4-FFF2-40B4-BE49-F238E27FC236}">
                  <a16:creationId xmlns:a16="http://schemas.microsoft.com/office/drawing/2014/main" id="{C9B83843-E6C2-9759-AF68-7BBE6CF93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56560" y="1996440"/>
              <a:ext cx="1645920" cy="678942"/>
            </a:xfrm>
            <a:prstGeom prst="rect">
              <a:avLst/>
            </a:prstGeom>
          </p:spPr>
        </p:pic>
        <p:pic>
          <p:nvPicPr>
            <p:cNvPr id="20" name="Image 1" descr="preencoded.png">
              <a:extLst>
                <a:ext uri="{FF2B5EF4-FFF2-40B4-BE49-F238E27FC236}">
                  <a16:creationId xmlns:a16="http://schemas.microsoft.com/office/drawing/2014/main" id="{AD95B607-11D8-B60F-B339-AB7E8142A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56560" y="2773680"/>
              <a:ext cx="1645920" cy="678942"/>
            </a:xfrm>
            <a:prstGeom prst="rect">
              <a:avLst/>
            </a:prstGeom>
          </p:spPr>
        </p:pic>
        <p:pic>
          <p:nvPicPr>
            <p:cNvPr id="21" name="Image 2" descr="preencoded.png">
              <a:extLst>
                <a:ext uri="{FF2B5EF4-FFF2-40B4-BE49-F238E27FC236}">
                  <a16:creationId xmlns:a16="http://schemas.microsoft.com/office/drawing/2014/main" id="{9C0BA0DA-2212-43EA-3565-4B039AA8B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76600" y="2842260"/>
              <a:ext cx="1325880" cy="546926"/>
            </a:xfrm>
            <a:prstGeom prst="rect">
              <a:avLst/>
            </a:prstGeom>
          </p:spPr>
        </p:pic>
        <p:pic>
          <p:nvPicPr>
            <p:cNvPr id="22" name="Image 3" descr="preencoded.png">
              <a:extLst>
                <a:ext uri="{FF2B5EF4-FFF2-40B4-BE49-F238E27FC236}">
                  <a16:creationId xmlns:a16="http://schemas.microsoft.com/office/drawing/2014/main" id="{1FAFB7F8-CB8E-439C-125A-65757FB6F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956560" y="3550920"/>
              <a:ext cx="1645920" cy="678942"/>
            </a:xfrm>
            <a:prstGeom prst="rect">
              <a:avLst/>
            </a:prstGeom>
          </p:spPr>
        </p:pic>
        <p:pic>
          <p:nvPicPr>
            <p:cNvPr id="23" name="Image 4" descr="preencoded.png">
              <a:extLst>
                <a:ext uri="{FF2B5EF4-FFF2-40B4-BE49-F238E27FC236}">
                  <a16:creationId xmlns:a16="http://schemas.microsoft.com/office/drawing/2014/main" id="{0B2581AA-5615-DCD5-7070-463AA8472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32720" y="2545080"/>
              <a:ext cx="3267456" cy="975360"/>
            </a:xfrm>
            <a:prstGeom prst="rect">
              <a:avLst/>
            </a:prstGeom>
          </p:spPr>
        </p:pic>
        <p:sp>
          <p:nvSpPr>
            <p:cNvPr id="24" name="Shape 16">
              <a:extLst>
                <a:ext uri="{FF2B5EF4-FFF2-40B4-BE49-F238E27FC236}">
                  <a16:creationId xmlns:a16="http://schemas.microsoft.com/office/drawing/2014/main" id="{F601D236-C37C-EDA5-71E6-3133A2EF094B}"/>
                </a:ext>
              </a:extLst>
            </p:cNvPr>
            <p:cNvSpPr/>
            <p:nvPr/>
          </p:nvSpPr>
          <p:spPr>
            <a:xfrm>
              <a:off x="7772400" y="2215896"/>
              <a:ext cx="25603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25" name="Shape 17">
              <a:extLst>
                <a:ext uri="{FF2B5EF4-FFF2-40B4-BE49-F238E27FC236}">
                  <a16:creationId xmlns:a16="http://schemas.microsoft.com/office/drawing/2014/main" id="{57BD54F3-58C9-1DB4-672F-EE8DB2CDC633}"/>
                </a:ext>
              </a:extLst>
            </p:cNvPr>
            <p:cNvSpPr/>
            <p:nvPr/>
          </p:nvSpPr>
          <p:spPr>
            <a:xfrm>
              <a:off x="7900416" y="2042160"/>
              <a:ext cx="128016" cy="173736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AD9078FE-65D6-BA2E-A00E-C45F007FB641}"/>
                </a:ext>
              </a:extLst>
            </p:cNvPr>
            <p:cNvSpPr/>
            <p:nvPr/>
          </p:nvSpPr>
          <p:spPr>
            <a:xfrm flipV="1">
              <a:off x="7772400" y="2042160"/>
              <a:ext cx="128016" cy="173736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E435141F-B6FE-8443-7DFB-13F4A5A729BB}"/>
                </a:ext>
              </a:extLst>
            </p:cNvPr>
            <p:cNvSpPr/>
            <p:nvPr/>
          </p:nvSpPr>
          <p:spPr>
            <a:xfrm>
              <a:off x="7559040" y="2308860"/>
              <a:ext cx="1005840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Triangle</a:t>
              </a:r>
              <a:endParaRPr lang="en-US" sz="818" dirty="0"/>
            </a:p>
          </p:txBody>
        </p:sp>
        <p:sp>
          <p:nvSpPr>
            <p:cNvPr id="29" name="Shape 20">
              <a:extLst>
                <a:ext uri="{FF2B5EF4-FFF2-40B4-BE49-F238E27FC236}">
                  <a16:creationId xmlns:a16="http://schemas.microsoft.com/office/drawing/2014/main" id="{2C2D6B0A-CCCA-6492-DA99-6CD56BC5E5D7}"/>
                </a:ext>
              </a:extLst>
            </p:cNvPr>
            <p:cNvSpPr/>
            <p:nvPr/>
          </p:nvSpPr>
          <p:spPr>
            <a:xfrm>
              <a:off x="8778240" y="2051304"/>
              <a:ext cx="25603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0" name="Shape 21">
              <a:extLst>
                <a:ext uri="{FF2B5EF4-FFF2-40B4-BE49-F238E27FC236}">
                  <a16:creationId xmlns:a16="http://schemas.microsoft.com/office/drawing/2014/main" id="{7C03B3EF-FD53-E8A4-1CDC-2150DDE5FF29}"/>
                </a:ext>
              </a:extLst>
            </p:cNvPr>
            <p:cNvSpPr/>
            <p:nvPr/>
          </p:nvSpPr>
          <p:spPr>
            <a:xfrm>
              <a:off x="9034272" y="2051304"/>
              <a:ext cx="0" cy="164592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1" name="Shape 22">
              <a:extLst>
                <a:ext uri="{FF2B5EF4-FFF2-40B4-BE49-F238E27FC236}">
                  <a16:creationId xmlns:a16="http://schemas.microsoft.com/office/drawing/2014/main" id="{45C8D4D7-36DA-7EBF-EF56-896D8F339781}"/>
                </a:ext>
              </a:extLst>
            </p:cNvPr>
            <p:cNvSpPr/>
            <p:nvPr/>
          </p:nvSpPr>
          <p:spPr>
            <a:xfrm>
              <a:off x="8778240" y="2215896"/>
              <a:ext cx="25603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2" name="Shape 23">
              <a:extLst>
                <a:ext uri="{FF2B5EF4-FFF2-40B4-BE49-F238E27FC236}">
                  <a16:creationId xmlns:a16="http://schemas.microsoft.com/office/drawing/2014/main" id="{5183F48B-393E-F5A0-8FB3-6CFA92E75657}"/>
                </a:ext>
              </a:extLst>
            </p:cNvPr>
            <p:cNvSpPr/>
            <p:nvPr/>
          </p:nvSpPr>
          <p:spPr>
            <a:xfrm>
              <a:off x="8778240" y="2051304"/>
              <a:ext cx="0" cy="164592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3" name="Text 24">
              <a:extLst>
                <a:ext uri="{FF2B5EF4-FFF2-40B4-BE49-F238E27FC236}">
                  <a16:creationId xmlns:a16="http://schemas.microsoft.com/office/drawing/2014/main" id="{301E8964-911E-88FA-7492-D55B22E337D4}"/>
                </a:ext>
              </a:extLst>
            </p:cNvPr>
            <p:cNvSpPr/>
            <p:nvPr/>
          </p:nvSpPr>
          <p:spPr>
            <a:xfrm>
              <a:off x="8564880" y="2308860"/>
              <a:ext cx="1005840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Quadrilateral</a:t>
              </a:r>
              <a:endParaRPr lang="en-US" sz="818" dirty="0"/>
            </a:p>
          </p:txBody>
        </p:sp>
        <p:sp>
          <p:nvSpPr>
            <p:cNvPr id="34" name="Shape 25">
              <a:extLst>
                <a:ext uri="{FF2B5EF4-FFF2-40B4-BE49-F238E27FC236}">
                  <a16:creationId xmlns:a16="http://schemas.microsoft.com/office/drawing/2014/main" id="{81382FB0-AFEB-4F70-99A5-8A13A916EE70}"/>
                </a:ext>
              </a:extLst>
            </p:cNvPr>
            <p:cNvSpPr/>
            <p:nvPr/>
          </p:nvSpPr>
          <p:spPr>
            <a:xfrm>
              <a:off x="7772400" y="2983992"/>
              <a:ext cx="256032" cy="36576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5" name="Shape 26">
              <a:extLst>
                <a:ext uri="{FF2B5EF4-FFF2-40B4-BE49-F238E27FC236}">
                  <a16:creationId xmlns:a16="http://schemas.microsoft.com/office/drawing/2014/main" id="{35C508DF-4B8C-F414-E42C-C43415C8FA29}"/>
                </a:ext>
              </a:extLst>
            </p:cNvPr>
            <p:cNvSpPr/>
            <p:nvPr/>
          </p:nvSpPr>
          <p:spPr>
            <a:xfrm>
              <a:off x="7923276" y="2842260"/>
              <a:ext cx="105156" cy="178308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6" name="Shape 27">
              <a:extLst>
                <a:ext uri="{FF2B5EF4-FFF2-40B4-BE49-F238E27FC236}">
                  <a16:creationId xmlns:a16="http://schemas.microsoft.com/office/drawing/2014/main" id="{C3AFD4DC-E90D-CD99-07BC-88D9639ED308}"/>
                </a:ext>
              </a:extLst>
            </p:cNvPr>
            <p:cNvSpPr/>
            <p:nvPr/>
          </p:nvSpPr>
          <p:spPr>
            <a:xfrm flipV="1">
              <a:off x="7772400" y="2842260"/>
              <a:ext cx="150876" cy="141732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7" name="Shape 28">
              <a:extLst>
                <a:ext uri="{FF2B5EF4-FFF2-40B4-BE49-F238E27FC236}">
                  <a16:creationId xmlns:a16="http://schemas.microsoft.com/office/drawing/2014/main" id="{E778618A-5ACB-71EF-AA14-0E8EB9F79680}"/>
                </a:ext>
              </a:extLst>
            </p:cNvPr>
            <p:cNvSpPr/>
            <p:nvPr/>
          </p:nvSpPr>
          <p:spPr>
            <a:xfrm flipV="1">
              <a:off x="7772400" y="2942844"/>
              <a:ext cx="91440" cy="41148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8" name="Shape 29">
              <a:extLst>
                <a:ext uri="{FF2B5EF4-FFF2-40B4-BE49-F238E27FC236}">
                  <a16:creationId xmlns:a16="http://schemas.microsoft.com/office/drawing/2014/main" id="{4F027F48-5707-23E6-FA93-629FC40F0C2B}"/>
                </a:ext>
              </a:extLst>
            </p:cNvPr>
            <p:cNvSpPr/>
            <p:nvPr/>
          </p:nvSpPr>
          <p:spPr>
            <a:xfrm>
              <a:off x="7863840" y="2942844"/>
              <a:ext cx="164592" cy="7772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39" name="Shape 30">
              <a:extLst>
                <a:ext uri="{FF2B5EF4-FFF2-40B4-BE49-F238E27FC236}">
                  <a16:creationId xmlns:a16="http://schemas.microsoft.com/office/drawing/2014/main" id="{9185AF64-03BC-0A57-6503-B92642B7EB91}"/>
                </a:ext>
              </a:extLst>
            </p:cNvPr>
            <p:cNvSpPr/>
            <p:nvPr/>
          </p:nvSpPr>
          <p:spPr>
            <a:xfrm flipV="1">
              <a:off x="7863840" y="2842260"/>
              <a:ext cx="59436" cy="10058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0" name="Text 31">
              <a:extLst>
                <a:ext uri="{FF2B5EF4-FFF2-40B4-BE49-F238E27FC236}">
                  <a16:creationId xmlns:a16="http://schemas.microsoft.com/office/drawing/2014/main" id="{AEAFEAC5-77EE-267D-EC68-21562485F671}"/>
                </a:ext>
              </a:extLst>
            </p:cNvPr>
            <p:cNvSpPr/>
            <p:nvPr/>
          </p:nvSpPr>
          <p:spPr>
            <a:xfrm>
              <a:off x="7559040" y="3108960"/>
              <a:ext cx="1005840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Tetrahedron</a:t>
              </a:r>
              <a:endParaRPr lang="en-US" sz="818" dirty="0"/>
            </a:p>
          </p:txBody>
        </p:sp>
        <p:sp>
          <p:nvSpPr>
            <p:cNvPr id="41" name="Shape 32">
              <a:extLst>
                <a:ext uri="{FF2B5EF4-FFF2-40B4-BE49-F238E27FC236}">
                  <a16:creationId xmlns:a16="http://schemas.microsoft.com/office/drawing/2014/main" id="{1270069A-5135-E04F-3CB5-1399F4686867}"/>
                </a:ext>
              </a:extLst>
            </p:cNvPr>
            <p:cNvSpPr/>
            <p:nvPr/>
          </p:nvSpPr>
          <p:spPr>
            <a:xfrm>
              <a:off x="8778240" y="2897124"/>
              <a:ext cx="18745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2" name="Shape 33">
              <a:extLst>
                <a:ext uri="{FF2B5EF4-FFF2-40B4-BE49-F238E27FC236}">
                  <a16:creationId xmlns:a16="http://schemas.microsoft.com/office/drawing/2014/main" id="{AC0EB892-1032-00C6-7158-1EC56D376187}"/>
                </a:ext>
              </a:extLst>
            </p:cNvPr>
            <p:cNvSpPr/>
            <p:nvPr/>
          </p:nvSpPr>
          <p:spPr>
            <a:xfrm>
              <a:off x="8965692" y="2897124"/>
              <a:ext cx="0" cy="12344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3" name="Shape 34">
              <a:extLst>
                <a:ext uri="{FF2B5EF4-FFF2-40B4-BE49-F238E27FC236}">
                  <a16:creationId xmlns:a16="http://schemas.microsoft.com/office/drawing/2014/main" id="{F885316D-8811-6F39-58E0-508A3830A824}"/>
                </a:ext>
              </a:extLst>
            </p:cNvPr>
            <p:cNvSpPr/>
            <p:nvPr/>
          </p:nvSpPr>
          <p:spPr>
            <a:xfrm>
              <a:off x="8778240" y="3020568"/>
              <a:ext cx="18745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4" name="Shape 35">
              <a:extLst>
                <a:ext uri="{FF2B5EF4-FFF2-40B4-BE49-F238E27FC236}">
                  <a16:creationId xmlns:a16="http://schemas.microsoft.com/office/drawing/2014/main" id="{B79E3735-57F8-0248-E712-26CCB534590F}"/>
                </a:ext>
              </a:extLst>
            </p:cNvPr>
            <p:cNvSpPr/>
            <p:nvPr/>
          </p:nvSpPr>
          <p:spPr>
            <a:xfrm>
              <a:off x="8778240" y="2897124"/>
              <a:ext cx="0" cy="12344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5" name="Shape 36">
              <a:extLst>
                <a:ext uri="{FF2B5EF4-FFF2-40B4-BE49-F238E27FC236}">
                  <a16:creationId xmlns:a16="http://schemas.microsoft.com/office/drawing/2014/main" id="{F5EBF59A-3BAC-102D-E623-2B2575A28414}"/>
                </a:ext>
              </a:extLst>
            </p:cNvPr>
            <p:cNvSpPr/>
            <p:nvPr/>
          </p:nvSpPr>
          <p:spPr>
            <a:xfrm>
              <a:off x="8846820" y="2842260"/>
              <a:ext cx="18745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6" name="Shape 37">
              <a:extLst>
                <a:ext uri="{FF2B5EF4-FFF2-40B4-BE49-F238E27FC236}">
                  <a16:creationId xmlns:a16="http://schemas.microsoft.com/office/drawing/2014/main" id="{A64765F1-F6DA-1A04-C2AA-BC950294E2BE}"/>
                </a:ext>
              </a:extLst>
            </p:cNvPr>
            <p:cNvSpPr/>
            <p:nvPr/>
          </p:nvSpPr>
          <p:spPr>
            <a:xfrm>
              <a:off x="9034272" y="2842260"/>
              <a:ext cx="0" cy="12344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A0027AC8-BED9-9C29-8274-BAD98826D569}"/>
                </a:ext>
              </a:extLst>
            </p:cNvPr>
            <p:cNvSpPr/>
            <p:nvPr/>
          </p:nvSpPr>
          <p:spPr>
            <a:xfrm flipV="1">
              <a:off x="8965692" y="2965704"/>
              <a:ext cx="68580" cy="5486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8" name="Shape 39">
              <a:extLst>
                <a:ext uri="{FF2B5EF4-FFF2-40B4-BE49-F238E27FC236}">
                  <a16:creationId xmlns:a16="http://schemas.microsoft.com/office/drawing/2014/main" id="{8BA67D96-59F0-7895-D7AE-522256F8E785}"/>
                </a:ext>
              </a:extLst>
            </p:cNvPr>
            <p:cNvSpPr/>
            <p:nvPr/>
          </p:nvSpPr>
          <p:spPr>
            <a:xfrm flipV="1">
              <a:off x="8778240" y="2842260"/>
              <a:ext cx="68580" cy="5486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49" name="Shape 40">
              <a:extLst>
                <a:ext uri="{FF2B5EF4-FFF2-40B4-BE49-F238E27FC236}">
                  <a16:creationId xmlns:a16="http://schemas.microsoft.com/office/drawing/2014/main" id="{82EEB4A2-82CA-EB27-D620-F2869E8E6C76}"/>
                </a:ext>
              </a:extLst>
            </p:cNvPr>
            <p:cNvSpPr/>
            <p:nvPr/>
          </p:nvSpPr>
          <p:spPr>
            <a:xfrm flipV="1">
              <a:off x="8965692" y="2842260"/>
              <a:ext cx="68580" cy="54864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0" name="Text 41">
              <a:extLst>
                <a:ext uri="{FF2B5EF4-FFF2-40B4-BE49-F238E27FC236}">
                  <a16:creationId xmlns:a16="http://schemas.microsoft.com/office/drawing/2014/main" id="{6D552CF9-C380-0E14-1ABB-B88A64ECB8B5}"/>
                </a:ext>
              </a:extLst>
            </p:cNvPr>
            <p:cNvSpPr/>
            <p:nvPr/>
          </p:nvSpPr>
          <p:spPr>
            <a:xfrm>
              <a:off x="8564880" y="3108960"/>
              <a:ext cx="1005840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Hexahedron</a:t>
              </a:r>
              <a:endParaRPr lang="en-US" sz="818" dirty="0"/>
            </a:p>
          </p:txBody>
        </p:sp>
        <p:sp>
          <p:nvSpPr>
            <p:cNvPr id="51" name="Shape 42">
              <a:extLst>
                <a:ext uri="{FF2B5EF4-FFF2-40B4-BE49-F238E27FC236}">
                  <a16:creationId xmlns:a16="http://schemas.microsoft.com/office/drawing/2014/main" id="{C5D49B87-04B4-BD1D-E87C-C73932FDD7E6}"/>
                </a:ext>
              </a:extLst>
            </p:cNvPr>
            <p:cNvSpPr/>
            <p:nvPr/>
          </p:nvSpPr>
          <p:spPr>
            <a:xfrm>
              <a:off x="7772400" y="3692195"/>
              <a:ext cx="18745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2" name="Shape 43">
              <a:extLst>
                <a:ext uri="{FF2B5EF4-FFF2-40B4-BE49-F238E27FC236}">
                  <a16:creationId xmlns:a16="http://schemas.microsoft.com/office/drawing/2014/main" id="{897EE41D-8168-BB51-C2A5-27F44E715A8B}"/>
                </a:ext>
              </a:extLst>
            </p:cNvPr>
            <p:cNvSpPr/>
            <p:nvPr/>
          </p:nvSpPr>
          <p:spPr>
            <a:xfrm>
              <a:off x="7959852" y="3692195"/>
              <a:ext cx="0" cy="37033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3" name="Shape 44">
              <a:extLst>
                <a:ext uri="{FF2B5EF4-FFF2-40B4-BE49-F238E27FC236}">
                  <a16:creationId xmlns:a16="http://schemas.microsoft.com/office/drawing/2014/main" id="{C5871397-77A5-0307-6429-A01212B3ABC4}"/>
                </a:ext>
              </a:extLst>
            </p:cNvPr>
            <p:cNvSpPr/>
            <p:nvPr/>
          </p:nvSpPr>
          <p:spPr>
            <a:xfrm>
              <a:off x="7772400" y="3729228"/>
              <a:ext cx="18745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4" name="Shape 45">
              <a:extLst>
                <a:ext uri="{FF2B5EF4-FFF2-40B4-BE49-F238E27FC236}">
                  <a16:creationId xmlns:a16="http://schemas.microsoft.com/office/drawing/2014/main" id="{6681674A-A58D-4330-9DB9-B952D1097D92}"/>
                </a:ext>
              </a:extLst>
            </p:cNvPr>
            <p:cNvSpPr/>
            <p:nvPr/>
          </p:nvSpPr>
          <p:spPr>
            <a:xfrm>
              <a:off x="7772400" y="3692195"/>
              <a:ext cx="0" cy="37033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5" name="Shape 46">
              <a:extLst>
                <a:ext uri="{FF2B5EF4-FFF2-40B4-BE49-F238E27FC236}">
                  <a16:creationId xmlns:a16="http://schemas.microsoft.com/office/drawing/2014/main" id="{3E059271-16DF-3A56-0202-5EDD89B50B12}"/>
                </a:ext>
              </a:extLst>
            </p:cNvPr>
            <p:cNvSpPr/>
            <p:nvPr/>
          </p:nvSpPr>
          <p:spPr>
            <a:xfrm>
              <a:off x="7840980" y="3675736"/>
              <a:ext cx="187452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6" name="Shape 47">
              <a:extLst>
                <a:ext uri="{FF2B5EF4-FFF2-40B4-BE49-F238E27FC236}">
                  <a16:creationId xmlns:a16="http://schemas.microsoft.com/office/drawing/2014/main" id="{DC0261C6-EDBA-5AD3-1E77-BCB0D60687E8}"/>
                </a:ext>
              </a:extLst>
            </p:cNvPr>
            <p:cNvSpPr/>
            <p:nvPr/>
          </p:nvSpPr>
          <p:spPr>
            <a:xfrm>
              <a:off x="8028432" y="3675736"/>
              <a:ext cx="0" cy="37033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7" name="Shape 48">
              <a:extLst>
                <a:ext uri="{FF2B5EF4-FFF2-40B4-BE49-F238E27FC236}">
                  <a16:creationId xmlns:a16="http://schemas.microsoft.com/office/drawing/2014/main" id="{68FA1FE9-8114-8965-CF10-8768265932DD}"/>
                </a:ext>
              </a:extLst>
            </p:cNvPr>
            <p:cNvSpPr/>
            <p:nvPr/>
          </p:nvSpPr>
          <p:spPr>
            <a:xfrm flipV="1">
              <a:off x="7959852" y="3712769"/>
              <a:ext cx="68580" cy="16459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8" name="Shape 49">
              <a:extLst>
                <a:ext uri="{FF2B5EF4-FFF2-40B4-BE49-F238E27FC236}">
                  <a16:creationId xmlns:a16="http://schemas.microsoft.com/office/drawing/2014/main" id="{A735D659-5B7E-AF5D-CB66-AF378E137F97}"/>
                </a:ext>
              </a:extLst>
            </p:cNvPr>
            <p:cNvSpPr/>
            <p:nvPr/>
          </p:nvSpPr>
          <p:spPr>
            <a:xfrm flipV="1">
              <a:off x="7772400" y="3675736"/>
              <a:ext cx="68580" cy="16459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59" name="Shape 50">
              <a:extLst>
                <a:ext uri="{FF2B5EF4-FFF2-40B4-BE49-F238E27FC236}">
                  <a16:creationId xmlns:a16="http://schemas.microsoft.com/office/drawing/2014/main" id="{4B585EEC-5BD6-7E2B-06DF-A1E5C2ACC1DB}"/>
                </a:ext>
              </a:extLst>
            </p:cNvPr>
            <p:cNvSpPr/>
            <p:nvPr/>
          </p:nvSpPr>
          <p:spPr>
            <a:xfrm flipV="1">
              <a:off x="7959852" y="3675736"/>
              <a:ext cx="68580" cy="16459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60" name="Text 51">
              <a:extLst>
                <a:ext uri="{FF2B5EF4-FFF2-40B4-BE49-F238E27FC236}">
                  <a16:creationId xmlns:a16="http://schemas.microsoft.com/office/drawing/2014/main" id="{7CD5DB81-8282-AE19-DB34-1E6C843C4F2B}"/>
                </a:ext>
              </a:extLst>
            </p:cNvPr>
            <p:cNvSpPr/>
            <p:nvPr/>
          </p:nvSpPr>
          <p:spPr>
            <a:xfrm>
              <a:off x="7559040" y="3909060"/>
              <a:ext cx="1005840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CSSE</a:t>
              </a:r>
              <a:endParaRPr lang="en-US" sz="818" dirty="0"/>
            </a:p>
          </p:txBody>
        </p:sp>
        <p:sp>
          <p:nvSpPr>
            <p:cNvPr id="61" name="Shape 52">
              <a:extLst>
                <a:ext uri="{FF2B5EF4-FFF2-40B4-BE49-F238E27FC236}">
                  <a16:creationId xmlns:a16="http://schemas.microsoft.com/office/drawing/2014/main" id="{BC8555EC-3393-B7F0-4149-A4C75D3CC5FC}"/>
                </a:ext>
              </a:extLst>
            </p:cNvPr>
            <p:cNvSpPr/>
            <p:nvPr/>
          </p:nvSpPr>
          <p:spPr>
            <a:xfrm flipV="1">
              <a:off x="8778240" y="3642360"/>
              <a:ext cx="251460" cy="132588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62" name="Text 53">
              <a:extLst>
                <a:ext uri="{FF2B5EF4-FFF2-40B4-BE49-F238E27FC236}">
                  <a16:creationId xmlns:a16="http://schemas.microsoft.com/office/drawing/2014/main" id="{FB2A09BA-6263-9E85-7155-2AC145ED716C}"/>
                </a:ext>
              </a:extLst>
            </p:cNvPr>
            <p:cNvSpPr/>
            <p:nvPr/>
          </p:nvSpPr>
          <p:spPr>
            <a:xfrm>
              <a:off x="8564880" y="3909060"/>
              <a:ext cx="1005840" cy="18288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Beam</a:t>
              </a:r>
              <a:endParaRPr lang="en-US" sz="818" dirty="0"/>
            </a:p>
          </p:txBody>
        </p:sp>
        <p:sp>
          <p:nvSpPr>
            <p:cNvPr id="63" name="Text 54">
              <a:extLst>
                <a:ext uri="{FF2B5EF4-FFF2-40B4-BE49-F238E27FC236}">
                  <a16:creationId xmlns:a16="http://schemas.microsoft.com/office/drawing/2014/main" id="{63FC86AD-1361-ABA8-D78B-C59D8CC695F3}"/>
                </a:ext>
              </a:extLst>
            </p:cNvPr>
            <p:cNvSpPr/>
            <p:nvPr/>
          </p:nvSpPr>
          <p:spPr>
            <a:xfrm>
              <a:off x="3002280" y="2811780"/>
              <a:ext cx="457200" cy="1584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2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 1</a:t>
              </a:r>
              <a:endParaRPr lang="en-US" sz="727" dirty="0"/>
            </a:p>
          </p:txBody>
        </p:sp>
        <p:sp>
          <p:nvSpPr>
            <p:cNvPr id="64" name="Text 55">
              <a:extLst>
                <a:ext uri="{FF2B5EF4-FFF2-40B4-BE49-F238E27FC236}">
                  <a16:creationId xmlns:a16="http://schemas.microsoft.com/office/drawing/2014/main" id="{5B02CFED-3D47-8D8B-7A98-EFA18ADA79AD}"/>
                </a:ext>
              </a:extLst>
            </p:cNvPr>
            <p:cNvSpPr/>
            <p:nvPr/>
          </p:nvSpPr>
          <p:spPr>
            <a:xfrm>
              <a:off x="3002280" y="3002280"/>
              <a:ext cx="457200" cy="1584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2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 2</a:t>
              </a:r>
              <a:endParaRPr lang="en-US" sz="727" dirty="0"/>
            </a:p>
          </p:txBody>
        </p:sp>
        <p:sp>
          <p:nvSpPr>
            <p:cNvPr id="65" name="Text 56">
              <a:extLst>
                <a:ext uri="{FF2B5EF4-FFF2-40B4-BE49-F238E27FC236}">
                  <a16:creationId xmlns:a16="http://schemas.microsoft.com/office/drawing/2014/main" id="{DA80832D-E734-E207-D53E-2D7A08E8444C}"/>
                </a:ext>
              </a:extLst>
            </p:cNvPr>
            <p:cNvSpPr/>
            <p:nvPr/>
          </p:nvSpPr>
          <p:spPr>
            <a:xfrm>
              <a:off x="3002280" y="3192780"/>
              <a:ext cx="457200" cy="1584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2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 3</a:t>
              </a:r>
              <a:endParaRPr lang="en-US" sz="727" dirty="0"/>
            </a:p>
          </p:txBody>
        </p:sp>
        <p:sp>
          <p:nvSpPr>
            <p:cNvPr id="66" name="Text 57">
              <a:extLst>
                <a:ext uri="{FF2B5EF4-FFF2-40B4-BE49-F238E27FC236}">
                  <a16:creationId xmlns:a16="http://schemas.microsoft.com/office/drawing/2014/main" id="{F14A8F02-FD74-CB37-6604-3028FEC644E1}"/>
                </a:ext>
              </a:extLst>
            </p:cNvPr>
            <p:cNvSpPr/>
            <p:nvPr/>
          </p:nvSpPr>
          <p:spPr>
            <a:xfrm>
              <a:off x="624840" y="1981200"/>
              <a:ext cx="2286000" cy="198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Quasistatic equilibrium</a:t>
              </a:r>
              <a:endParaRPr lang="en-US" sz="908" dirty="0"/>
            </a:p>
          </p:txBody>
        </p:sp>
        <p:sp>
          <p:nvSpPr>
            <p:cNvPr id="67" name="Text 58">
              <a:extLst>
                <a:ext uri="{FF2B5EF4-FFF2-40B4-BE49-F238E27FC236}">
                  <a16:creationId xmlns:a16="http://schemas.microsoft.com/office/drawing/2014/main" id="{9C993AE2-CD48-D009-A9A0-D2309DAB68F7}"/>
                </a:ext>
              </a:extLst>
            </p:cNvPr>
            <p:cNvSpPr/>
            <p:nvPr/>
          </p:nvSpPr>
          <p:spPr>
            <a:xfrm>
              <a:off x="624840" y="2232660"/>
              <a:ext cx="2286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 does it deform</a:t>
              </a:r>
              <a:endParaRPr lang="en-US" sz="1045" dirty="0"/>
            </a:p>
          </p:txBody>
        </p:sp>
        <p:sp>
          <p:nvSpPr>
            <p:cNvPr id="68" name="Text 59">
              <a:extLst>
                <a:ext uri="{FF2B5EF4-FFF2-40B4-BE49-F238E27FC236}">
                  <a16:creationId xmlns:a16="http://schemas.microsoft.com/office/drawing/2014/main" id="{10832E1B-3B90-895D-C0CA-DC99CCD59655}"/>
                </a:ext>
              </a:extLst>
            </p:cNvPr>
            <p:cNvSpPr/>
            <p:nvPr/>
          </p:nvSpPr>
          <p:spPr>
            <a:xfrm>
              <a:off x="624840" y="2430780"/>
              <a:ext cx="2286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under slowly applied loads?</a:t>
              </a:r>
              <a:endParaRPr lang="en-US" sz="1045" dirty="0"/>
            </a:p>
          </p:txBody>
        </p:sp>
        <p:sp>
          <p:nvSpPr>
            <p:cNvPr id="69" name="Text 60">
              <a:extLst>
                <a:ext uri="{FF2B5EF4-FFF2-40B4-BE49-F238E27FC236}">
                  <a16:creationId xmlns:a16="http://schemas.microsoft.com/office/drawing/2014/main" id="{F62A296B-A3CC-B0E6-A9DF-CFF7860D4969}"/>
                </a:ext>
              </a:extLst>
            </p:cNvPr>
            <p:cNvSpPr/>
            <p:nvPr/>
          </p:nvSpPr>
          <p:spPr>
            <a:xfrm>
              <a:off x="624840" y="2758440"/>
              <a:ext cx="228600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Linear buckling</a:t>
              </a:r>
              <a:endParaRPr lang="en-US" sz="1135" dirty="0"/>
            </a:p>
          </p:txBody>
        </p:sp>
        <p:sp>
          <p:nvSpPr>
            <p:cNvPr id="70" name="Text 61">
              <a:extLst>
                <a:ext uri="{FF2B5EF4-FFF2-40B4-BE49-F238E27FC236}">
                  <a16:creationId xmlns:a16="http://schemas.microsoft.com/office/drawing/2014/main" id="{B1E373B5-9EA6-6885-90F9-7550A9CCEF9B}"/>
                </a:ext>
              </a:extLst>
            </p:cNvPr>
            <p:cNvSpPr/>
            <p:nvPr/>
          </p:nvSpPr>
          <p:spPr>
            <a:xfrm>
              <a:off x="624840" y="3009900"/>
              <a:ext cx="2286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At what load and in what</a:t>
              </a:r>
              <a:endParaRPr lang="en-US" sz="1045" dirty="0"/>
            </a:p>
          </p:txBody>
        </p:sp>
        <p:sp>
          <p:nvSpPr>
            <p:cNvPr id="71" name="Text 62">
              <a:extLst>
                <a:ext uri="{FF2B5EF4-FFF2-40B4-BE49-F238E27FC236}">
                  <a16:creationId xmlns:a16="http://schemas.microsoft.com/office/drawing/2014/main" id="{9796965A-C08D-972A-B745-F7FACFE0E8AD}"/>
                </a:ext>
              </a:extLst>
            </p:cNvPr>
            <p:cNvSpPr/>
            <p:nvPr/>
          </p:nvSpPr>
          <p:spPr>
            <a:xfrm>
              <a:off x="624840" y="3208020"/>
              <a:ext cx="2286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shape does it buckle?</a:t>
              </a:r>
              <a:endParaRPr lang="en-US" sz="1045" dirty="0"/>
            </a:p>
          </p:txBody>
        </p:sp>
        <p:sp>
          <p:nvSpPr>
            <p:cNvPr id="72" name="Text 63">
              <a:extLst>
                <a:ext uri="{FF2B5EF4-FFF2-40B4-BE49-F238E27FC236}">
                  <a16:creationId xmlns:a16="http://schemas.microsoft.com/office/drawing/2014/main" id="{9D91D44A-9BF3-AE8D-128A-8DA6BE835DC3}"/>
                </a:ext>
              </a:extLst>
            </p:cNvPr>
            <p:cNvSpPr/>
            <p:nvPr/>
          </p:nvSpPr>
          <p:spPr>
            <a:xfrm>
              <a:off x="624840" y="3535680"/>
              <a:ext cx="228600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Post-buckling</a:t>
              </a:r>
              <a:endParaRPr lang="en-US" sz="1135" dirty="0"/>
            </a:p>
          </p:txBody>
        </p:sp>
        <p:sp>
          <p:nvSpPr>
            <p:cNvPr id="73" name="Text 64">
              <a:extLst>
                <a:ext uri="{FF2B5EF4-FFF2-40B4-BE49-F238E27FC236}">
                  <a16:creationId xmlns:a16="http://schemas.microsoft.com/office/drawing/2014/main" id="{67244908-9DDC-3926-9510-8E267C4B1CE7}"/>
                </a:ext>
              </a:extLst>
            </p:cNvPr>
            <p:cNvSpPr/>
            <p:nvPr/>
          </p:nvSpPr>
          <p:spPr>
            <a:xfrm>
              <a:off x="624840" y="3787140"/>
              <a:ext cx="2286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How does it deform and</a:t>
              </a:r>
              <a:endParaRPr lang="en-US" sz="1045" dirty="0"/>
            </a:p>
          </p:txBody>
        </p:sp>
        <p:sp>
          <p:nvSpPr>
            <p:cNvPr id="74" name="Text 65">
              <a:extLst>
                <a:ext uri="{FF2B5EF4-FFF2-40B4-BE49-F238E27FC236}">
                  <a16:creationId xmlns:a16="http://schemas.microsoft.com/office/drawing/2014/main" id="{8933A346-024A-0097-120E-9F31538223A7}"/>
                </a:ext>
              </a:extLst>
            </p:cNvPr>
            <p:cNvSpPr/>
            <p:nvPr/>
          </p:nvSpPr>
          <p:spPr>
            <a:xfrm>
              <a:off x="624840" y="3985260"/>
              <a:ext cx="2286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carry load after buckling?</a:t>
              </a:r>
              <a:endParaRPr lang="en-US" sz="1045" dirty="0"/>
            </a:p>
          </p:txBody>
        </p:sp>
        <p:sp>
          <p:nvSpPr>
            <p:cNvPr id="75" name="Shape 66">
              <a:extLst>
                <a:ext uri="{FF2B5EF4-FFF2-40B4-BE49-F238E27FC236}">
                  <a16:creationId xmlns:a16="http://schemas.microsoft.com/office/drawing/2014/main" id="{076F8CA0-4453-427E-F06A-18E374905666}"/>
                </a:ext>
              </a:extLst>
            </p:cNvPr>
            <p:cNvSpPr/>
            <p:nvPr/>
          </p:nvSpPr>
          <p:spPr>
            <a:xfrm>
              <a:off x="2316480" y="199644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76" name="Text 67">
              <a:extLst>
                <a:ext uri="{FF2B5EF4-FFF2-40B4-BE49-F238E27FC236}">
                  <a16:creationId xmlns:a16="http://schemas.microsoft.com/office/drawing/2014/main" id="{DB08EA07-3141-00C8-406F-E175ED2DA3EE}"/>
                </a:ext>
              </a:extLst>
            </p:cNvPr>
            <p:cNvSpPr/>
            <p:nvPr/>
          </p:nvSpPr>
          <p:spPr>
            <a:xfrm>
              <a:off x="2316480" y="201168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77" name="Shape 68">
              <a:extLst>
                <a:ext uri="{FF2B5EF4-FFF2-40B4-BE49-F238E27FC236}">
                  <a16:creationId xmlns:a16="http://schemas.microsoft.com/office/drawing/2014/main" id="{177B14EF-C59D-C214-7904-C599AF97A241}"/>
                </a:ext>
              </a:extLst>
            </p:cNvPr>
            <p:cNvSpPr/>
            <p:nvPr/>
          </p:nvSpPr>
          <p:spPr>
            <a:xfrm>
              <a:off x="2316480" y="277368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78" name="Text 69">
              <a:extLst>
                <a:ext uri="{FF2B5EF4-FFF2-40B4-BE49-F238E27FC236}">
                  <a16:creationId xmlns:a16="http://schemas.microsoft.com/office/drawing/2014/main" id="{A0ABD679-07C1-3207-5E15-7F06CB92EEF2}"/>
                </a:ext>
              </a:extLst>
            </p:cNvPr>
            <p:cNvSpPr/>
            <p:nvPr/>
          </p:nvSpPr>
          <p:spPr>
            <a:xfrm>
              <a:off x="2316480" y="278892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79" name="Shape 70">
              <a:extLst>
                <a:ext uri="{FF2B5EF4-FFF2-40B4-BE49-F238E27FC236}">
                  <a16:creationId xmlns:a16="http://schemas.microsoft.com/office/drawing/2014/main" id="{BEC0FE66-2891-8C39-CDDC-90E67D369024}"/>
                </a:ext>
              </a:extLst>
            </p:cNvPr>
            <p:cNvSpPr/>
            <p:nvPr/>
          </p:nvSpPr>
          <p:spPr>
            <a:xfrm>
              <a:off x="2316480" y="355092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80" name="Text 71">
              <a:extLst>
                <a:ext uri="{FF2B5EF4-FFF2-40B4-BE49-F238E27FC236}">
                  <a16:creationId xmlns:a16="http://schemas.microsoft.com/office/drawing/2014/main" id="{30499E2A-8B1B-5E68-DD36-4EE3711BA159}"/>
                </a:ext>
              </a:extLst>
            </p:cNvPr>
            <p:cNvSpPr/>
            <p:nvPr/>
          </p:nvSpPr>
          <p:spPr>
            <a:xfrm>
              <a:off x="2316480" y="356616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81" name="Shape 72">
              <a:extLst>
                <a:ext uri="{FF2B5EF4-FFF2-40B4-BE49-F238E27FC236}">
                  <a16:creationId xmlns:a16="http://schemas.microsoft.com/office/drawing/2014/main" id="{66533BE7-7DE9-4945-FBFD-A45E7A09BFFB}"/>
                </a:ext>
              </a:extLst>
            </p:cNvPr>
            <p:cNvSpPr/>
            <p:nvPr/>
          </p:nvSpPr>
          <p:spPr>
            <a:xfrm>
              <a:off x="7757160" y="25298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82" name="Text 73">
              <a:extLst>
                <a:ext uri="{FF2B5EF4-FFF2-40B4-BE49-F238E27FC236}">
                  <a16:creationId xmlns:a16="http://schemas.microsoft.com/office/drawing/2014/main" id="{518B63BB-F571-38AC-2328-49B918DD9F03}"/>
                </a:ext>
              </a:extLst>
            </p:cNvPr>
            <p:cNvSpPr/>
            <p:nvPr/>
          </p:nvSpPr>
          <p:spPr>
            <a:xfrm>
              <a:off x="7757160" y="25450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83" name="Shape 74">
              <a:extLst>
                <a:ext uri="{FF2B5EF4-FFF2-40B4-BE49-F238E27FC236}">
                  <a16:creationId xmlns:a16="http://schemas.microsoft.com/office/drawing/2014/main" id="{95B34120-5A2D-FA4A-4790-6642653C3040}"/>
                </a:ext>
              </a:extLst>
            </p:cNvPr>
            <p:cNvSpPr/>
            <p:nvPr/>
          </p:nvSpPr>
          <p:spPr>
            <a:xfrm>
              <a:off x="8763000" y="25298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84" name="Text 75">
              <a:extLst>
                <a:ext uri="{FF2B5EF4-FFF2-40B4-BE49-F238E27FC236}">
                  <a16:creationId xmlns:a16="http://schemas.microsoft.com/office/drawing/2014/main" id="{CC987041-A79A-0751-8F1D-66E8A65994AE}"/>
                </a:ext>
              </a:extLst>
            </p:cNvPr>
            <p:cNvSpPr/>
            <p:nvPr/>
          </p:nvSpPr>
          <p:spPr>
            <a:xfrm>
              <a:off x="8763000" y="25450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85" name="Shape 76">
              <a:extLst>
                <a:ext uri="{FF2B5EF4-FFF2-40B4-BE49-F238E27FC236}">
                  <a16:creationId xmlns:a16="http://schemas.microsoft.com/office/drawing/2014/main" id="{F7D17257-ED8A-C221-F1D2-BD602FAFA0C0}"/>
                </a:ext>
              </a:extLst>
            </p:cNvPr>
            <p:cNvSpPr/>
            <p:nvPr/>
          </p:nvSpPr>
          <p:spPr>
            <a:xfrm>
              <a:off x="7757160" y="33299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86" name="Text 77">
              <a:extLst>
                <a:ext uri="{FF2B5EF4-FFF2-40B4-BE49-F238E27FC236}">
                  <a16:creationId xmlns:a16="http://schemas.microsoft.com/office/drawing/2014/main" id="{678CFD81-004C-B31E-218C-1A80D7C10E29}"/>
                </a:ext>
              </a:extLst>
            </p:cNvPr>
            <p:cNvSpPr/>
            <p:nvPr/>
          </p:nvSpPr>
          <p:spPr>
            <a:xfrm>
              <a:off x="7757160" y="33451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87" name="Shape 78">
              <a:extLst>
                <a:ext uri="{FF2B5EF4-FFF2-40B4-BE49-F238E27FC236}">
                  <a16:creationId xmlns:a16="http://schemas.microsoft.com/office/drawing/2014/main" id="{032A5035-BFD1-7034-5833-7948F243106E}"/>
                </a:ext>
              </a:extLst>
            </p:cNvPr>
            <p:cNvSpPr/>
            <p:nvPr/>
          </p:nvSpPr>
          <p:spPr>
            <a:xfrm>
              <a:off x="8763000" y="33299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88" name="Text 79">
              <a:extLst>
                <a:ext uri="{FF2B5EF4-FFF2-40B4-BE49-F238E27FC236}">
                  <a16:creationId xmlns:a16="http://schemas.microsoft.com/office/drawing/2014/main" id="{98B38DEE-51C4-E042-9D43-DE8306F93E8F}"/>
                </a:ext>
              </a:extLst>
            </p:cNvPr>
            <p:cNvSpPr/>
            <p:nvPr/>
          </p:nvSpPr>
          <p:spPr>
            <a:xfrm>
              <a:off x="8763000" y="33451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89" name="Shape 80">
              <a:extLst>
                <a:ext uri="{FF2B5EF4-FFF2-40B4-BE49-F238E27FC236}">
                  <a16:creationId xmlns:a16="http://schemas.microsoft.com/office/drawing/2014/main" id="{46D5B9F2-BBC9-C7D6-DF65-357056DC14F8}"/>
                </a:ext>
              </a:extLst>
            </p:cNvPr>
            <p:cNvSpPr/>
            <p:nvPr/>
          </p:nvSpPr>
          <p:spPr>
            <a:xfrm>
              <a:off x="7757160" y="41300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90" name="Text 81">
              <a:extLst>
                <a:ext uri="{FF2B5EF4-FFF2-40B4-BE49-F238E27FC236}">
                  <a16:creationId xmlns:a16="http://schemas.microsoft.com/office/drawing/2014/main" id="{7F4F2B38-7804-3C0B-CFC2-062B99793E1C}"/>
                </a:ext>
              </a:extLst>
            </p:cNvPr>
            <p:cNvSpPr/>
            <p:nvPr/>
          </p:nvSpPr>
          <p:spPr>
            <a:xfrm>
              <a:off x="7757160" y="41452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91" name="Shape 82">
              <a:extLst>
                <a:ext uri="{FF2B5EF4-FFF2-40B4-BE49-F238E27FC236}">
                  <a16:creationId xmlns:a16="http://schemas.microsoft.com/office/drawing/2014/main" id="{ADE315F9-052D-6E50-BA69-4F232A0DCD32}"/>
                </a:ext>
              </a:extLst>
            </p:cNvPr>
            <p:cNvSpPr/>
            <p:nvPr/>
          </p:nvSpPr>
          <p:spPr>
            <a:xfrm>
              <a:off x="8763000" y="41300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92" name="Text 83">
              <a:extLst>
                <a:ext uri="{FF2B5EF4-FFF2-40B4-BE49-F238E27FC236}">
                  <a16:creationId xmlns:a16="http://schemas.microsoft.com/office/drawing/2014/main" id="{CB18F626-1E26-3CB5-3467-872166BE3EC0}"/>
                </a:ext>
              </a:extLst>
            </p:cNvPr>
            <p:cNvSpPr/>
            <p:nvPr/>
          </p:nvSpPr>
          <p:spPr>
            <a:xfrm>
              <a:off x="8763000" y="41452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93" name="Text 84">
              <a:extLst>
                <a:ext uri="{FF2B5EF4-FFF2-40B4-BE49-F238E27FC236}">
                  <a16:creationId xmlns:a16="http://schemas.microsoft.com/office/drawing/2014/main" id="{2FF9E4BE-CEE7-8DFA-AF80-63C2E09CA401}"/>
                </a:ext>
              </a:extLst>
            </p:cNvPr>
            <p:cNvSpPr/>
            <p:nvPr/>
          </p:nvSpPr>
          <p:spPr>
            <a:xfrm>
              <a:off x="624840" y="5013960"/>
              <a:ext cx="32004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Elastic</a:t>
              </a:r>
              <a:endParaRPr lang="en-US" sz="1045" dirty="0"/>
            </a:p>
          </p:txBody>
        </p:sp>
        <p:sp>
          <p:nvSpPr>
            <p:cNvPr id="94" name="Shape 85">
              <a:extLst>
                <a:ext uri="{FF2B5EF4-FFF2-40B4-BE49-F238E27FC236}">
                  <a16:creationId xmlns:a16="http://schemas.microsoft.com/office/drawing/2014/main" id="{6EF3667C-BD19-4183-3713-1D6291AEEF13}"/>
                </a:ext>
              </a:extLst>
            </p:cNvPr>
            <p:cNvSpPr/>
            <p:nvPr/>
          </p:nvSpPr>
          <p:spPr>
            <a:xfrm>
              <a:off x="3947160" y="50292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95" name="Text 86">
              <a:extLst>
                <a:ext uri="{FF2B5EF4-FFF2-40B4-BE49-F238E27FC236}">
                  <a16:creationId xmlns:a16="http://schemas.microsoft.com/office/drawing/2014/main" id="{25769573-9649-BFCB-84FA-D4F827723B22}"/>
                </a:ext>
              </a:extLst>
            </p:cNvPr>
            <p:cNvSpPr/>
            <p:nvPr/>
          </p:nvSpPr>
          <p:spPr>
            <a:xfrm>
              <a:off x="3947160" y="504444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96" name="Text 87">
              <a:extLst>
                <a:ext uri="{FF2B5EF4-FFF2-40B4-BE49-F238E27FC236}">
                  <a16:creationId xmlns:a16="http://schemas.microsoft.com/office/drawing/2014/main" id="{77E8E4E2-5C5E-0BA6-2561-F30F5F7712D1}"/>
                </a:ext>
              </a:extLst>
            </p:cNvPr>
            <p:cNvSpPr/>
            <p:nvPr/>
          </p:nvSpPr>
          <p:spPr>
            <a:xfrm>
              <a:off x="624840" y="5238750"/>
              <a:ext cx="393192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Isotropic / anisotropic</a:t>
              </a:r>
              <a:endParaRPr lang="en-US" sz="954" dirty="0"/>
            </a:p>
          </p:txBody>
        </p:sp>
        <p:sp>
          <p:nvSpPr>
            <p:cNvPr id="97" name="Text 88">
              <a:extLst>
                <a:ext uri="{FF2B5EF4-FFF2-40B4-BE49-F238E27FC236}">
                  <a16:creationId xmlns:a16="http://schemas.microsoft.com/office/drawing/2014/main" id="{6D7AE328-58A4-3D1F-D9B8-41BB99F9AF03}"/>
                </a:ext>
              </a:extLst>
            </p:cNvPr>
            <p:cNvSpPr/>
            <p:nvPr/>
          </p:nvSpPr>
          <p:spPr>
            <a:xfrm>
              <a:off x="624840" y="5463540"/>
              <a:ext cx="393192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(cubic, hexagonal, orthotropic)</a:t>
              </a:r>
              <a:endParaRPr lang="en-US" sz="954" dirty="0"/>
            </a:p>
          </p:txBody>
        </p:sp>
        <p:sp>
          <p:nvSpPr>
            <p:cNvPr id="98" name="Text 89">
              <a:extLst>
                <a:ext uri="{FF2B5EF4-FFF2-40B4-BE49-F238E27FC236}">
                  <a16:creationId xmlns:a16="http://schemas.microsoft.com/office/drawing/2014/main" id="{71BED839-5733-843F-6280-16DDF268746D}"/>
                </a:ext>
              </a:extLst>
            </p:cNvPr>
            <p:cNvSpPr/>
            <p:nvPr/>
          </p:nvSpPr>
          <p:spPr>
            <a:xfrm>
              <a:off x="624840" y="5688330"/>
              <a:ext cx="32004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Viscous &amp; viscoelastic</a:t>
              </a:r>
              <a:endParaRPr lang="en-US" sz="1045" dirty="0"/>
            </a:p>
          </p:txBody>
        </p:sp>
        <p:sp>
          <p:nvSpPr>
            <p:cNvPr id="99" name="Shape 90">
              <a:extLst>
                <a:ext uri="{FF2B5EF4-FFF2-40B4-BE49-F238E27FC236}">
                  <a16:creationId xmlns:a16="http://schemas.microsoft.com/office/drawing/2014/main" id="{4B8D041B-9A8E-C14F-B84D-6BAED48F0FFA}"/>
                </a:ext>
              </a:extLst>
            </p:cNvPr>
            <p:cNvSpPr/>
            <p:nvPr/>
          </p:nvSpPr>
          <p:spPr>
            <a:xfrm>
              <a:off x="3947160" y="570357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00" name="Text 91">
              <a:extLst>
                <a:ext uri="{FF2B5EF4-FFF2-40B4-BE49-F238E27FC236}">
                  <a16:creationId xmlns:a16="http://schemas.microsoft.com/office/drawing/2014/main" id="{2BEACCAC-975E-6715-E7FE-1165CF166DFA}"/>
                </a:ext>
              </a:extLst>
            </p:cNvPr>
            <p:cNvSpPr/>
            <p:nvPr/>
          </p:nvSpPr>
          <p:spPr>
            <a:xfrm>
              <a:off x="3947160" y="571881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01" name="Text 92">
              <a:extLst>
                <a:ext uri="{FF2B5EF4-FFF2-40B4-BE49-F238E27FC236}">
                  <a16:creationId xmlns:a16="http://schemas.microsoft.com/office/drawing/2014/main" id="{2CEF9D92-78E9-5C73-8A73-78A1F35D7B22}"/>
                </a:ext>
              </a:extLst>
            </p:cNvPr>
            <p:cNvSpPr/>
            <p:nvPr/>
          </p:nvSpPr>
          <p:spPr>
            <a:xfrm>
              <a:off x="624840" y="5913120"/>
              <a:ext cx="393192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Viscous · Maxwell · standard linear solid</a:t>
              </a:r>
              <a:endParaRPr lang="en-US" sz="954" dirty="0"/>
            </a:p>
          </p:txBody>
        </p:sp>
        <p:sp>
          <p:nvSpPr>
            <p:cNvPr id="102" name="Text 93">
              <a:extLst>
                <a:ext uri="{FF2B5EF4-FFF2-40B4-BE49-F238E27FC236}">
                  <a16:creationId xmlns:a16="http://schemas.microsoft.com/office/drawing/2014/main" id="{A8D9419D-2363-B34D-3361-C97CDA684668}"/>
                </a:ext>
              </a:extLst>
            </p:cNvPr>
            <p:cNvSpPr/>
            <p:nvPr/>
          </p:nvSpPr>
          <p:spPr>
            <a:xfrm>
              <a:off x="624840" y="6137910"/>
              <a:ext cx="32004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Plastic &amp; viscoplastic</a:t>
              </a:r>
              <a:endParaRPr lang="en-US" sz="1045" dirty="0"/>
            </a:p>
          </p:txBody>
        </p:sp>
        <p:sp>
          <p:nvSpPr>
            <p:cNvPr id="103" name="Shape 94">
              <a:extLst>
                <a:ext uri="{FF2B5EF4-FFF2-40B4-BE49-F238E27FC236}">
                  <a16:creationId xmlns:a16="http://schemas.microsoft.com/office/drawing/2014/main" id="{8B805669-0A5D-4466-6251-28322C7CDE04}"/>
                </a:ext>
              </a:extLst>
            </p:cNvPr>
            <p:cNvSpPr/>
            <p:nvPr/>
          </p:nvSpPr>
          <p:spPr>
            <a:xfrm>
              <a:off x="3947160" y="615315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104" name="Text 95">
              <a:extLst>
                <a:ext uri="{FF2B5EF4-FFF2-40B4-BE49-F238E27FC236}">
                  <a16:creationId xmlns:a16="http://schemas.microsoft.com/office/drawing/2014/main" id="{38A75179-DE1E-C6AF-EECA-C3CE06F0C76F}"/>
                </a:ext>
              </a:extLst>
            </p:cNvPr>
            <p:cNvSpPr/>
            <p:nvPr/>
          </p:nvSpPr>
          <p:spPr>
            <a:xfrm>
              <a:off x="3947160" y="616839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105" name="Text 96">
              <a:extLst>
                <a:ext uri="{FF2B5EF4-FFF2-40B4-BE49-F238E27FC236}">
                  <a16:creationId xmlns:a16="http://schemas.microsoft.com/office/drawing/2014/main" id="{A0A473FC-60AB-35A1-0F41-A6488C86CAF9}"/>
                </a:ext>
              </a:extLst>
            </p:cNvPr>
            <p:cNvSpPr/>
            <p:nvPr/>
          </p:nvSpPr>
          <p:spPr>
            <a:xfrm>
              <a:off x="624840" y="6362700"/>
              <a:ext cx="393192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Incremental / deformation plasticity · Anand</a:t>
              </a:r>
              <a:endParaRPr lang="en-US" sz="954" dirty="0"/>
            </a:p>
          </p:txBody>
        </p:sp>
        <p:sp>
          <p:nvSpPr>
            <p:cNvPr id="106" name="Text 97">
              <a:extLst>
                <a:ext uri="{FF2B5EF4-FFF2-40B4-BE49-F238E27FC236}">
                  <a16:creationId xmlns:a16="http://schemas.microsoft.com/office/drawing/2014/main" id="{AC279BE3-887A-0274-1F03-DC19528AE733}"/>
                </a:ext>
              </a:extLst>
            </p:cNvPr>
            <p:cNvSpPr/>
            <p:nvPr/>
          </p:nvSpPr>
          <p:spPr>
            <a:xfrm>
              <a:off x="624840" y="6587490"/>
              <a:ext cx="32004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Power-law creep</a:t>
              </a:r>
              <a:endParaRPr lang="en-US" sz="1045" dirty="0"/>
            </a:p>
          </p:txBody>
        </p:sp>
        <p:sp>
          <p:nvSpPr>
            <p:cNvPr id="107" name="Shape 98">
              <a:extLst>
                <a:ext uri="{FF2B5EF4-FFF2-40B4-BE49-F238E27FC236}">
                  <a16:creationId xmlns:a16="http://schemas.microsoft.com/office/drawing/2014/main" id="{E07A0721-44BD-9E6D-0D5E-2FEC6F2323F3}"/>
                </a:ext>
              </a:extLst>
            </p:cNvPr>
            <p:cNvSpPr/>
            <p:nvPr/>
          </p:nvSpPr>
          <p:spPr>
            <a:xfrm>
              <a:off x="3596640" y="6602730"/>
              <a:ext cx="960120" cy="205740"/>
            </a:xfrm>
            <a:prstGeom prst="roundRect">
              <a:avLst>
                <a:gd name="adj" fmla="val 44444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108" name="Text 99">
              <a:extLst>
                <a:ext uri="{FF2B5EF4-FFF2-40B4-BE49-F238E27FC236}">
                  <a16:creationId xmlns:a16="http://schemas.microsoft.com/office/drawing/2014/main" id="{D721F605-052F-BEE9-695C-A6674085C98F}"/>
                </a:ext>
              </a:extLst>
            </p:cNvPr>
            <p:cNvSpPr/>
            <p:nvPr/>
          </p:nvSpPr>
          <p:spPr>
            <a:xfrm>
              <a:off x="3596640" y="6617970"/>
              <a:ext cx="96012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818" dirty="0"/>
            </a:p>
          </p:txBody>
        </p:sp>
        <p:sp>
          <p:nvSpPr>
            <p:cNvPr id="109" name="Text 100">
              <a:extLst>
                <a:ext uri="{FF2B5EF4-FFF2-40B4-BE49-F238E27FC236}">
                  <a16:creationId xmlns:a16="http://schemas.microsoft.com/office/drawing/2014/main" id="{AA4EF545-BA28-5FCE-C966-DF049D035B05}"/>
                </a:ext>
              </a:extLst>
            </p:cNvPr>
            <p:cNvSpPr/>
            <p:nvPr/>
          </p:nvSpPr>
          <p:spPr>
            <a:xfrm>
              <a:off x="624840" y="6812280"/>
              <a:ext cx="393192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Bailey–Norton · Mukherjee–Bird–Dorn</a:t>
              </a:r>
              <a:endParaRPr lang="en-US" sz="954" dirty="0"/>
            </a:p>
          </p:txBody>
        </p:sp>
        <p:sp>
          <p:nvSpPr>
            <p:cNvPr id="110" name="Text 101">
              <a:extLst>
                <a:ext uri="{FF2B5EF4-FFF2-40B4-BE49-F238E27FC236}">
                  <a16:creationId xmlns:a16="http://schemas.microsoft.com/office/drawing/2014/main" id="{E2A4D73C-7C18-9922-B33E-FF606A9F5F8E}"/>
                </a:ext>
              </a:extLst>
            </p:cNvPr>
            <p:cNvSpPr/>
            <p:nvPr/>
          </p:nvSpPr>
          <p:spPr>
            <a:xfrm>
              <a:off x="624840" y="7037070"/>
              <a:ext cx="32004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Swelling</a:t>
              </a:r>
              <a:endParaRPr lang="en-US" sz="1045" dirty="0"/>
            </a:p>
          </p:txBody>
        </p:sp>
        <p:sp>
          <p:nvSpPr>
            <p:cNvPr id="111" name="Shape 102">
              <a:extLst>
                <a:ext uri="{FF2B5EF4-FFF2-40B4-BE49-F238E27FC236}">
                  <a16:creationId xmlns:a16="http://schemas.microsoft.com/office/drawing/2014/main" id="{5F50AF20-4794-B7F7-FC13-73AB2369B96E}"/>
                </a:ext>
              </a:extLst>
            </p:cNvPr>
            <p:cNvSpPr/>
            <p:nvPr/>
          </p:nvSpPr>
          <p:spPr>
            <a:xfrm>
              <a:off x="3596640" y="7052310"/>
              <a:ext cx="960120" cy="205740"/>
            </a:xfrm>
            <a:prstGeom prst="roundRect">
              <a:avLst>
                <a:gd name="adj" fmla="val 44444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112" name="Text 103">
              <a:extLst>
                <a:ext uri="{FF2B5EF4-FFF2-40B4-BE49-F238E27FC236}">
                  <a16:creationId xmlns:a16="http://schemas.microsoft.com/office/drawing/2014/main" id="{085F3308-02E5-78CF-2F3F-25900CDD82A3}"/>
                </a:ext>
              </a:extLst>
            </p:cNvPr>
            <p:cNvSpPr/>
            <p:nvPr/>
          </p:nvSpPr>
          <p:spPr>
            <a:xfrm>
              <a:off x="3596640" y="7067550"/>
              <a:ext cx="96012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818" dirty="0"/>
            </a:p>
          </p:txBody>
        </p:sp>
        <p:sp>
          <p:nvSpPr>
            <p:cNvPr id="113" name="Text 104">
              <a:extLst>
                <a:ext uri="{FF2B5EF4-FFF2-40B4-BE49-F238E27FC236}">
                  <a16:creationId xmlns:a16="http://schemas.microsoft.com/office/drawing/2014/main" id="{306C18AB-3935-6024-5397-70EA8699066A}"/>
                </a:ext>
              </a:extLst>
            </p:cNvPr>
            <p:cNvSpPr/>
            <p:nvPr/>
          </p:nvSpPr>
          <p:spPr>
            <a:xfrm>
              <a:off x="624840" y="7261860"/>
              <a:ext cx="32004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Cohesive damage / softening</a:t>
              </a:r>
              <a:endParaRPr lang="en-US" sz="1045" dirty="0"/>
            </a:p>
          </p:txBody>
        </p:sp>
        <p:sp>
          <p:nvSpPr>
            <p:cNvPr id="114" name="Shape 105">
              <a:extLst>
                <a:ext uri="{FF2B5EF4-FFF2-40B4-BE49-F238E27FC236}">
                  <a16:creationId xmlns:a16="http://schemas.microsoft.com/office/drawing/2014/main" id="{89F2F75B-BCDB-ED90-EF2F-982138A6994D}"/>
                </a:ext>
              </a:extLst>
            </p:cNvPr>
            <p:cNvSpPr/>
            <p:nvPr/>
          </p:nvSpPr>
          <p:spPr>
            <a:xfrm>
              <a:off x="3596640" y="7277100"/>
              <a:ext cx="960120" cy="205740"/>
            </a:xfrm>
            <a:prstGeom prst="roundRect">
              <a:avLst>
                <a:gd name="adj" fmla="val 44444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115" name="Text 106">
              <a:extLst>
                <a:ext uri="{FF2B5EF4-FFF2-40B4-BE49-F238E27FC236}">
                  <a16:creationId xmlns:a16="http://schemas.microsoft.com/office/drawing/2014/main" id="{B8822F0E-F4BF-9A31-D866-6F24ED61614A}"/>
                </a:ext>
              </a:extLst>
            </p:cNvPr>
            <p:cNvSpPr/>
            <p:nvPr/>
          </p:nvSpPr>
          <p:spPr>
            <a:xfrm>
              <a:off x="3596640" y="7292340"/>
              <a:ext cx="96012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818" dirty="0"/>
            </a:p>
          </p:txBody>
        </p:sp>
        <p:sp>
          <p:nvSpPr>
            <p:cNvPr id="116" name="Text 107">
              <a:extLst>
                <a:ext uri="{FF2B5EF4-FFF2-40B4-BE49-F238E27FC236}">
                  <a16:creationId xmlns:a16="http://schemas.microsoft.com/office/drawing/2014/main" id="{7F671497-CB69-7C7D-ED38-8D76487E397B}"/>
                </a:ext>
              </a:extLst>
            </p:cNvPr>
            <p:cNvSpPr/>
            <p:nvPr/>
          </p:nvSpPr>
          <p:spPr>
            <a:xfrm>
              <a:off x="624840" y="7486650"/>
              <a:ext cx="3200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1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Temperature-dependent material parameters</a:t>
              </a:r>
              <a:endParaRPr lang="en-US" sz="818" dirty="0"/>
            </a:p>
          </p:txBody>
        </p:sp>
        <p:sp>
          <p:nvSpPr>
            <p:cNvPr id="117" name="Shape 108">
              <a:extLst>
                <a:ext uri="{FF2B5EF4-FFF2-40B4-BE49-F238E27FC236}">
                  <a16:creationId xmlns:a16="http://schemas.microsoft.com/office/drawing/2014/main" id="{4F5DE0FD-BAB5-4E0D-5DC3-856E4C8F7327}"/>
                </a:ext>
              </a:extLst>
            </p:cNvPr>
            <p:cNvSpPr/>
            <p:nvPr/>
          </p:nvSpPr>
          <p:spPr>
            <a:xfrm>
              <a:off x="3947160" y="750189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18" name="Text 109">
              <a:extLst>
                <a:ext uri="{FF2B5EF4-FFF2-40B4-BE49-F238E27FC236}">
                  <a16:creationId xmlns:a16="http://schemas.microsoft.com/office/drawing/2014/main" id="{AF6C932E-DBDE-2DFC-C822-68031DC2DA54}"/>
                </a:ext>
              </a:extLst>
            </p:cNvPr>
            <p:cNvSpPr/>
            <p:nvPr/>
          </p:nvSpPr>
          <p:spPr>
            <a:xfrm>
              <a:off x="3947160" y="751713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19" name="Text 110">
              <a:extLst>
                <a:ext uri="{FF2B5EF4-FFF2-40B4-BE49-F238E27FC236}">
                  <a16:creationId xmlns:a16="http://schemas.microsoft.com/office/drawing/2014/main" id="{EA09E938-B67E-42EC-1493-AA08AB2CA9DA}"/>
                </a:ext>
              </a:extLst>
            </p:cNvPr>
            <p:cNvSpPr/>
            <p:nvPr/>
          </p:nvSpPr>
          <p:spPr>
            <a:xfrm>
              <a:off x="5044440" y="1981200"/>
              <a:ext cx="274320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Continuum elements</a:t>
              </a:r>
              <a:endParaRPr lang="en-US" sz="1135" dirty="0"/>
            </a:p>
          </p:txBody>
        </p:sp>
        <p:sp>
          <p:nvSpPr>
            <p:cNvPr id="120" name="Text 111">
              <a:extLst>
                <a:ext uri="{FF2B5EF4-FFF2-40B4-BE49-F238E27FC236}">
                  <a16:creationId xmlns:a16="http://schemas.microsoft.com/office/drawing/2014/main" id="{CBD4F149-0359-CFBB-E3FA-A653BE6D638F}"/>
                </a:ext>
              </a:extLst>
            </p:cNvPr>
            <p:cNvSpPr/>
            <p:nvPr/>
          </p:nvSpPr>
          <p:spPr>
            <a:xfrm>
              <a:off x="5044440" y="2240280"/>
              <a:ext cx="194310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Plane strain · 3D solid</a:t>
              </a:r>
              <a:endParaRPr lang="en-US" sz="954" dirty="0"/>
            </a:p>
          </p:txBody>
        </p:sp>
        <p:sp>
          <p:nvSpPr>
            <p:cNvPr id="121" name="Shape 112">
              <a:extLst>
                <a:ext uri="{FF2B5EF4-FFF2-40B4-BE49-F238E27FC236}">
                  <a16:creationId xmlns:a16="http://schemas.microsoft.com/office/drawing/2014/main" id="{122A9A89-16BF-12F2-676B-349EBB58D499}"/>
                </a:ext>
              </a:extLst>
            </p:cNvPr>
            <p:cNvSpPr/>
            <p:nvPr/>
          </p:nvSpPr>
          <p:spPr>
            <a:xfrm>
              <a:off x="6934200" y="225552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22" name="Text 113">
              <a:extLst>
                <a:ext uri="{FF2B5EF4-FFF2-40B4-BE49-F238E27FC236}">
                  <a16:creationId xmlns:a16="http://schemas.microsoft.com/office/drawing/2014/main" id="{0CEB2F85-95A4-5591-AA74-C2D9F341C17F}"/>
                </a:ext>
              </a:extLst>
            </p:cNvPr>
            <p:cNvSpPr/>
            <p:nvPr/>
          </p:nvSpPr>
          <p:spPr>
            <a:xfrm>
              <a:off x="6934200" y="227076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23" name="Text 114">
              <a:extLst>
                <a:ext uri="{FF2B5EF4-FFF2-40B4-BE49-F238E27FC236}">
                  <a16:creationId xmlns:a16="http://schemas.microsoft.com/office/drawing/2014/main" id="{80B169DD-F62F-B8D3-2E4A-2D9E3272AA68}"/>
                </a:ext>
              </a:extLst>
            </p:cNvPr>
            <p:cNvSpPr/>
            <p:nvPr/>
          </p:nvSpPr>
          <p:spPr>
            <a:xfrm>
              <a:off x="5044440" y="2476500"/>
              <a:ext cx="1524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Plane stress</a:t>
              </a:r>
              <a:endParaRPr lang="en-US" sz="1045" dirty="0"/>
            </a:p>
          </p:txBody>
        </p:sp>
        <p:sp>
          <p:nvSpPr>
            <p:cNvPr id="124" name="Shape 115">
              <a:extLst>
                <a:ext uri="{FF2B5EF4-FFF2-40B4-BE49-F238E27FC236}">
                  <a16:creationId xmlns:a16="http://schemas.microsoft.com/office/drawing/2014/main" id="{CB15BEC0-AD76-2D3F-E89F-B05A5C51B26C}"/>
                </a:ext>
              </a:extLst>
            </p:cNvPr>
            <p:cNvSpPr/>
            <p:nvPr/>
          </p:nvSpPr>
          <p:spPr>
            <a:xfrm>
              <a:off x="6934200" y="249174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25" name="Text 116">
              <a:extLst>
                <a:ext uri="{FF2B5EF4-FFF2-40B4-BE49-F238E27FC236}">
                  <a16:creationId xmlns:a16="http://schemas.microsoft.com/office/drawing/2014/main" id="{9F625E9B-ED37-0C2E-7003-5EB22CF3FB58}"/>
                </a:ext>
              </a:extLst>
            </p:cNvPr>
            <p:cNvSpPr/>
            <p:nvPr/>
          </p:nvSpPr>
          <p:spPr>
            <a:xfrm>
              <a:off x="6934200" y="250698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26" name="Text 117">
              <a:extLst>
                <a:ext uri="{FF2B5EF4-FFF2-40B4-BE49-F238E27FC236}">
                  <a16:creationId xmlns:a16="http://schemas.microsoft.com/office/drawing/2014/main" id="{DC9913B2-40FF-DD99-2C39-ED31EBEA0DF1}"/>
                </a:ext>
              </a:extLst>
            </p:cNvPr>
            <p:cNvSpPr/>
            <p:nvPr/>
          </p:nvSpPr>
          <p:spPr>
            <a:xfrm>
              <a:off x="5044440" y="2712720"/>
              <a:ext cx="12573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Axisymmetric</a:t>
              </a:r>
              <a:endParaRPr lang="en-US" sz="1045" dirty="0"/>
            </a:p>
          </p:txBody>
        </p:sp>
        <p:sp>
          <p:nvSpPr>
            <p:cNvPr id="127" name="Shape 118">
              <a:extLst>
                <a:ext uri="{FF2B5EF4-FFF2-40B4-BE49-F238E27FC236}">
                  <a16:creationId xmlns:a16="http://schemas.microsoft.com/office/drawing/2014/main" id="{2BB99D46-F177-480E-F011-9EB7FA8FD7C8}"/>
                </a:ext>
              </a:extLst>
            </p:cNvPr>
            <p:cNvSpPr/>
            <p:nvPr/>
          </p:nvSpPr>
          <p:spPr>
            <a:xfrm>
              <a:off x="6934200" y="272796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28" name="Text 119">
              <a:extLst>
                <a:ext uri="{FF2B5EF4-FFF2-40B4-BE49-F238E27FC236}">
                  <a16:creationId xmlns:a16="http://schemas.microsoft.com/office/drawing/2014/main" id="{2C5BF343-4FA8-C1A9-08F9-363E33D6CFF0}"/>
                </a:ext>
              </a:extLst>
            </p:cNvPr>
            <p:cNvSpPr/>
            <p:nvPr/>
          </p:nvSpPr>
          <p:spPr>
            <a:xfrm>
              <a:off x="6934200" y="274320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29" name="Text 120">
              <a:extLst>
                <a:ext uri="{FF2B5EF4-FFF2-40B4-BE49-F238E27FC236}">
                  <a16:creationId xmlns:a16="http://schemas.microsoft.com/office/drawing/2014/main" id="{2534A0A7-B879-87C8-AAF4-02D6CFA4A138}"/>
                </a:ext>
              </a:extLst>
            </p:cNvPr>
            <p:cNvSpPr/>
            <p:nvPr/>
          </p:nvSpPr>
          <p:spPr>
            <a:xfrm>
              <a:off x="5044440" y="2948940"/>
              <a:ext cx="186690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Composite solid shell</a:t>
              </a:r>
              <a:endParaRPr lang="en-US" sz="954" dirty="0"/>
            </a:p>
          </p:txBody>
        </p:sp>
        <p:sp>
          <p:nvSpPr>
            <p:cNvPr id="130" name="Shape 121">
              <a:extLst>
                <a:ext uri="{FF2B5EF4-FFF2-40B4-BE49-F238E27FC236}">
                  <a16:creationId xmlns:a16="http://schemas.microsoft.com/office/drawing/2014/main" id="{70F46F0C-1030-3771-2EB1-03FAB571E5F0}"/>
                </a:ext>
              </a:extLst>
            </p:cNvPr>
            <p:cNvSpPr/>
            <p:nvPr/>
          </p:nvSpPr>
          <p:spPr>
            <a:xfrm>
              <a:off x="6934200" y="296418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131" name="Text 122">
              <a:extLst>
                <a:ext uri="{FF2B5EF4-FFF2-40B4-BE49-F238E27FC236}">
                  <a16:creationId xmlns:a16="http://schemas.microsoft.com/office/drawing/2014/main" id="{6689A445-0494-1DE3-0027-808537DACF9E}"/>
                </a:ext>
              </a:extLst>
            </p:cNvPr>
            <p:cNvSpPr/>
            <p:nvPr/>
          </p:nvSpPr>
          <p:spPr>
            <a:xfrm>
              <a:off x="6934200" y="297942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132" name="Text 123">
              <a:extLst>
                <a:ext uri="{FF2B5EF4-FFF2-40B4-BE49-F238E27FC236}">
                  <a16:creationId xmlns:a16="http://schemas.microsoft.com/office/drawing/2014/main" id="{E20E552D-8060-9372-8719-AEB40013C7F3}"/>
                </a:ext>
              </a:extLst>
            </p:cNvPr>
            <p:cNvSpPr/>
            <p:nvPr/>
          </p:nvSpPr>
          <p:spPr>
            <a:xfrm>
              <a:off x="5044440" y="3215640"/>
              <a:ext cx="274320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Structural elements</a:t>
              </a:r>
              <a:endParaRPr lang="en-US" sz="1135" dirty="0"/>
            </a:p>
          </p:txBody>
        </p:sp>
        <p:sp>
          <p:nvSpPr>
            <p:cNvPr id="133" name="Text 124">
              <a:extLst>
                <a:ext uri="{FF2B5EF4-FFF2-40B4-BE49-F238E27FC236}">
                  <a16:creationId xmlns:a16="http://schemas.microsoft.com/office/drawing/2014/main" id="{89B34AE8-D352-B37E-9F7A-6B3EFE6D86E8}"/>
                </a:ext>
              </a:extLst>
            </p:cNvPr>
            <p:cNvSpPr/>
            <p:nvPr/>
          </p:nvSpPr>
          <p:spPr>
            <a:xfrm>
              <a:off x="5044440" y="3459480"/>
              <a:ext cx="182880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3D Timoshenko</a:t>
              </a:r>
              <a:endParaRPr lang="en-US" sz="954" dirty="0"/>
            </a:p>
          </p:txBody>
        </p:sp>
        <p:sp>
          <p:nvSpPr>
            <p:cNvPr id="134" name="Text 125">
              <a:extLst>
                <a:ext uri="{FF2B5EF4-FFF2-40B4-BE49-F238E27FC236}">
                  <a16:creationId xmlns:a16="http://schemas.microsoft.com/office/drawing/2014/main" id="{9D4A9784-B623-7F85-9D95-CF986E787464}"/>
                </a:ext>
              </a:extLst>
            </p:cNvPr>
            <p:cNvSpPr/>
            <p:nvPr/>
          </p:nvSpPr>
          <p:spPr>
            <a:xfrm>
              <a:off x="5044440" y="3657600"/>
              <a:ext cx="182880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composite beam</a:t>
              </a:r>
              <a:endParaRPr lang="en-US" sz="954" dirty="0"/>
            </a:p>
          </p:txBody>
        </p:sp>
        <p:sp>
          <p:nvSpPr>
            <p:cNvPr id="135" name="Shape 126">
              <a:extLst>
                <a:ext uri="{FF2B5EF4-FFF2-40B4-BE49-F238E27FC236}">
                  <a16:creationId xmlns:a16="http://schemas.microsoft.com/office/drawing/2014/main" id="{85EA30EB-67CF-059A-D2B0-9466A200EDC3}"/>
                </a:ext>
              </a:extLst>
            </p:cNvPr>
            <p:cNvSpPr/>
            <p:nvPr/>
          </p:nvSpPr>
          <p:spPr>
            <a:xfrm>
              <a:off x="6934200" y="347472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36" name="Text 127">
              <a:extLst>
                <a:ext uri="{FF2B5EF4-FFF2-40B4-BE49-F238E27FC236}">
                  <a16:creationId xmlns:a16="http://schemas.microsoft.com/office/drawing/2014/main" id="{EBBA53BE-4BDE-AC9E-4538-0FA23E610BD2}"/>
                </a:ext>
              </a:extLst>
            </p:cNvPr>
            <p:cNvSpPr/>
            <p:nvPr/>
          </p:nvSpPr>
          <p:spPr>
            <a:xfrm>
              <a:off x="6934200" y="348996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37" name="Text 128">
              <a:extLst>
                <a:ext uri="{FF2B5EF4-FFF2-40B4-BE49-F238E27FC236}">
                  <a16:creationId xmlns:a16="http://schemas.microsoft.com/office/drawing/2014/main" id="{CFAB9143-8200-B2AA-748E-8808541066DF}"/>
                </a:ext>
              </a:extLst>
            </p:cNvPr>
            <p:cNvSpPr/>
            <p:nvPr/>
          </p:nvSpPr>
          <p:spPr>
            <a:xfrm>
              <a:off x="5044440" y="3870960"/>
              <a:ext cx="228600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Interpolation</a:t>
              </a:r>
              <a:endParaRPr lang="en-US" sz="1135" dirty="0"/>
            </a:p>
          </p:txBody>
        </p:sp>
        <p:sp>
          <p:nvSpPr>
            <p:cNvPr id="138" name="Text 129">
              <a:extLst>
                <a:ext uri="{FF2B5EF4-FFF2-40B4-BE49-F238E27FC236}">
                  <a16:creationId xmlns:a16="http://schemas.microsoft.com/office/drawing/2014/main" id="{CD10C202-E444-BC91-CDBA-915DCF0C195D}"/>
                </a:ext>
              </a:extLst>
            </p:cNvPr>
            <p:cNvSpPr/>
            <p:nvPr/>
          </p:nvSpPr>
          <p:spPr>
            <a:xfrm>
              <a:off x="5044440" y="4099560"/>
              <a:ext cx="190500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First / second order</a:t>
              </a:r>
              <a:endParaRPr lang="en-US" sz="1045" dirty="0"/>
            </a:p>
          </p:txBody>
        </p:sp>
        <p:sp>
          <p:nvSpPr>
            <p:cNvPr id="139" name="Shape 130">
              <a:extLst>
                <a:ext uri="{FF2B5EF4-FFF2-40B4-BE49-F238E27FC236}">
                  <a16:creationId xmlns:a16="http://schemas.microsoft.com/office/drawing/2014/main" id="{6048268F-60E2-FB09-06D8-9B58F5B6AD91}"/>
                </a:ext>
              </a:extLst>
            </p:cNvPr>
            <p:cNvSpPr/>
            <p:nvPr/>
          </p:nvSpPr>
          <p:spPr>
            <a:xfrm>
              <a:off x="6934200" y="411480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40" name="Text 131">
              <a:extLst>
                <a:ext uri="{FF2B5EF4-FFF2-40B4-BE49-F238E27FC236}">
                  <a16:creationId xmlns:a16="http://schemas.microsoft.com/office/drawing/2014/main" id="{EC348965-E6A2-7AF0-80E7-F1465203DB9D}"/>
                </a:ext>
              </a:extLst>
            </p:cNvPr>
            <p:cNvSpPr/>
            <p:nvPr/>
          </p:nvSpPr>
          <p:spPr>
            <a:xfrm>
              <a:off x="6934200" y="413004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41" name="Text 132">
              <a:extLst>
                <a:ext uri="{FF2B5EF4-FFF2-40B4-BE49-F238E27FC236}">
                  <a16:creationId xmlns:a16="http://schemas.microsoft.com/office/drawing/2014/main" id="{4B49C6DA-4997-6A1B-432D-C3518BDFBF5C}"/>
                </a:ext>
              </a:extLst>
            </p:cNvPr>
            <p:cNvSpPr/>
            <p:nvPr/>
          </p:nvSpPr>
          <p:spPr>
            <a:xfrm>
              <a:off x="5044440" y="4328160"/>
              <a:ext cx="137160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Mixed mesh</a:t>
              </a:r>
              <a:endParaRPr lang="en-US" sz="1135" dirty="0"/>
            </a:p>
          </p:txBody>
        </p:sp>
        <p:sp>
          <p:nvSpPr>
            <p:cNvPr id="142" name="Shape 133">
              <a:extLst>
                <a:ext uri="{FF2B5EF4-FFF2-40B4-BE49-F238E27FC236}">
                  <a16:creationId xmlns:a16="http://schemas.microsoft.com/office/drawing/2014/main" id="{E17FC6C5-331F-7A95-8B3A-B9D77C96A071}"/>
                </a:ext>
              </a:extLst>
            </p:cNvPr>
            <p:cNvSpPr/>
            <p:nvPr/>
          </p:nvSpPr>
          <p:spPr>
            <a:xfrm>
              <a:off x="6934200" y="4343400"/>
              <a:ext cx="5334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43" name="Text 134">
              <a:extLst>
                <a:ext uri="{FF2B5EF4-FFF2-40B4-BE49-F238E27FC236}">
                  <a16:creationId xmlns:a16="http://schemas.microsoft.com/office/drawing/2014/main" id="{590D8998-8665-9B00-2AF6-CD25815E9337}"/>
                </a:ext>
              </a:extLst>
            </p:cNvPr>
            <p:cNvSpPr/>
            <p:nvPr/>
          </p:nvSpPr>
          <p:spPr>
            <a:xfrm>
              <a:off x="6934200" y="4358640"/>
              <a:ext cx="5334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44" name="Text 135">
              <a:extLst>
                <a:ext uri="{FF2B5EF4-FFF2-40B4-BE49-F238E27FC236}">
                  <a16:creationId xmlns:a16="http://schemas.microsoft.com/office/drawing/2014/main" id="{64AB2F86-4952-AA50-1C54-9A66F08A9A4B}"/>
                </a:ext>
              </a:extLst>
            </p:cNvPr>
            <p:cNvSpPr/>
            <p:nvPr/>
          </p:nvSpPr>
          <p:spPr>
            <a:xfrm>
              <a:off x="5044440" y="522732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mismatch · intrinsic stress</a:t>
              </a:r>
              <a:endParaRPr lang="en-US" sz="1045" dirty="0"/>
            </a:p>
          </p:txBody>
        </p:sp>
        <p:sp>
          <p:nvSpPr>
            <p:cNvPr id="145" name="Shape 136">
              <a:extLst>
                <a:ext uri="{FF2B5EF4-FFF2-40B4-BE49-F238E27FC236}">
                  <a16:creationId xmlns:a16="http://schemas.microsoft.com/office/drawing/2014/main" id="{599E49DF-5954-A1BB-C9B0-176BB1181125}"/>
                </a:ext>
              </a:extLst>
            </p:cNvPr>
            <p:cNvSpPr/>
            <p:nvPr/>
          </p:nvSpPr>
          <p:spPr>
            <a:xfrm>
              <a:off x="8519160" y="52425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46" name="Text 137">
              <a:extLst>
                <a:ext uri="{FF2B5EF4-FFF2-40B4-BE49-F238E27FC236}">
                  <a16:creationId xmlns:a16="http://schemas.microsoft.com/office/drawing/2014/main" id="{F15760C5-878D-3BCF-A91B-2333EF553075}"/>
                </a:ext>
              </a:extLst>
            </p:cNvPr>
            <p:cNvSpPr/>
            <p:nvPr/>
          </p:nvSpPr>
          <p:spPr>
            <a:xfrm>
              <a:off x="8519160" y="525780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47" name="Text 138">
              <a:extLst>
                <a:ext uri="{FF2B5EF4-FFF2-40B4-BE49-F238E27FC236}">
                  <a16:creationId xmlns:a16="http://schemas.microsoft.com/office/drawing/2014/main" id="{CC7D1340-531D-C44D-010D-7C7F68A4BBC5}"/>
                </a:ext>
              </a:extLst>
            </p:cNvPr>
            <p:cNvSpPr/>
            <p:nvPr/>
          </p:nvSpPr>
          <p:spPr>
            <a:xfrm>
              <a:off x="5044440" y="544830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Densification</a:t>
              </a:r>
              <a:endParaRPr lang="en-US" sz="1045" dirty="0"/>
            </a:p>
          </p:txBody>
        </p:sp>
        <p:sp>
          <p:nvSpPr>
            <p:cNvPr id="148" name="Shape 139">
              <a:extLst>
                <a:ext uri="{FF2B5EF4-FFF2-40B4-BE49-F238E27FC236}">
                  <a16:creationId xmlns:a16="http://schemas.microsoft.com/office/drawing/2014/main" id="{4A65106C-80B7-0039-790A-CE77945C6AED}"/>
                </a:ext>
              </a:extLst>
            </p:cNvPr>
            <p:cNvSpPr/>
            <p:nvPr/>
          </p:nvSpPr>
          <p:spPr>
            <a:xfrm>
              <a:off x="8519160" y="54635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49" name="Text 140">
              <a:extLst>
                <a:ext uri="{FF2B5EF4-FFF2-40B4-BE49-F238E27FC236}">
                  <a16:creationId xmlns:a16="http://schemas.microsoft.com/office/drawing/2014/main" id="{9B0E0CEF-53C4-5693-8018-B13C22B48460}"/>
                </a:ext>
              </a:extLst>
            </p:cNvPr>
            <p:cNvSpPr/>
            <p:nvPr/>
          </p:nvSpPr>
          <p:spPr>
            <a:xfrm>
              <a:off x="8519160" y="54787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50" name="Text 141">
              <a:extLst>
                <a:ext uri="{FF2B5EF4-FFF2-40B4-BE49-F238E27FC236}">
                  <a16:creationId xmlns:a16="http://schemas.microsoft.com/office/drawing/2014/main" id="{A863086B-DE63-1072-D3DD-5E9C5DE676A4}"/>
                </a:ext>
              </a:extLst>
            </p:cNvPr>
            <p:cNvSpPr/>
            <p:nvPr/>
          </p:nvSpPr>
          <p:spPr>
            <a:xfrm>
              <a:off x="5044440" y="566928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Grain growth</a:t>
              </a:r>
              <a:endParaRPr lang="en-US" sz="1045" dirty="0"/>
            </a:p>
          </p:txBody>
        </p:sp>
        <p:sp>
          <p:nvSpPr>
            <p:cNvPr id="151" name="Shape 142">
              <a:extLst>
                <a:ext uri="{FF2B5EF4-FFF2-40B4-BE49-F238E27FC236}">
                  <a16:creationId xmlns:a16="http://schemas.microsoft.com/office/drawing/2014/main" id="{5332A6F0-EE30-B6D0-9D62-E6822802A711}"/>
                </a:ext>
              </a:extLst>
            </p:cNvPr>
            <p:cNvSpPr/>
            <p:nvPr/>
          </p:nvSpPr>
          <p:spPr>
            <a:xfrm>
              <a:off x="8519160" y="568452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52" name="Text 143">
              <a:extLst>
                <a:ext uri="{FF2B5EF4-FFF2-40B4-BE49-F238E27FC236}">
                  <a16:creationId xmlns:a16="http://schemas.microsoft.com/office/drawing/2014/main" id="{EAA8E546-B496-407B-6E86-1F91F6229500}"/>
                </a:ext>
              </a:extLst>
            </p:cNvPr>
            <p:cNvSpPr/>
            <p:nvPr/>
          </p:nvSpPr>
          <p:spPr>
            <a:xfrm>
              <a:off x="8519160" y="569976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53" name="Text 144">
              <a:extLst>
                <a:ext uri="{FF2B5EF4-FFF2-40B4-BE49-F238E27FC236}">
                  <a16:creationId xmlns:a16="http://schemas.microsoft.com/office/drawing/2014/main" id="{0B6134C4-E9C8-A0AD-AA4E-B90EDDB096CD}"/>
                </a:ext>
              </a:extLst>
            </p:cNvPr>
            <p:cNvSpPr/>
            <p:nvPr/>
          </p:nvSpPr>
          <p:spPr>
            <a:xfrm>
              <a:off x="5044440" y="589026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Gravity force</a:t>
              </a:r>
              <a:endParaRPr lang="en-US" sz="1045" dirty="0"/>
            </a:p>
          </p:txBody>
        </p:sp>
        <p:sp>
          <p:nvSpPr>
            <p:cNvPr id="154" name="Shape 145">
              <a:extLst>
                <a:ext uri="{FF2B5EF4-FFF2-40B4-BE49-F238E27FC236}">
                  <a16:creationId xmlns:a16="http://schemas.microsoft.com/office/drawing/2014/main" id="{5FA5D200-6585-DA03-E4BC-4807785EA563}"/>
                </a:ext>
              </a:extLst>
            </p:cNvPr>
            <p:cNvSpPr/>
            <p:nvPr/>
          </p:nvSpPr>
          <p:spPr>
            <a:xfrm>
              <a:off x="8519160" y="5905500"/>
              <a:ext cx="960120" cy="205740"/>
            </a:xfrm>
            <a:prstGeom prst="roundRect">
              <a:avLst>
                <a:gd name="adj" fmla="val 44444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155" name="Text 146">
              <a:extLst>
                <a:ext uri="{FF2B5EF4-FFF2-40B4-BE49-F238E27FC236}">
                  <a16:creationId xmlns:a16="http://schemas.microsoft.com/office/drawing/2014/main" id="{3DE608A7-8C2C-014C-8FA1-BD6F0EFB8AF5}"/>
                </a:ext>
              </a:extLst>
            </p:cNvPr>
            <p:cNvSpPr/>
            <p:nvPr/>
          </p:nvSpPr>
          <p:spPr>
            <a:xfrm>
              <a:off x="8519160" y="5920740"/>
              <a:ext cx="96012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818" dirty="0"/>
            </a:p>
          </p:txBody>
        </p:sp>
        <p:sp>
          <p:nvSpPr>
            <p:cNvPr id="156" name="Text 147">
              <a:extLst>
                <a:ext uri="{FF2B5EF4-FFF2-40B4-BE49-F238E27FC236}">
                  <a16:creationId xmlns:a16="http://schemas.microsoft.com/office/drawing/2014/main" id="{95EA603A-0AF6-8E90-2649-D3655A1C4FE6}"/>
                </a:ext>
              </a:extLst>
            </p:cNvPr>
            <p:cNvSpPr/>
            <p:nvPr/>
          </p:nvSpPr>
          <p:spPr>
            <a:xfrm>
              <a:off x="5044440" y="611124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Surface reflow force</a:t>
              </a:r>
              <a:endParaRPr lang="en-US" sz="1045" dirty="0"/>
            </a:p>
          </p:txBody>
        </p:sp>
        <p:sp>
          <p:nvSpPr>
            <p:cNvPr id="157" name="Shape 148">
              <a:extLst>
                <a:ext uri="{FF2B5EF4-FFF2-40B4-BE49-F238E27FC236}">
                  <a16:creationId xmlns:a16="http://schemas.microsoft.com/office/drawing/2014/main" id="{F4F1435D-E4C9-31DD-5936-94AB4CA60C39}"/>
                </a:ext>
              </a:extLst>
            </p:cNvPr>
            <p:cNvSpPr/>
            <p:nvPr/>
          </p:nvSpPr>
          <p:spPr>
            <a:xfrm>
              <a:off x="8519160" y="612648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58" name="Text 149">
              <a:extLst>
                <a:ext uri="{FF2B5EF4-FFF2-40B4-BE49-F238E27FC236}">
                  <a16:creationId xmlns:a16="http://schemas.microsoft.com/office/drawing/2014/main" id="{D7DDBCFD-17E4-DDB4-44DA-5ABC285D76E1}"/>
                </a:ext>
              </a:extLst>
            </p:cNvPr>
            <p:cNvSpPr/>
            <p:nvPr/>
          </p:nvSpPr>
          <p:spPr>
            <a:xfrm>
              <a:off x="8519160" y="614172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59" name="Text 150">
              <a:extLst>
                <a:ext uri="{FF2B5EF4-FFF2-40B4-BE49-F238E27FC236}">
                  <a16:creationId xmlns:a16="http://schemas.microsoft.com/office/drawing/2014/main" id="{E3554AE4-5C54-599E-93A4-43AC8F7EFCFC}"/>
                </a:ext>
              </a:extLst>
            </p:cNvPr>
            <p:cNvSpPr/>
            <p:nvPr/>
          </p:nvSpPr>
          <p:spPr>
            <a:xfrm>
              <a:off x="5044440" y="633222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Edge dislocation</a:t>
              </a:r>
              <a:endParaRPr lang="en-US" sz="1045" dirty="0"/>
            </a:p>
          </p:txBody>
        </p:sp>
        <p:sp>
          <p:nvSpPr>
            <p:cNvPr id="160" name="Shape 151">
              <a:extLst>
                <a:ext uri="{FF2B5EF4-FFF2-40B4-BE49-F238E27FC236}">
                  <a16:creationId xmlns:a16="http://schemas.microsoft.com/office/drawing/2014/main" id="{E851463A-9B54-B2D4-6BC0-2A4724C8C30E}"/>
                </a:ext>
              </a:extLst>
            </p:cNvPr>
            <p:cNvSpPr/>
            <p:nvPr/>
          </p:nvSpPr>
          <p:spPr>
            <a:xfrm>
              <a:off x="8519160" y="63474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61" name="Text 152">
              <a:extLst>
                <a:ext uri="{FF2B5EF4-FFF2-40B4-BE49-F238E27FC236}">
                  <a16:creationId xmlns:a16="http://schemas.microsoft.com/office/drawing/2014/main" id="{A26E6BCB-E5B0-90EA-323A-81F0E976A474}"/>
                </a:ext>
              </a:extLst>
            </p:cNvPr>
            <p:cNvSpPr/>
            <p:nvPr/>
          </p:nvSpPr>
          <p:spPr>
            <a:xfrm>
              <a:off x="8519160" y="636270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62" name="Text 153">
              <a:extLst>
                <a:ext uri="{FF2B5EF4-FFF2-40B4-BE49-F238E27FC236}">
                  <a16:creationId xmlns:a16="http://schemas.microsoft.com/office/drawing/2014/main" id="{27ABA447-E3CA-EB93-5316-4CF1056B1A93}"/>
                </a:ext>
              </a:extLst>
            </p:cNvPr>
            <p:cNvSpPr/>
            <p:nvPr/>
          </p:nvSpPr>
          <p:spPr>
            <a:xfrm>
              <a:off x="5044440" y="655320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Inverse piezoelectric effect</a:t>
              </a:r>
              <a:endParaRPr lang="en-US" sz="1045" dirty="0"/>
            </a:p>
          </p:txBody>
        </p:sp>
        <p:sp>
          <p:nvSpPr>
            <p:cNvPr id="163" name="Shape 154">
              <a:extLst>
                <a:ext uri="{FF2B5EF4-FFF2-40B4-BE49-F238E27FC236}">
                  <a16:creationId xmlns:a16="http://schemas.microsoft.com/office/drawing/2014/main" id="{0B5A54BA-E6EF-9593-D19A-5E34BF379BEC}"/>
                </a:ext>
              </a:extLst>
            </p:cNvPr>
            <p:cNvSpPr/>
            <p:nvPr/>
          </p:nvSpPr>
          <p:spPr>
            <a:xfrm>
              <a:off x="8519160" y="65684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64" name="Text 155">
              <a:extLst>
                <a:ext uri="{FF2B5EF4-FFF2-40B4-BE49-F238E27FC236}">
                  <a16:creationId xmlns:a16="http://schemas.microsoft.com/office/drawing/2014/main" id="{734A41D2-C5D9-AB42-2B90-157BCCB7E0E8}"/>
                </a:ext>
              </a:extLst>
            </p:cNvPr>
            <p:cNvSpPr/>
            <p:nvPr/>
          </p:nvSpPr>
          <p:spPr>
            <a:xfrm>
              <a:off x="8519160" y="65836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65" name="Text 156">
              <a:extLst>
                <a:ext uri="{FF2B5EF4-FFF2-40B4-BE49-F238E27FC236}">
                  <a16:creationId xmlns:a16="http://schemas.microsoft.com/office/drawing/2014/main" id="{92820942-392C-A1DB-0379-2FBCE5414E73}"/>
                </a:ext>
              </a:extLst>
            </p:cNvPr>
            <p:cNvSpPr/>
            <p:nvPr/>
          </p:nvSpPr>
          <p:spPr>
            <a:xfrm>
              <a:off x="5044440" y="677418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Fluid surface tension / pressure</a:t>
              </a:r>
              <a:endParaRPr lang="en-US" sz="1045" dirty="0"/>
            </a:p>
          </p:txBody>
        </p:sp>
        <p:sp>
          <p:nvSpPr>
            <p:cNvPr id="166" name="Shape 157">
              <a:extLst>
                <a:ext uri="{FF2B5EF4-FFF2-40B4-BE49-F238E27FC236}">
                  <a16:creationId xmlns:a16="http://schemas.microsoft.com/office/drawing/2014/main" id="{92D99DFE-95DD-88A7-95AD-81371E8FD126}"/>
                </a:ext>
              </a:extLst>
            </p:cNvPr>
            <p:cNvSpPr/>
            <p:nvPr/>
          </p:nvSpPr>
          <p:spPr>
            <a:xfrm>
              <a:off x="8519160" y="678942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67" name="Text 158">
              <a:extLst>
                <a:ext uri="{FF2B5EF4-FFF2-40B4-BE49-F238E27FC236}">
                  <a16:creationId xmlns:a16="http://schemas.microsoft.com/office/drawing/2014/main" id="{36EA6BD5-D014-43F6-68D1-CDD092F7DD99}"/>
                </a:ext>
              </a:extLst>
            </p:cNvPr>
            <p:cNvSpPr/>
            <p:nvPr/>
          </p:nvSpPr>
          <p:spPr>
            <a:xfrm>
              <a:off x="8519160" y="680466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68" name="Text 159">
              <a:extLst>
                <a:ext uri="{FF2B5EF4-FFF2-40B4-BE49-F238E27FC236}">
                  <a16:creationId xmlns:a16="http://schemas.microsoft.com/office/drawing/2014/main" id="{CF1EAA1E-F5A8-A321-7992-4A1B83AF5BB0}"/>
                </a:ext>
              </a:extLst>
            </p:cNvPr>
            <p:cNvSpPr/>
            <p:nvPr/>
          </p:nvSpPr>
          <p:spPr>
            <a:xfrm>
              <a:off x="5044440" y="699516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Cohesive zipping force</a:t>
              </a:r>
              <a:endParaRPr lang="en-US" sz="1045" dirty="0"/>
            </a:p>
          </p:txBody>
        </p:sp>
        <p:sp>
          <p:nvSpPr>
            <p:cNvPr id="169" name="Shape 160">
              <a:extLst>
                <a:ext uri="{FF2B5EF4-FFF2-40B4-BE49-F238E27FC236}">
                  <a16:creationId xmlns:a16="http://schemas.microsoft.com/office/drawing/2014/main" id="{4467D298-D0C2-C4A1-A565-F0D4104A3DCA}"/>
                </a:ext>
              </a:extLst>
            </p:cNvPr>
            <p:cNvSpPr/>
            <p:nvPr/>
          </p:nvSpPr>
          <p:spPr>
            <a:xfrm>
              <a:off x="8519160" y="70104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70" name="Text 161">
              <a:extLst>
                <a:ext uri="{FF2B5EF4-FFF2-40B4-BE49-F238E27FC236}">
                  <a16:creationId xmlns:a16="http://schemas.microsoft.com/office/drawing/2014/main" id="{A94AB4B8-BDF7-15C8-B3C4-731AF0C8444F}"/>
                </a:ext>
              </a:extLst>
            </p:cNvPr>
            <p:cNvSpPr/>
            <p:nvPr/>
          </p:nvSpPr>
          <p:spPr>
            <a:xfrm>
              <a:off x="8519160" y="702564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71" name="Text 162">
              <a:extLst>
                <a:ext uri="{FF2B5EF4-FFF2-40B4-BE49-F238E27FC236}">
                  <a16:creationId xmlns:a16="http://schemas.microsoft.com/office/drawing/2014/main" id="{244457EB-3A54-DB62-D089-9252D276765F}"/>
                </a:ext>
              </a:extLst>
            </p:cNvPr>
            <p:cNvSpPr/>
            <p:nvPr/>
          </p:nvSpPr>
          <p:spPr>
            <a:xfrm>
              <a:off x="5044440" y="7216140"/>
              <a:ext cx="342138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change</a:t>
              </a:r>
              <a:endParaRPr lang="en-US" sz="1045" dirty="0"/>
            </a:p>
          </p:txBody>
        </p:sp>
        <p:sp>
          <p:nvSpPr>
            <p:cNvPr id="172" name="Shape 163">
              <a:extLst>
                <a:ext uri="{FF2B5EF4-FFF2-40B4-BE49-F238E27FC236}">
                  <a16:creationId xmlns:a16="http://schemas.microsoft.com/office/drawing/2014/main" id="{3376E85D-3D5A-EE5F-5984-D1F74E1FCD60}"/>
                </a:ext>
              </a:extLst>
            </p:cNvPr>
            <p:cNvSpPr/>
            <p:nvPr/>
          </p:nvSpPr>
          <p:spPr>
            <a:xfrm>
              <a:off x="8519160" y="723138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73" name="Text 164">
              <a:extLst>
                <a:ext uri="{FF2B5EF4-FFF2-40B4-BE49-F238E27FC236}">
                  <a16:creationId xmlns:a16="http://schemas.microsoft.com/office/drawing/2014/main" id="{FEE33639-022C-1604-8A4F-4F57A7FFA5A3}"/>
                </a:ext>
              </a:extLst>
            </p:cNvPr>
            <p:cNvSpPr/>
            <p:nvPr/>
          </p:nvSpPr>
          <p:spPr>
            <a:xfrm>
              <a:off x="8519160" y="724662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74" name="Text 165">
              <a:extLst>
                <a:ext uri="{FF2B5EF4-FFF2-40B4-BE49-F238E27FC236}">
                  <a16:creationId xmlns:a16="http://schemas.microsoft.com/office/drawing/2014/main" id="{2B3C407F-B330-58E3-0085-6FA7E150356E}"/>
                </a:ext>
              </a:extLst>
            </p:cNvPr>
            <p:cNvSpPr/>
            <p:nvPr/>
          </p:nvSpPr>
          <p:spPr>
            <a:xfrm>
              <a:off x="5044440" y="7437120"/>
              <a:ext cx="3421380" cy="198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Etch / deposition stress rebalancing · etc.</a:t>
              </a:r>
              <a:endParaRPr lang="en-US" sz="908" dirty="0"/>
            </a:p>
          </p:txBody>
        </p:sp>
        <p:sp>
          <p:nvSpPr>
            <p:cNvPr id="175" name="Shape 166">
              <a:extLst>
                <a:ext uri="{FF2B5EF4-FFF2-40B4-BE49-F238E27FC236}">
                  <a16:creationId xmlns:a16="http://schemas.microsoft.com/office/drawing/2014/main" id="{211B549B-835B-7C52-17C4-5C32FC19C42C}"/>
                </a:ext>
              </a:extLst>
            </p:cNvPr>
            <p:cNvSpPr/>
            <p:nvPr/>
          </p:nvSpPr>
          <p:spPr>
            <a:xfrm>
              <a:off x="8519160" y="74523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76" name="Text 167">
              <a:extLst>
                <a:ext uri="{FF2B5EF4-FFF2-40B4-BE49-F238E27FC236}">
                  <a16:creationId xmlns:a16="http://schemas.microsoft.com/office/drawing/2014/main" id="{C16E71F0-44B7-2806-E589-85573C536138}"/>
                </a:ext>
              </a:extLst>
            </p:cNvPr>
            <p:cNvSpPr/>
            <p:nvPr/>
          </p:nvSpPr>
          <p:spPr>
            <a:xfrm>
              <a:off x="8519160" y="746760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77" name="Text 168">
              <a:extLst>
                <a:ext uri="{FF2B5EF4-FFF2-40B4-BE49-F238E27FC236}">
                  <a16:creationId xmlns:a16="http://schemas.microsoft.com/office/drawing/2014/main" id="{AE4AA270-D130-741E-FE35-45E8B4B8F9BF}"/>
                </a:ext>
              </a:extLst>
            </p:cNvPr>
            <p:cNvSpPr/>
            <p:nvPr/>
          </p:nvSpPr>
          <p:spPr>
            <a:xfrm>
              <a:off x="9921240" y="2004060"/>
              <a:ext cx="408432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Geometric nonlinearity</a:t>
              </a:r>
              <a:endParaRPr lang="en-US" sz="1135" dirty="0"/>
            </a:p>
          </p:txBody>
        </p:sp>
        <p:sp>
          <p:nvSpPr>
            <p:cNvPr id="178" name="Text 169">
              <a:extLst>
                <a:ext uri="{FF2B5EF4-FFF2-40B4-BE49-F238E27FC236}">
                  <a16:creationId xmlns:a16="http://schemas.microsoft.com/office/drawing/2014/main" id="{950832F6-CE50-5F50-790C-308A45A3D3E3}"/>
                </a:ext>
              </a:extLst>
            </p:cNvPr>
            <p:cNvSpPr/>
            <p:nvPr/>
          </p:nvSpPr>
          <p:spPr>
            <a:xfrm>
              <a:off x="9921240" y="2270760"/>
              <a:ext cx="408432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Large deformation and rotation</a:t>
              </a:r>
              <a:endParaRPr lang="en-US" sz="1090" dirty="0"/>
            </a:p>
          </p:txBody>
        </p:sp>
        <p:sp>
          <p:nvSpPr>
            <p:cNvPr id="179" name="Shape 170">
              <a:extLst>
                <a:ext uri="{FF2B5EF4-FFF2-40B4-BE49-F238E27FC236}">
                  <a16:creationId xmlns:a16="http://schemas.microsoft.com/office/drawing/2014/main" id="{89AB7B16-6C8D-66C2-A45A-9E72554B4DF3}"/>
                </a:ext>
              </a:extLst>
            </p:cNvPr>
            <p:cNvSpPr/>
            <p:nvPr/>
          </p:nvSpPr>
          <p:spPr>
            <a:xfrm>
              <a:off x="13342620" y="22860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80" name="Text 171">
              <a:extLst>
                <a:ext uri="{FF2B5EF4-FFF2-40B4-BE49-F238E27FC236}">
                  <a16:creationId xmlns:a16="http://schemas.microsoft.com/office/drawing/2014/main" id="{D4AEFC9D-4C3A-3E14-1E71-51FEBAD6B106}"/>
                </a:ext>
              </a:extLst>
            </p:cNvPr>
            <p:cNvSpPr/>
            <p:nvPr/>
          </p:nvSpPr>
          <p:spPr>
            <a:xfrm>
              <a:off x="13342620" y="230124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81" name="Text 172">
              <a:extLst>
                <a:ext uri="{FF2B5EF4-FFF2-40B4-BE49-F238E27FC236}">
                  <a16:creationId xmlns:a16="http://schemas.microsoft.com/office/drawing/2014/main" id="{12B96D7A-314D-D42F-CB29-DB1BD0AD7543}"/>
                </a:ext>
              </a:extLst>
            </p:cNvPr>
            <p:cNvSpPr/>
            <p:nvPr/>
          </p:nvSpPr>
          <p:spPr>
            <a:xfrm>
              <a:off x="9921240" y="3764280"/>
              <a:ext cx="408432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Boundary &amp; interface nonlinearity</a:t>
              </a:r>
              <a:endParaRPr lang="en-US" sz="1135" dirty="0"/>
            </a:p>
          </p:txBody>
        </p:sp>
        <p:sp>
          <p:nvSpPr>
            <p:cNvPr id="182" name="Text 173">
              <a:extLst>
                <a:ext uri="{FF2B5EF4-FFF2-40B4-BE49-F238E27FC236}">
                  <a16:creationId xmlns:a16="http://schemas.microsoft.com/office/drawing/2014/main" id="{23E6F2CE-DBAC-5346-CB4D-B967B83C6A15}"/>
                </a:ext>
              </a:extLst>
            </p:cNvPr>
            <p:cNvSpPr/>
            <p:nvPr/>
          </p:nvSpPr>
          <p:spPr>
            <a:xfrm>
              <a:off x="9921240" y="4099560"/>
              <a:ext cx="251460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Mechanical contact</a:t>
              </a:r>
              <a:endParaRPr lang="en-US" sz="1090" dirty="0"/>
            </a:p>
          </p:txBody>
        </p:sp>
        <p:sp>
          <p:nvSpPr>
            <p:cNvPr id="183" name="Shape 174">
              <a:extLst>
                <a:ext uri="{FF2B5EF4-FFF2-40B4-BE49-F238E27FC236}">
                  <a16:creationId xmlns:a16="http://schemas.microsoft.com/office/drawing/2014/main" id="{3C1EC487-2B58-DFA6-10DF-C0A2D2697C4B}"/>
                </a:ext>
              </a:extLst>
            </p:cNvPr>
            <p:cNvSpPr/>
            <p:nvPr/>
          </p:nvSpPr>
          <p:spPr>
            <a:xfrm>
              <a:off x="13342620" y="41148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84" name="Text 175">
              <a:extLst>
                <a:ext uri="{FF2B5EF4-FFF2-40B4-BE49-F238E27FC236}">
                  <a16:creationId xmlns:a16="http://schemas.microsoft.com/office/drawing/2014/main" id="{884537C4-0AFE-58C1-F4D3-16F86BD49E5D}"/>
                </a:ext>
              </a:extLst>
            </p:cNvPr>
            <p:cNvSpPr/>
            <p:nvPr/>
          </p:nvSpPr>
          <p:spPr>
            <a:xfrm>
              <a:off x="13342620" y="413004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85" name="Text 176">
              <a:extLst>
                <a:ext uri="{FF2B5EF4-FFF2-40B4-BE49-F238E27FC236}">
                  <a16:creationId xmlns:a16="http://schemas.microsoft.com/office/drawing/2014/main" id="{BFCAA773-2567-EA0C-13FE-03E5B7CCD286}"/>
                </a:ext>
              </a:extLst>
            </p:cNvPr>
            <p:cNvSpPr/>
            <p:nvPr/>
          </p:nvSpPr>
          <p:spPr>
            <a:xfrm>
              <a:off x="9921240" y="4419600"/>
              <a:ext cx="2514600" cy="23774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Crack analysis</a:t>
              </a:r>
              <a:endParaRPr lang="en-US" sz="1090" dirty="0"/>
            </a:p>
          </p:txBody>
        </p:sp>
        <p:sp>
          <p:nvSpPr>
            <p:cNvPr id="186" name="Shape 177">
              <a:extLst>
                <a:ext uri="{FF2B5EF4-FFF2-40B4-BE49-F238E27FC236}">
                  <a16:creationId xmlns:a16="http://schemas.microsoft.com/office/drawing/2014/main" id="{6F08AAE1-0ED4-3762-5881-4542C627E64D}"/>
                </a:ext>
              </a:extLst>
            </p:cNvPr>
            <p:cNvSpPr/>
            <p:nvPr/>
          </p:nvSpPr>
          <p:spPr>
            <a:xfrm>
              <a:off x="13342620" y="44348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EEF0F3"/>
            </a:solidFill>
            <a:ln w="10160">
              <a:solidFill>
                <a:srgbClr val="596575"/>
              </a:solidFill>
              <a:prstDash val="solid"/>
            </a:ln>
          </p:spPr>
        </p:sp>
        <p:sp>
          <p:nvSpPr>
            <p:cNvPr id="187" name="Text 178">
              <a:extLst>
                <a:ext uri="{FF2B5EF4-FFF2-40B4-BE49-F238E27FC236}">
                  <a16:creationId xmlns:a16="http://schemas.microsoft.com/office/drawing/2014/main" id="{DFAED749-7553-63E6-40AF-BEB5FCCD430E}"/>
                </a:ext>
              </a:extLst>
            </p:cNvPr>
            <p:cNvSpPr/>
            <p:nvPr/>
          </p:nvSpPr>
          <p:spPr>
            <a:xfrm>
              <a:off x="13342620" y="44500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59657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</a:t>
              </a:r>
              <a:endParaRPr lang="en-US" sz="818" dirty="0"/>
            </a:p>
          </p:txBody>
        </p:sp>
        <p:sp>
          <p:nvSpPr>
            <p:cNvPr id="188" name="Text 179">
              <a:extLst>
                <a:ext uri="{FF2B5EF4-FFF2-40B4-BE49-F238E27FC236}">
                  <a16:creationId xmlns:a16="http://schemas.microsoft.com/office/drawing/2014/main" id="{80383255-CC5C-209B-406E-D1120B150291}"/>
                </a:ext>
              </a:extLst>
            </p:cNvPr>
            <p:cNvSpPr/>
            <p:nvPr/>
          </p:nvSpPr>
          <p:spPr>
            <a:xfrm>
              <a:off x="9921240" y="4754880"/>
              <a:ext cx="4084320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35" b="1" dirty="0">
                  <a:solidFill>
                    <a:srgbClr val="167D8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Material nonlinearity</a:t>
              </a:r>
              <a:endParaRPr lang="en-US" sz="1135" dirty="0"/>
            </a:p>
          </p:txBody>
        </p:sp>
        <p:sp>
          <p:nvSpPr>
            <p:cNvPr id="189" name="Text 180">
              <a:extLst>
                <a:ext uri="{FF2B5EF4-FFF2-40B4-BE49-F238E27FC236}">
                  <a16:creationId xmlns:a16="http://schemas.microsoft.com/office/drawing/2014/main" id="{8746665C-C1E7-BE77-D4D6-3E5AB1D6DB4E}"/>
                </a:ext>
              </a:extLst>
            </p:cNvPr>
            <p:cNvSpPr/>
            <p:nvPr/>
          </p:nvSpPr>
          <p:spPr>
            <a:xfrm>
              <a:off x="9921240" y="5013960"/>
              <a:ext cx="4084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see material models</a:t>
              </a:r>
              <a:endParaRPr lang="en-US" sz="1045" dirty="0"/>
            </a:p>
          </p:txBody>
        </p:sp>
        <p:sp>
          <p:nvSpPr>
            <p:cNvPr id="190" name="Text 181">
              <a:extLst>
                <a:ext uri="{FF2B5EF4-FFF2-40B4-BE49-F238E27FC236}">
                  <a16:creationId xmlns:a16="http://schemas.microsoft.com/office/drawing/2014/main" id="{3D40B0A6-7D47-4FCA-145E-4B1BC0FBA438}"/>
                </a:ext>
              </a:extLst>
            </p:cNvPr>
            <p:cNvSpPr/>
            <p:nvPr/>
          </p:nvSpPr>
          <p:spPr>
            <a:xfrm>
              <a:off x="9921240" y="5958840"/>
              <a:ext cx="3322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Prescribed displacement</a:t>
              </a:r>
              <a:endParaRPr lang="en-US" sz="1045" dirty="0"/>
            </a:p>
          </p:txBody>
        </p:sp>
        <p:sp>
          <p:nvSpPr>
            <p:cNvPr id="191" name="Shape 182">
              <a:extLst>
                <a:ext uri="{FF2B5EF4-FFF2-40B4-BE49-F238E27FC236}">
                  <a16:creationId xmlns:a16="http://schemas.microsoft.com/office/drawing/2014/main" id="{2810F361-1E2A-841A-F1F8-D4D0C80D2820}"/>
                </a:ext>
              </a:extLst>
            </p:cNvPr>
            <p:cNvSpPr/>
            <p:nvPr/>
          </p:nvSpPr>
          <p:spPr>
            <a:xfrm>
              <a:off x="13342620" y="597408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92" name="Text 183">
              <a:extLst>
                <a:ext uri="{FF2B5EF4-FFF2-40B4-BE49-F238E27FC236}">
                  <a16:creationId xmlns:a16="http://schemas.microsoft.com/office/drawing/2014/main" id="{40E28075-8153-93AF-1BC7-3428BF32EF61}"/>
                </a:ext>
              </a:extLst>
            </p:cNvPr>
            <p:cNvSpPr/>
            <p:nvPr/>
          </p:nvSpPr>
          <p:spPr>
            <a:xfrm>
              <a:off x="13342620" y="598932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93" name="Text 184">
              <a:extLst>
                <a:ext uri="{FF2B5EF4-FFF2-40B4-BE49-F238E27FC236}">
                  <a16:creationId xmlns:a16="http://schemas.microsoft.com/office/drawing/2014/main" id="{6DB8006F-2BE1-50D4-FCB9-5F698927ED63}"/>
                </a:ext>
              </a:extLst>
            </p:cNvPr>
            <p:cNvSpPr/>
            <p:nvPr/>
          </p:nvSpPr>
          <p:spPr>
            <a:xfrm>
              <a:off x="9921240" y="6172200"/>
              <a:ext cx="3322320" cy="20802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4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Displacement rate · traction · pressure</a:t>
              </a:r>
              <a:endParaRPr lang="en-US" sz="954" dirty="0"/>
            </a:p>
          </p:txBody>
        </p:sp>
        <p:sp>
          <p:nvSpPr>
            <p:cNvPr id="194" name="Shape 185">
              <a:extLst>
                <a:ext uri="{FF2B5EF4-FFF2-40B4-BE49-F238E27FC236}">
                  <a16:creationId xmlns:a16="http://schemas.microsoft.com/office/drawing/2014/main" id="{DD3072EF-9F92-0CF0-8471-116BC569C510}"/>
                </a:ext>
              </a:extLst>
            </p:cNvPr>
            <p:cNvSpPr/>
            <p:nvPr/>
          </p:nvSpPr>
          <p:spPr>
            <a:xfrm>
              <a:off x="13342620" y="61874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95" name="Text 186">
              <a:extLst>
                <a:ext uri="{FF2B5EF4-FFF2-40B4-BE49-F238E27FC236}">
                  <a16:creationId xmlns:a16="http://schemas.microsoft.com/office/drawing/2014/main" id="{D6C5E8CD-4546-0420-4D6E-970F6756506F}"/>
                </a:ext>
              </a:extLst>
            </p:cNvPr>
            <p:cNvSpPr/>
            <p:nvPr/>
          </p:nvSpPr>
          <p:spPr>
            <a:xfrm>
              <a:off x="13342620" y="62026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96" name="Text 187">
              <a:extLst>
                <a:ext uri="{FF2B5EF4-FFF2-40B4-BE49-F238E27FC236}">
                  <a16:creationId xmlns:a16="http://schemas.microsoft.com/office/drawing/2014/main" id="{E1C27654-2EEB-E7CD-20B9-D3D25464942F}"/>
                </a:ext>
              </a:extLst>
            </p:cNvPr>
            <p:cNvSpPr/>
            <p:nvPr/>
          </p:nvSpPr>
          <p:spPr>
            <a:xfrm>
              <a:off x="9921240" y="6385560"/>
              <a:ext cx="3322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Point force</a:t>
              </a:r>
              <a:endParaRPr lang="en-US" sz="1045" dirty="0"/>
            </a:p>
          </p:txBody>
        </p:sp>
        <p:sp>
          <p:nvSpPr>
            <p:cNvPr id="197" name="Shape 188">
              <a:extLst>
                <a:ext uri="{FF2B5EF4-FFF2-40B4-BE49-F238E27FC236}">
                  <a16:creationId xmlns:a16="http://schemas.microsoft.com/office/drawing/2014/main" id="{B91BF061-47D6-87C3-B0DE-57A554AD1FF3}"/>
                </a:ext>
              </a:extLst>
            </p:cNvPr>
            <p:cNvSpPr/>
            <p:nvPr/>
          </p:nvSpPr>
          <p:spPr>
            <a:xfrm>
              <a:off x="13342620" y="64008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DDF1E9"/>
            </a:solidFill>
            <a:ln w="10160">
              <a:solidFill>
                <a:srgbClr val="206D55"/>
              </a:solidFill>
              <a:prstDash val="solid"/>
            </a:ln>
          </p:spPr>
        </p:sp>
        <p:sp>
          <p:nvSpPr>
            <p:cNvPr id="198" name="Text 189">
              <a:extLst>
                <a:ext uri="{FF2B5EF4-FFF2-40B4-BE49-F238E27FC236}">
                  <a16:creationId xmlns:a16="http://schemas.microsoft.com/office/drawing/2014/main" id="{08541C08-764B-D410-FE03-D90BAF9A6D30}"/>
                </a:ext>
              </a:extLst>
            </p:cNvPr>
            <p:cNvSpPr/>
            <p:nvPr/>
          </p:nvSpPr>
          <p:spPr>
            <a:xfrm>
              <a:off x="13342620" y="641604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206D5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LCA</a:t>
              </a:r>
              <a:endParaRPr lang="en-US" sz="818" dirty="0"/>
            </a:p>
          </p:txBody>
        </p:sp>
        <p:sp>
          <p:nvSpPr>
            <p:cNvPr id="199" name="Text 190">
              <a:extLst>
                <a:ext uri="{FF2B5EF4-FFF2-40B4-BE49-F238E27FC236}">
                  <a16:creationId xmlns:a16="http://schemas.microsoft.com/office/drawing/2014/main" id="{84B95059-D582-6EED-DBD6-18BA2091F4EC}"/>
                </a:ext>
              </a:extLst>
            </p:cNvPr>
            <p:cNvSpPr/>
            <p:nvPr/>
          </p:nvSpPr>
          <p:spPr>
            <a:xfrm>
              <a:off x="9921240" y="6598920"/>
              <a:ext cx="3322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Moment · symmetry</a:t>
              </a:r>
              <a:endParaRPr lang="en-US" sz="1045" dirty="0"/>
            </a:p>
          </p:txBody>
        </p:sp>
        <p:sp>
          <p:nvSpPr>
            <p:cNvPr id="200" name="Shape 191">
              <a:extLst>
                <a:ext uri="{FF2B5EF4-FFF2-40B4-BE49-F238E27FC236}">
                  <a16:creationId xmlns:a16="http://schemas.microsoft.com/office/drawing/2014/main" id="{360121E3-2AC9-0EF6-2001-A1C770CC678B}"/>
                </a:ext>
              </a:extLst>
            </p:cNvPr>
            <p:cNvSpPr/>
            <p:nvPr/>
          </p:nvSpPr>
          <p:spPr>
            <a:xfrm>
              <a:off x="13342620" y="66141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201" name="Text 192">
              <a:extLst>
                <a:ext uri="{FF2B5EF4-FFF2-40B4-BE49-F238E27FC236}">
                  <a16:creationId xmlns:a16="http://schemas.microsoft.com/office/drawing/2014/main" id="{6583C36E-4043-226B-823A-6F9E52E1D422}"/>
                </a:ext>
              </a:extLst>
            </p:cNvPr>
            <p:cNvSpPr/>
            <p:nvPr/>
          </p:nvSpPr>
          <p:spPr>
            <a:xfrm>
              <a:off x="13342620" y="662940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202" name="Text 193">
              <a:extLst>
                <a:ext uri="{FF2B5EF4-FFF2-40B4-BE49-F238E27FC236}">
                  <a16:creationId xmlns:a16="http://schemas.microsoft.com/office/drawing/2014/main" id="{B588D4A4-87D0-A9C6-85FC-02EE06FC4D05}"/>
                </a:ext>
              </a:extLst>
            </p:cNvPr>
            <p:cNvSpPr/>
            <p:nvPr/>
          </p:nvSpPr>
          <p:spPr>
            <a:xfrm>
              <a:off x="9921240" y="6812280"/>
              <a:ext cx="3322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Periodic boundary condition</a:t>
              </a:r>
              <a:endParaRPr lang="en-US" sz="1045" dirty="0"/>
            </a:p>
          </p:txBody>
        </p:sp>
        <p:sp>
          <p:nvSpPr>
            <p:cNvPr id="203" name="Shape 194">
              <a:extLst>
                <a:ext uri="{FF2B5EF4-FFF2-40B4-BE49-F238E27FC236}">
                  <a16:creationId xmlns:a16="http://schemas.microsoft.com/office/drawing/2014/main" id="{C231F5FD-9ED9-CD76-B7F9-020C4942875A}"/>
                </a:ext>
              </a:extLst>
            </p:cNvPr>
            <p:cNvSpPr/>
            <p:nvPr/>
          </p:nvSpPr>
          <p:spPr>
            <a:xfrm>
              <a:off x="13342620" y="682752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204" name="Text 195">
              <a:extLst>
                <a:ext uri="{FF2B5EF4-FFF2-40B4-BE49-F238E27FC236}">
                  <a16:creationId xmlns:a16="http://schemas.microsoft.com/office/drawing/2014/main" id="{99D29060-CAC0-8647-5E20-8AD7F7FAB37D}"/>
                </a:ext>
              </a:extLst>
            </p:cNvPr>
            <p:cNvSpPr/>
            <p:nvPr/>
          </p:nvSpPr>
          <p:spPr>
            <a:xfrm>
              <a:off x="13342620" y="684276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205" name="Text 196">
              <a:extLst>
                <a:ext uri="{FF2B5EF4-FFF2-40B4-BE49-F238E27FC236}">
                  <a16:creationId xmlns:a16="http://schemas.microsoft.com/office/drawing/2014/main" id="{172E8F00-18F6-E6AB-68FA-96B30B6ECCBB}"/>
                </a:ext>
              </a:extLst>
            </p:cNvPr>
            <p:cNvSpPr/>
            <p:nvPr/>
          </p:nvSpPr>
          <p:spPr>
            <a:xfrm>
              <a:off x="9921240" y="7025640"/>
              <a:ext cx="3322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Coupling boundary condition</a:t>
              </a:r>
              <a:endParaRPr lang="en-US" sz="1045" dirty="0"/>
            </a:p>
          </p:txBody>
        </p:sp>
        <p:sp>
          <p:nvSpPr>
            <p:cNvPr id="206" name="Shape 197">
              <a:extLst>
                <a:ext uri="{FF2B5EF4-FFF2-40B4-BE49-F238E27FC236}">
                  <a16:creationId xmlns:a16="http://schemas.microsoft.com/office/drawing/2014/main" id="{15EB26F0-D249-FB2D-65B2-3A04300BA719}"/>
                </a:ext>
              </a:extLst>
            </p:cNvPr>
            <p:cNvSpPr/>
            <p:nvPr/>
          </p:nvSpPr>
          <p:spPr>
            <a:xfrm>
              <a:off x="13342620" y="704088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207" name="Text 198">
              <a:extLst>
                <a:ext uri="{FF2B5EF4-FFF2-40B4-BE49-F238E27FC236}">
                  <a16:creationId xmlns:a16="http://schemas.microsoft.com/office/drawing/2014/main" id="{38BACF5D-6BCF-1E19-ABFE-25D229B7810B}"/>
                </a:ext>
              </a:extLst>
            </p:cNvPr>
            <p:cNvSpPr/>
            <p:nvPr/>
          </p:nvSpPr>
          <p:spPr>
            <a:xfrm>
              <a:off x="13342620" y="705612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208" name="Text 199">
              <a:extLst>
                <a:ext uri="{FF2B5EF4-FFF2-40B4-BE49-F238E27FC236}">
                  <a16:creationId xmlns:a16="http://schemas.microsoft.com/office/drawing/2014/main" id="{5FD4A9CD-8E08-0762-9D6E-71BC7A4D09A2}"/>
                </a:ext>
              </a:extLst>
            </p:cNvPr>
            <p:cNvSpPr/>
            <p:nvPr/>
          </p:nvSpPr>
          <p:spPr>
            <a:xfrm>
              <a:off x="9921240" y="7239000"/>
              <a:ext cx="3322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Beam-plate coupling</a:t>
              </a:r>
              <a:endParaRPr lang="en-US" sz="1045" dirty="0"/>
            </a:p>
          </p:txBody>
        </p:sp>
        <p:sp>
          <p:nvSpPr>
            <p:cNvPr id="209" name="Shape 200">
              <a:extLst>
                <a:ext uri="{FF2B5EF4-FFF2-40B4-BE49-F238E27FC236}">
                  <a16:creationId xmlns:a16="http://schemas.microsoft.com/office/drawing/2014/main" id="{667D720B-4637-FB9E-55B2-7C1DD9D412E5}"/>
                </a:ext>
              </a:extLst>
            </p:cNvPr>
            <p:cNvSpPr/>
            <p:nvPr/>
          </p:nvSpPr>
          <p:spPr>
            <a:xfrm>
              <a:off x="13342620" y="72542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210" name="Text 201">
              <a:extLst>
                <a:ext uri="{FF2B5EF4-FFF2-40B4-BE49-F238E27FC236}">
                  <a16:creationId xmlns:a16="http://schemas.microsoft.com/office/drawing/2014/main" id="{F04381F5-9155-0B0B-A7C9-75F0323E021B}"/>
                </a:ext>
              </a:extLst>
            </p:cNvPr>
            <p:cNvSpPr/>
            <p:nvPr/>
          </p:nvSpPr>
          <p:spPr>
            <a:xfrm>
              <a:off x="13342620" y="726948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211" name="Text 202">
              <a:extLst>
                <a:ext uri="{FF2B5EF4-FFF2-40B4-BE49-F238E27FC236}">
                  <a16:creationId xmlns:a16="http://schemas.microsoft.com/office/drawing/2014/main" id="{A6C64B89-1590-72A6-1F0D-5281CFB6F660}"/>
                </a:ext>
              </a:extLst>
            </p:cNvPr>
            <p:cNvSpPr/>
            <p:nvPr/>
          </p:nvSpPr>
          <p:spPr>
            <a:xfrm>
              <a:off x="9921240" y="7452360"/>
              <a:ext cx="3322320" cy="2278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5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Variable boundary conditions</a:t>
              </a:r>
              <a:endParaRPr lang="en-US" sz="1045" dirty="0"/>
            </a:p>
          </p:txBody>
        </p:sp>
        <p:sp>
          <p:nvSpPr>
            <p:cNvPr id="212" name="Shape 203">
              <a:extLst>
                <a:ext uri="{FF2B5EF4-FFF2-40B4-BE49-F238E27FC236}">
                  <a16:creationId xmlns:a16="http://schemas.microsoft.com/office/drawing/2014/main" id="{09E8F723-01D2-7AF2-7B6B-91E95625AC7A}"/>
                </a:ext>
              </a:extLst>
            </p:cNvPr>
            <p:cNvSpPr/>
            <p:nvPr/>
          </p:nvSpPr>
          <p:spPr>
            <a:xfrm>
              <a:off x="13342620" y="74676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213" name="Text 204">
              <a:extLst>
                <a:ext uri="{FF2B5EF4-FFF2-40B4-BE49-F238E27FC236}">
                  <a16:creationId xmlns:a16="http://schemas.microsoft.com/office/drawing/2014/main" id="{0D03D7A8-0B0C-9111-288A-E1850A53DA33}"/>
                </a:ext>
              </a:extLst>
            </p:cNvPr>
            <p:cNvSpPr/>
            <p:nvPr/>
          </p:nvSpPr>
          <p:spPr>
            <a:xfrm>
              <a:off x="13342620" y="7482840"/>
              <a:ext cx="609600" cy="1783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</p:grpSp>
    </p:spTree>
    <p:extLst>
      <p:ext uri="{BB962C8B-B14F-4D97-AF65-F5344CB8AC3E}">
        <p14:creationId xmlns:p14="http://schemas.microsoft.com/office/powerpoint/2010/main" val="324552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C93311D4-B6FD-EACE-DD5B-54D17F1A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Thermal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F542608-7D92-E171-8537-D43CCADA401B}"/>
              </a:ext>
            </a:extLst>
          </p:cNvPr>
          <p:cNvGrpSpPr>
            <a:grpSpLocks noChangeAspect="1"/>
          </p:cNvGrpSpPr>
          <p:nvPr/>
        </p:nvGrpSpPr>
        <p:grpSpPr>
          <a:xfrm>
            <a:off x="671921" y="150934"/>
            <a:ext cx="11152547" cy="5811716"/>
            <a:chOff x="457200" y="609600"/>
            <a:chExt cx="13716000" cy="7147560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D6B91E8C-632A-D159-79D6-10C32EB54B22}"/>
                </a:ext>
              </a:extLst>
            </p:cNvPr>
            <p:cNvSpPr/>
            <p:nvPr/>
          </p:nvSpPr>
          <p:spPr>
            <a:xfrm>
              <a:off x="4953000" y="678180"/>
              <a:ext cx="914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1920" dirty="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CA554292-9911-65E9-ECF2-4A99524E2072}"/>
                </a:ext>
              </a:extLst>
            </p:cNvPr>
            <p:cNvSpPr/>
            <p:nvPr/>
          </p:nvSpPr>
          <p:spPr>
            <a:xfrm>
              <a:off x="4953000" y="609600"/>
              <a:ext cx="91440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Comprehensive thermal physics support</a:t>
              </a:r>
              <a:endParaRPr lang="en-US" sz="1363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F6D6137A-3617-3CB1-0284-E6CB080E063C}"/>
                </a:ext>
              </a:extLst>
            </p:cNvPr>
            <p:cNvSpPr/>
            <p:nvPr/>
          </p:nvSpPr>
          <p:spPr>
            <a:xfrm>
              <a:off x="4953000" y="929640"/>
              <a:ext cx="91440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Steady-state &amp; transient · conduction, convection and radiation</a:t>
              </a:r>
              <a:endParaRPr lang="en-US" sz="1363" dirty="0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417BDC5-F4BD-5865-475B-492FA0A8D753}"/>
                </a:ext>
              </a:extLst>
            </p:cNvPr>
            <p:cNvSpPr/>
            <p:nvPr/>
          </p:nvSpPr>
          <p:spPr>
            <a:xfrm>
              <a:off x="457200" y="1478280"/>
              <a:ext cx="6705600" cy="975360"/>
            </a:xfrm>
            <a:prstGeom prst="roundRect">
              <a:avLst>
                <a:gd name="adj" fmla="val 9375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FD9B6AB6-AE87-B594-6A5A-27451F24104E}"/>
                </a:ext>
              </a:extLst>
            </p:cNvPr>
            <p:cNvSpPr/>
            <p:nvPr/>
          </p:nvSpPr>
          <p:spPr>
            <a:xfrm>
              <a:off x="624840" y="1615440"/>
              <a:ext cx="6370320" cy="3703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35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Analysis methods</a:t>
              </a:r>
              <a:endParaRPr lang="en-US" sz="1635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6A535697-4CA6-AAE1-7E8B-7645F8A4CBE4}"/>
                </a:ext>
              </a:extLst>
            </p:cNvPr>
            <p:cNvSpPr/>
            <p:nvPr/>
          </p:nvSpPr>
          <p:spPr>
            <a:xfrm>
              <a:off x="6385560" y="16611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A2FE95E7-5ED8-A50D-9002-073A639262F9}"/>
                </a:ext>
              </a:extLst>
            </p:cNvPr>
            <p:cNvSpPr/>
            <p:nvPr/>
          </p:nvSpPr>
          <p:spPr>
            <a:xfrm>
              <a:off x="6385560" y="167640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C5D7FF00-84A5-27EA-AB48-C9C4392DB301}"/>
                </a:ext>
              </a:extLst>
            </p:cNvPr>
            <p:cNvSpPr/>
            <p:nvPr/>
          </p:nvSpPr>
          <p:spPr>
            <a:xfrm>
              <a:off x="624840" y="1988820"/>
              <a:ext cx="63703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Steady-state · Transient</a:t>
              </a:r>
              <a:endParaRPr lang="en-US" sz="1453" dirty="0"/>
            </a:p>
          </p:txBody>
        </p:sp>
        <p:sp>
          <p:nvSpPr>
            <p:cNvPr id="12" name="Shape 9">
              <a:extLst>
                <a:ext uri="{FF2B5EF4-FFF2-40B4-BE49-F238E27FC236}">
                  <a16:creationId xmlns:a16="http://schemas.microsoft.com/office/drawing/2014/main" id="{4EA88C93-671B-451C-39B5-F0CD58602DAE}"/>
                </a:ext>
              </a:extLst>
            </p:cNvPr>
            <p:cNvSpPr/>
            <p:nvPr/>
          </p:nvSpPr>
          <p:spPr>
            <a:xfrm>
              <a:off x="457200" y="2606040"/>
              <a:ext cx="6705600" cy="2773680"/>
            </a:xfrm>
            <a:prstGeom prst="roundRect">
              <a:avLst>
                <a:gd name="adj" fmla="val 329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3FC4B4DE-ECB5-E16B-687D-5E47A3D085E4}"/>
                </a:ext>
              </a:extLst>
            </p:cNvPr>
            <p:cNvSpPr/>
            <p:nvPr/>
          </p:nvSpPr>
          <p:spPr>
            <a:xfrm>
              <a:off x="624840" y="2743200"/>
              <a:ext cx="6370320" cy="3703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35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Heat transfer mechanisms</a:t>
              </a:r>
              <a:endParaRPr lang="en-US" sz="1635" dirty="0"/>
            </a:p>
          </p:txBody>
        </p:sp>
        <p:sp>
          <p:nvSpPr>
            <p:cNvPr id="14" name="Shape 11">
              <a:extLst>
                <a:ext uri="{FF2B5EF4-FFF2-40B4-BE49-F238E27FC236}">
                  <a16:creationId xmlns:a16="http://schemas.microsoft.com/office/drawing/2014/main" id="{A1A20887-661C-C1B8-81F2-8FF0947EA17B}"/>
                </a:ext>
              </a:extLst>
            </p:cNvPr>
            <p:cNvSpPr/>
            <p:nvPr/>
          </p:nvSpPr>
          <p:spPr>
            <a:xfrm>
              <a:off x="6385560" y="278892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6ABA1FC0-3698-DF48-0EC8-33BCFF8FD8A1}"/>
                </a:ext>
              </a:extLst>
            </p:cNvPr>
            <p:cNvSpPr/>
            <p:nvPr/>
          </p:nvSpPr>
          <p:spPr>
            <a:xfrm>
              <a:off x="6385560" y="280416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39AEE661-51BB-57D1-9009-3C43CB44B244}"/>
                </a:ext>
              </a:extLst>
            </p:cNvPr>
            <p:cNvSpPr/>
            <p:nvPr/>
          </p:nvSpPr>
          <p:spPr>
            <a:xfrm>
              <a:off x="624840" y="3116580"/>
              <a:ext cx="63703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Conduction</a:t>
              </a:r>
              <a:endParaRPr lang="en-US" sz="1453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73892B5B-6571-0AC5-E061-C84D04706C0D}"/>
                </a:ext>
              </a:extLst>
            </p:cNvPr>
            <p:cNvSpPr/>
            <p:nvPr/>
          </p:nvSpPr>
          <p:spPr>
            <a:xfrm>
              <a:off x="624840" y="3406140"/>
              <a:ext cx="63703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Heat flow within and between materials</a:t>
              </a:r>
              <a:endParaRPr lang="en-US" sz="1363" dirty="0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B5DFC361-F0CB-3382-F700-2729236FEBB2}"/>
                </a:ext>
              </a:extLst>
            </p:cNvPr>
            <p:cNvSpPr/>
            <p:nvPr/>
          </p:nvSpPr>
          <p:spPr>
            <a:xfrm>
              <a:off x="624840" y="3749040"/>
              <a:ext cx="63703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Convection</a:t>
              </a:r>
              <a:endParaRPr lang="en-US" sz="1453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9D6EB977-12DB-20E4-7CF8-6AA680ADF2FF}"/>
                </a:ext>
              </a:extLst>
            </p:cNvPr>
            <p:cNvSpPr/>
            <p:nvPr/>
          </p:nvSpPr>
          <p:spPr>
            <a:xfrm>
              <a:off x="624840" y="4038600"/>
              <a:ext cx="63703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Heat exchange with a surrounding liquid or gas</a:t>
              </a:r>
              <a:endParaRPr lang="en-US" sz="1363" dirty="0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1334FA26-26D4-FFB1-3B6A-DE3EC6EE82CA}"/>
                </a:ext>
              </a:extLst>
            </p:cNvPr>
            <p:cNvSpPr/>
            <p:nvPr/>
          </p:nvSpPr>
          <p:spPr>
            <a:xfrm>
              <a:off x="624840" y="4381500"/>
              <a:ext cx="63703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Radiation</a:t>
              </a:r>
              <a:endParaRPr lang="en-US" sz="1453" dirty="0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35E4E432-9C46-3F82-2B1F-354130396DF2}"/>
                </a:ext>
              </a:extLst>
            </p:cNvPr>
            <p:cNvSpPr/>
            <p:nvPr/>
          </p:nvSpPr>
          <p:spPr>
            <a:xfrm>
              <a:off x="624840" y="4671060"/>
              <a:ext cx="63703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Radiative heat exchange with the environment</a:t>
              </a:r>
              <a:endParaRPr lang="en-US" sz="1363" dirty="0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8DBBFFA6-945C-DEF1-597E-2BEB4215A88C}"/>
                </a:ext>
              </a:extLst>
            </p:cNvPr>
            <p:cNvSpPr/>
            <p:nvPr/>
          </p:nvSpPr>
          <p:spPr>
            <a:xfrm>
              <a:off x="7315200" y="1478280"/>
              <a:ext cx="6858000" cy="3429000"/>
            </a:xfrm>
            <a:prstGeom prst="roundRect">
              <a:avLst>
                <a:gd name="adj" fmla="val 266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33292A9A-1921-A183-8231-77F1C98C4C7B}"/>
                </a:ext>
              </a:extLst>
            </p:cNvPr>
            <p:cNvSpPr/>
            <p:nvPr/>
          </p:nvSpPr>
          <p:spPr>
            <a:xfrm>
              <a:off x="7482840" y="1615440"/>
              <a:ext cx="6522720" cy="3703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35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Material properties</a:t>
              </a:r>
              <a:endParaRPr lang="en-US" sz="1635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2F4AFEE1-A843-B3E6-5977-70891F49798C}"/>
                </a:ext>
              </a:extLst>
            </p:cNvPr>
            <p:cNvSpPr/>
            <p:nvPr/>
          </p:nvSpPr>
          <p:spPr>
            <a:xfrm>
              <a:off x="13395960" y="16611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8A3757D1-08D3-D435-D2B5-C8BB048351EC}"/>
                </a:ext>
              </a:extLst>
            </p:cNvPr>
            <p:cNvSpPr/>
            <p:nvPr/>
          </p:nvSpPr>
          <p:spPr>
            <a:xfrm>
              <a:off x="13395960" y="167640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18D35D3F-CBB0-FE78-80DF-6CB960E965C3}"/>
                </a:ext>
              </a:extLst>
            </p:cNvPr>
            <p:cNvSpPr/>
            <p:nvPr/>
          </p:nvSpPr>
          <p:spPr>
            <a:xfrm>
              <a:off x="7482840" y="1988820"/>
              <a:ext cx="65227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conductivity</a:t>
              </a:r>
              <a:endParaRPr lang="en-US" sz="1453" dirty="0"/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9CDF6F0C-EC9D-D862-3ABE-93BF7890C1AE}"/>
                </a:ext>
              </a:extLst>
            </p:cNvPr>
            <p:cNvSpPr/>
            <p:nvPr/>
          </p:nvSpPr>
          <p:spPr>
            <a:xfrm>
              <a:off x="7482840" y="2278380"/>
              <a:ext cx="65227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Isotropic / anisotropic</a:t>
              </a:r>
              <a:endParaRPr lang="en-US" sz="1363" dirty="0"/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49CC59B2-8176-BB0D-03F9-E8A65C034FA8}"/>
                </a:ext>
              </a:extLst>
            </p:cNvPr>
            <p:cNvSpPr/>
            <p:nvPr/>
          </p:nvSpPr>
          <p:spPr>
            <a:xfrm>
              <a:off x="7482840" y="2545080"/>
              <a:ext cx="65227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(orthotropic, aligned with X / Y / Z)</a:t>
              </a:r>
              <a:endParaRPr lang="en-US" sz="1363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633CF536-5E09-E9B6-1313-3924CD140FE6}"/>
                </a:ext>
              </a:extLst>
            </p:cNvPr>
            <p:cNvSpPr/>
            <p:nvPr/>
          </p:nvSpPr>
          <p:spPr>
            <a:xfrm>
              <a:off x="7482840" y="2887980"/>
              <a:ext cx="65227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Heat storage</a:t>
              </a:r>
              <a:endParaRPr lang="en-US" sz="1453" dirty="0"/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F8121F7D-65A3-CC55-69F4-77F5694912D6}"/>
                </a:ext>
              </a:extLst>
            </p:cNvPr>
            <p:cNvSpPr/>
            <p:nvPr/>
          </p:nvSpPr>
          <p:spPr>
            <a:xfrm>
              <a:off x="7482840" y="3177540"/>
              <a:ext cx="65227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Mass density ρ · specific heat capacity cₚ</a:t>
              </a:r>
              <a:endParaRPr lang="en-US" sz="1363" dirty="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E4026115-25F1-B12D-9059-0E1C4E4A072D}"/>
                </a:ext>
              </a:extLst>
            </p:cNvPr>
            <p:cNvSpPr/>
            <p:nvPr/>
          </p:nvSpPr>
          <p:spPr>
            <a:xfrm>
              <a:off x="7482840" y="3444240"/>
              <a:ext cx="65227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cₚ is per unit mass; ρcₚ is heat capacity per unit volume</a:t>
              </a:r>
              <a:endParaRPr lang="en-US" sz="1363" dirty="0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D7E1F942-5F85-6831-FB84-E97F55B4D24F}"/>
                </a:ext>
              </a:extLst>
            </p:cNvPr>
            <p:cNvSpPr/>
            <p:nvPr/>
          </p:nvSpPr>
          <p:spPr>
            <a:xfrm>
              <a:off x="7482840" y="3787140"/>
              <a:ext cx="65227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Surface emission</a:t>
              </a:r>
              <a:endParaRPr lang="en-US" sz="1453" dirty="0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9D3A9B7E-D8FE-F7B6-6C52-98F6091CB411}"/>
                </a:ext>
              </a:extLst>
            </p:cNvPr>
            <p:cNvSpPr/>
            <p:nvPr/>
          </p:nvSpPr>
          <p:spPr>
            <a:xfrm>
              <a:off x="7482840" y="4076700"/>
              <a:ext cx="65227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Emissivity</a:t>
              </a:r>
              <a:endParaRPr lang="en-US" sz="1363" dirty="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B6F2115F-5AFC-5F24-E59D-4189F838083B}"/>
                </a:ext>
              </a:extLst>
            </p:cNvPr>
            <p:cNvSpPr/>
            <p:nvPr/>
          </p:nvSpPr>
          <p:spPr>
            <a:xfrm>
              <a:off x="7482840" y="4419600"/>
              <a:ext cx="65227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Temperature-dependent material parameters</a:t>
              </a:r>
              <a:endParaRPr lang="en-US" sz="1453" dirty="0"/>
            </a:p>
          </p:txBody>
        </p:sp>
        <p:sp>
          <p:nvSpPr>
            <p:cNvPr id="36" name="Shape 32">
              <a:extLst>
                <a:ext uri="{FF2B5EF4-FFF2-40B4-BE49-F238E27FC236}">
                  <a16:creationId xmlns:a16="http://schemas.microsoft.com/office/drawing/2014/main" id="{78075622-D0A7-32BF-17BD-B49553D6BCA6}"/>
                </a:ext>
              </a:extLst>
            </p:cNvPr>
            <p:cNvSpPr/>
            <p:nvPr/>
          </p:nvSpPr>
          <p:spPr>
            <a:xfrm>
              <a:off x="457200" y="5532120"/>
              <a:ext cx="6705600" cy="2225040"/>
            </a:xfrm>
            <a:prstGeom prst="roundRect">
              <a:avLst>
                <a:gd name="adj" fmla="val 4110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1190869B-4845-7ED0-F3F1-7FDF9E7F97DE}"/>
                </a:ext>
              </a:extLst>
            </p:cNvPr>
            <p:cNvSpPr/>
            <p:nvPr/>
          </p:nvSpPr>
          <p:spPr>
            <a:xfrm>
              <a:off x="624840" y="5669280"/>
              <a:ext cx="6370320" cy="3703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35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Volumetric heat generation</a:t>
              </a:r>
              <a:endParaRPr lang="en-US" sz="1635" dirty="0"/>
            </a:p>
          </p:txBody>
        </p:sp>
        <p:sp>
          <p:nvSpPr>
            <p:cNvPr id="38" name="Shape 34">
              <a:extLst>
                <a:ext uri="{FF2B5EF4-FFF2-40B4-BE49-F238E27FC236}">
                  <a16:creationId xmlns:a16="http://schemas.microsoft.com/office/drawing/2014/main" id="{3FC5BF61-F1F1-DFB5-AB1E-648B1E324301}"/>
                </a:ext>
              </a:extLst>
            </p:cNvPr>
            <p:cNvSpPr/>
            <p:nvPr/>
          </p:nvSpPr>
          <p:spPr>
            <a:xfrm>
              <a:off x="6385560" y="57150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39" name="Text 35">
              <a:extLst>
                <a:ext uri="{FF2B5EF4-FFF2-40B4-BE49-F238E27FC236}">
                  <a16:creationId xmlns:a16="http://schemas.microsoft.com/office/drawing/2014/main" id="{BF863D2A-FBE4-A7B0-4803-B48802812F84}"/>
                </a:ext>
              </a:extLst>
            </p:cNvPr>
            <p:cNvSpPr/>
            <p:nvPr/>
          </p:nvSpPr>
          <p:spPr>
            <a:xfrm>
              <a:off x="6385560" y="573024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40" name="Text 36">
              <a:extLst>
                <a:ext uri="{FF2B5EF4-FFF2-40B4-BE49-F238E27FC236}">
                  <a16:creationId xmlns:a16="http://schemas.microsoft.com/office/drawing/2014/main" id="{3ABC2A22-4E5B-B45D-F035-074C7C9280BA}"/>
                </a:ext>
              </a:extLst>
            </p:cNvPr>
            <p:cNvSpPr/>
            <p:nvPr/>
          </p:nvSpPr>
          <p:spPr>
            <a:xfrm>
              <a:off x="624840" y="6042660"/>
              <a:ext cx="63703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Applied heating</a:t>
              </a:r>
              <a:endParaRPr lang="en-US" sz="1453" dirty="0"/>
            </a:p>
          </p:txBody>
        </p:sp>
        <p:sp>
          <p:nvSpPr>
            <p:cNvPr id="41" name="Text 37">
              <a:extLst>
                <a:ext uri="{FF2B5EF4-FFF2-40B4-BE49-F238E27FC236}">
                  <a16:creationId xmlns:a16="http://schemas.microsoft.com/office/drawing/2014/main" id="{81C98FB3-D950-2E5F-2805-340F1DD8FFE8}"/>
                </a:ext>
              </a:extLst>
            </p:cNvPr>
            <p:cNvSpPr/>
            <p:nvPr/>
          </p:nvSpPr>
          <p:spPr>
            <a:xfrm>
              <a:off x="624840" y="6332220"/>
              <a:ext cx="63703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Volumetric power density</a:t>
              </a:r>
              <a:endParaRPr lang="en-US" sz="1363" dirty="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F6F7725D-F8E9-B429-6295-2F8A3C222EF5}"/>
                </a:ext>
              </a:extLst>
            </p:cNvPr>
            <p:cNvSpPr/>
            <p:nvPr/>
          </p:nvSpPr>
          <p:spPr>
            <a:xfrm>
              <a:off x="624840" y="6675120"/>
              <a:ext cx="637032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5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heating</a:t>
              </a:r>
              <a:endParaRPr lang="en-US" sz="1453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C1B1838F-5D61-31CA-EB4D-EA3C82C0EEA4}"/>
                </a:ext>
              </a:extLst>
            </p:cNvPr>
            <p:cNvSpPr/>
            <p:nvPr/>
          </p:nvSpPr>
          <p:spPr>
            <a:xfrm>
              <a:off x="624840" y="6964680"/>
              <a:ext cx="637032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Joule heating in conducting materials</a:t>
              </a:r>
              <a:endParaRPr lang="en-US" sz="1363" dirty="0"/>
            </a:p>
          </p:txBody>
        </p:sp>
        <p:sp>
          <p:nvSpPr>
            <p:cNvPr id="44" name="Shape 40">
              <a:extLst>
                <a:ext uri="{FF2B5EF4-FFF2-40B4-BE49-F238E27FC236}">
                  <a16:creationId xmlns:a16="http://schemas.microsoft.com/office/drawing/2014/main" id="{ED729C9B-7213-4FD8-4946-11380EFCBDCA}"/>
                </a:ext>
              </a:extLst>
            </p:cNvPr>
            <p:cNvSpPr/>
            <p:nvPr/>
          </p:nvSpPr>
          <p:spPr>
            <a:xfrm>
              <a:off x="7315200" y="5059680"/>
              <a:ext cx="6858000" cy="2697480"/>
            </a:xfrm>
            <a:prstGeom prst="roundRect">
              <a:avLst>
                <a:gd name="adj" fmla="val 3390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45" name="Text 41">
              <a:extLst>
                <a:ext uri="{FF2B5EF4-FFF2-40B4-BE49-F238E27FC236}">
                  <a16:creationId xmlns:a16="http://schemas.microsoft.com/office/drawing/2014/main" id="{0AE23D6E-B1C9-D9B6-80F4-F8CBB605ABA6}"/>
                </a:ext>
              </a:extLst>
            </p:cNvPr>
            <p:cNvSpPr/>
            <p:nvPr/>
          </p:nvSpPr>
          <p:spPr>
            <a:xfrm>
              <a:off x="7482840" y="5196840"/>
              <a:ext cx="6522720" cy="3703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35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Boundary &amp; interface conditions</a:t>
              </a:r>
              <a:endParaRPr lang="en-US" sz="1635" dirty="0"/>
            </a:p>
          </p:txBody>
        </p:sp>
        <p:sp>
          <p:nvSpPr>
            <p:cNvPr id="46" name="Text 42">
              <a:extLst>
                <a:ext uri="{FF2B5EF4-FFF2-40B4-BE49-F238E27FC236}">
                  <a16:creationId xmlns:a16="http://schemas.microsoft.com/office/drawing/2014/main" id="{EDE39970-579A-52FB-CF38-F1810427D0EF}"/>
                </a:ext>
              </a:extLst>
            </p:cNvPr>
            <p:cNvSpPr/>
            <p:nvPr/>
          </p:nvSpPr>
          <p:spPr>
            <a:xfrm>
              <a:off x="7482840" y="5570220"/>
              <a:ext cx="6522720" cy="298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1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boundary conditions</a:t>
              </a:r>
              <a:endParaRPr lang="en-US" sz="1317" dirty="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45EA70D2-CB78-FAAF-AF5B-B856D35C75C2}"/>
                </a:ext>
              </a:extLst>
            </p:cNvPr>
            <p:cNvSpPr/>
            <p:nvPr/>
          </p:nvSpPr>
          <p:spPr>
            <a:xfrm>
              <a:off x="7482840" y="5829300"/>
              <a:ext cx="22860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Prescribed temperature</a:t>
              </a:r>
              <a:endParaRPr lang="en-US" sz="1090" dirty="0"/>
            </a:p>
          </p:txBody>
        </p:sp>
        <p:sp>
          <p:nvSpPr>
            <p:cNvPr id="48" name="Shape 44">
              <a:extLst>
                <a:ext uri="{FF2B5EF4-FFF2-40B4-BE49-F238E27FC236}">
                  <a16:creationId xmlns:a16="http://schemas.microsoft.com/office/drawing/2014/main" id="{F6715616-57B0-FA2D-DBA6-0925109570BB}"/>
                </a:ext>
              </a:extLst>
            </p:cNvPr>
            <p:cNvSpPr/>
            <p:nvPr/>
          </p:nvSpPr>
          <p:spPr>
            <a:xfrm>
              <a:off x="9799320" y="58445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49" name="Text 45">
              <a:extLst>
                <a:ext uri="{FF2B5EF4-FFF2-40B4-BE49-F238E27FC236}">
                  <a16:creationId xmlns:a16="http://schemas.microsoft.com/office/drawing/2014/main" id="{84A54801-5C21-0E4C-F008-2D200CD49823}"/>
                </a:ext>
              </a:extLst>
            </p:cNvPr>
            <p:cNvSpPr/>
            <p:nvPr/>
          </p:nvSpPr>
          <p:spPr>
            <a:xfrm>
              <a:off x="9799320" y="585978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50" name="Text 46">
              <a:extLst>
                <a:ext uri="{FF2B5EF4-FFF2-40B4-BE49-F238E27FC236}">
                  <a16:creationId xmlns:a16="http://schemas.microsoft.com/office/drawing/2014/main" id="{ADDCE7EB-FF66-9B08-D58C-D8A854B443D6}"/>
                </a:ext>
              </a:extLst>
            </p:cNvPr>
            <p:cNvSpPr/>
            <p:nvPr/>
          </p:nvSpPr>
          <p:spPr>
            <a:xfrm>
              <a:off x="10744200" y="5829300"/>
              <a:ext cx="22860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 ramps</a:t>
              </a:r>
              <a:endParaRPr lang="en-US" sz="1090" dirty="0"/>
            </a:p>
          </p:txBody>
        </p:sp>
        <p:sp>
          <p:nvSpPr>
            <p:cNvPr id="51" name="Shape 47">
              <a:extLst>
                <a:ext uri="{FF2B5EF4-FFF2-40B4-BE49-F238E27FC236}">
                  <a16:creationId xmlns:a16="http://schemas.microsoft.com/office/drawing/2014/main" id="{5D2CBFE4-87AA-B325-7242-1E0EE13AEFB7}"/>
                </a:ext>
              </a:extLst>
            </p:cNvPr>
            <p:cNvSpPr/>
            <p:nvPr/>
          </p:nvSpPr>
          <p:spPr>
            <a:xfrm>
              <a:off x="13258800" y="584454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52" name="Text 48">
              <a:extLst>
                <a:ext uri="{FF2B5EF4-FFF2-40B4-BE49-F238E27FC236}">
                  <a16:creationId xmlns:a16="http://schemas.microsoft.com/office/drawing/2014/main" id="{E9E58D85-C5A2-3A36-1F19-60C98B522B58}"/>
                </a:ext>
              </a:extLst>
            </p:cNvPr>
            <p:cNvSpPr/>
            <p:nvPr/>
          </p:nvSpPr>
          <p:spPr>
            <a:xfrm>
              <a:off x="13258800" y="585978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53" name="Text 49">
              <a:extLst>
                <a:ext uri="{FF2B5EF4-FFF2-40B4-BE49-F238E27FC236}">
                  <a16:creationId xmlns:a16="http://schemas.microsoft.com/office/drawing/2014/main" id="{946842B4-7E8A-1C30-4780-FE433624AF30}"/>
                </a:ext>
              </a:extLst>
            </p:cNvPr>
            <p:cNvSpPr/>
            <p:nvPr/>
          </p:nvSpPr>
          <p:spPr>
            <a:xfrm>
              <a:off x="7482840" y="6080760"/>
              <a:ext cx="22860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Prescribed heat flux</a:t>
              </a:r>
              <a:endParaRPr lang="en-US" sz="1090" dirty="0"/>
            </a:p>
          </p:txBody>
        </p:sp>
        <p:sp>
          <p:nvSpPr>
            <p:cNvPr id="54" name="Shape 50">
              <a:extLst>
                <a:ext uri="{FF2B5EF4-FFF2-40B4-BE49-F238E27FC236}">
                  <a16:creationId xmlns:a16="http://schemas.microsoft.com/office/drawing/2014/main" id="{C3E87626-6B0A-7647-09F3-7436A514A835}"/>
                </a:ext>
              </a:extLst>
            </p:cNvPr>
            <p:cNvSpPr/>
            <p:nvPr/>
          </p:nvSpPr>
          <p:spPr>
            <a:xfrm>
              <a:off x="9799320" y="60960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55" name="Text 51">
              <a:extLst>
                <a:ext uri="{FF2B5EF4-FFF2-40B4-BE49-F238E27FC236}">
                  <a16:creationId xmlns:a16="http://schemas.microsoft.com/office/drawing/2014/main" id="{89461228-9309-AABE-45D3-F6975E7BD29F}"/>
                </a:ext>
              </a:extLst>
            </p:cNvPr>
            <p:cNvSpPr/>
            <p:nvPr/>
          </p:nvSpPr>
          <p:spPr>
            <a:xfrm>
              <a:off x="9799320" y="611124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56" name="Text 52">
              <a:extLst>
                <a:ext uri="{FF2B5EF4-FFF2-40B4-BE49-F238E27FC236}">
                  <a16:creationId xmlns:a16="http://schemas.microsoft.com/office/drawing/2014/main" id="{01651518-5F11-5B66-07C9-F5CE0BE85F12}"/>
                </a:ext>
              </a:extLst>
            </p:cNvPr>
            <p:cNvSpPr/>
            <p:nvPr/>
          </p:nvSpPr>
          <p:spPr>
            <a:xfrm>
              <a:off x="10744200" y="6080760"/>
              <a:ext cx="22860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Contact power</a:t>
              </a:r>
              <a:endParaRPr lang="en-US" sz="1090" dirty="0"/>
            </a:p>
          </p:txBody>
        </p:sp>
        <p:sp>
          <p:nvSpPr>
            <p:cNvPr id="57" name="Shape 53">
              <a:extLst>
                <a:ext uri="{FF2B5EF4-FFF2-40B4-BE49-F238E27FC236}">
                  <a16:creationId xmlns:a16="http://schemas.microsoft.com/office/drawing/2014/main" id="{5015E544-06D4-2892-92E7-97CAEFAAA95E}"/>
                </a:ext>
              </a:extLst>
            </p:cNvPr>
            <p:cNvSpPr/>
            <p:nvPr/>
          </p:nvSpPr>
          <p:spPr>
            <a:xfrm>
              <a:off x="13258800" y="609600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58" name="Text 54">
              <a:extLst>
                <a:ext uri="{FF2B5EF4-FFF2-40B4-BE49-F238E27FC236}">
                  <a16:creationId xmlns:a16="http://schemas.microsoft.com/office/drawing/2014/main" id="{1A5652D7-1ACA-638F-8129-2AFB203F6A3B}"/>
                </a:ext>
              </a:extLst>
            </p:cNvPr>
            <p:cNvSpPr/>
            <p:nvPr/>
          </p:nvSpPr>
          <p:spPr>
            <a:xfrm>
              <a:off x="13258800" y="611124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59" name="Text 55">
              <a:extLst>
                <a:ext uri="{FF2B5EF4-FFF2-40B4-BE49-F238E27FC236}">
                  <a16:creationId xmlns:a16="http://schemas.microsoft.com/office/drawing/2014/main" id="{42E4668D-02AD-29EE-4679-B08CE316A4D3}"/>
                </a:ext>
              </a:extLst>
            </p:cNvPr>
            <p:cNvSpPr/>
            <p:nvPr/>
          </p:nvSpPr>
          <p:spPr>
            <a:xfrm>
              <a:off x="7482840" y="6332220"/>
              <a:ext cx="54102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Adiabatic boundary (insulated): zero normal heat flux</a:t>
              </a:r>
              <a:endParaRPr lang="en-US" sz="1090" dirty="0"/>
            </a:p>
          </p:txBody>
        </p:sp>
        <p:sp>
          <p:nvSpPr>
            <p:cNvPr id="60" name="Shape 56">
              <a:extLst>
                <a:ext uri="{FF2B5EF4-FFF2-40B4-BE49-F238E27FC236}">
                  <a16:creationId xmlns:a16="http://schemas.microsoft.com/office/drawing/2014/main" id="{727D32A8-48F6-4B25-5883-AC423F910EF6}"/>
                </a:ext>
              </a:extLst>
            </p:cNvPr>
            <p:cNvSpPr/>
            <p:nvPr/>
          </p:nvSpPr>
          <p:spPr>
            <a:xfrm>
              <a:off x="13258800" y="63474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61" name="Text 57">
              <a:extLst>
                <a:ext uri="{FF2B5EF4-FFF2-40B4-BE49-F238E27FC236}">
                  <a16:creationId xmlns:a16="http://schemas.microsoft.com/office/drawing/2014/main" id="{D05CAF7E-93CF-B164-A4BA-BF730711B9AE}"/>
                </a:ext>
              </a:extLst>
            </p:cNvPr>
            <p:cNvSpPr/>
            <p:nvPr/>
          </p:nvSpPr>
          <p:spPr>
            <a:xfrm>
              <a:off x="13258800" y="636270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62" name="Text 58">
              <a:extLst>
                <a:ext uri="{FF2B5EF4-FFF2-40B4-BE49-F238E27FC236}">
                  <a16:creationId xmlns:a16="http://schemas.microsoft.com/office/drawing/2014/main" id="{711E2341-531B-8C83-8879-9FCD87C03FB9}"/>
                </a:ext>
              </a:extLst>
            </p:cNvPr>
            <p:cNvSpPr/>
            <p:nvPr/>
          </p:nvSpPr>
          <p:spPr>
            <a:xfrm>
              <a:off x="7482840" y="6591300"/>
              <a:ext cx="6522720" cy="298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1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Ambient heat exchange</a:t>
              </a:r>
              <a:endParaRPr lang="en-US" sz="1317" dirty="0"/>
            </a:p>
          </p:txBody>
        </p:sp>
        <p:sp>
          <p:nvSpPr>
            <p:cNvPr id="63" name="Text 59">
              <a:extLst>
                <a:ext uri="{FF2B5EF4-FFF2-40B4-BE49-F238E27FC236}">
                  <a16:creationId xmlns:a16="http://schemas.microsoft.com/office/drawing/2014/main" id="{2985F4B3-A613-B92A-6A65-15B37A13A16B}"/>
                </a:ext>
              </a:extLst>
            </p:cNvPr>
            <p:cNvSpPr/>
            <p:nvPr/>
          </p:nvSpPr>
          <p:spPr>
            <a:xfrm>
              <a:off x="7482840" y="6865620"/>
              <a:ext cx="12192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Convection</a:t>
              </a:r>
              <a:endParaRPr lang="en-US" sz="1090" dirty="0"/>
            </a:p>
          </p:txBody>
        </p:sp>
        <p:sp>
          <p:nvSpPr>
            <p:cNvPr id="64" name="Shape 60">
              <a:extLst>
                <a:ext uri="{FF2B5EF4-FFF2-40B4-BE49-F238E27FC236}">
                  <a16:creationId xmlns:a16="http://schemas.microsoft.com/office/drawing/2014/main" id="{BE0EDC76-0A16-BC30-1C2F-A1970EA0679F}"/>
                </a:ext>
              </a:extLst>
            </p:cNvPr>
            <p:cNvSpPr/>
            <p:nvPr/>
          </p:nvSpPr>
          <p:spPr>
            <a:xfrm>
              <a:off x="8686800" y="68808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65" name="Text 61">
              <a:extLst>
                <a:ext uri="{FF2B5EF4-FFF2-40B4-BE49-F238E27FC236}">
                  <a16:creationId xmlns:a16="http://schemas.microsoft.com/office/drawing/2014/main" id="{1DF03108-E63F-0F7F-F27C-A9DC90D8C550}"/>
                </a:ext>
              </a:extLst>
            </p:cNvPr>
            <p:cNvSpPr/>
            <p:nvPr/>
          </p:nvSpPr>
          <p:spPr>
            <a:xfrm>
              <a:off x="8686800" y="689610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66" name="Text 62">
              <a:extLst>
                <a:ext uri="{FF2B5EF4-FFF2-40B4-BE49-F238E27FC236}">
                  <a16:creationId xmlns:a16="http://schemas.microsoft.com/office/drawing/2014/main" id="{01E14FCD-6156-CE11-C27D-F440CCAF9A9F}"/>
                </a:ext>
              </a:extLst>
            </p:cNvPr>
            <p:cNvSpPr/>
            <p:nvPr/>
          </p:nvSpPr>
          <p:spPr>
            <a:xfrm>
              <a:off x="9525000" y="6865620"/>
              <a:ext cx="10668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Radiation</a:t>
              </a:r>
              <a:endParaRPr lang="en-US" sz="1090" dirty="0"/>
            </a:p>
          </p:txBody>
        </p:sp>
        <p:sp>
          <p:nvSpPr>
            <p:cNvPr id="67" name="Shape 63">
              <a:extLst>
                <a:ext uri="{FF2B5EF4-FFF2-40B4-BE49-F238E27FC236}">
                  <a16:creationId xmlns:a16="http://schemas.microsoft.com/office/drawing/2014/main" id="{040CAF4F-5F79-A70D-119C-BD565D35A0B9}"/>
                </a:ext>
              </a:extLst>
            </p:cNvPr>
            <p:cNvSpPr/>
            <p:nvPr/>
          </p:nvSpPr>
          <p:spPr>
            <a:xfrm>
              <a:off x="10515600" y="6880860"/>
              <a:ext cx="609600" cy="205740"/>
            </a:xfrm>
            <a:prstGeom prst="roundRect">
              <a:avLst>
                <a:gd name="adj" fmla="val 44444"/>
              </a:avLst>
            </a:prstGeom>
            <a:solidFill>
              <a:srgbClr val="FFF0D9"/>
            </a:solidFill>
            <a:ln w="10160">
              <a:solidFill>
                <a:srgbClr val="945818"/>
              </a:solidFill>
              <a:prstDash val="solid"/>
            </a:ln>
          </p:spPr>
        </p:sp>
        <p:sp>
          <p:nvSpPr>
            <p:cNvPr id="68" name="Text 64">
              <a:extLst>
                <a:ext uri="{FF2B5EF4-FFF2-40B4-BE49-F238E27FC236}">
                  <a16:creationId xmlns:a16="http://schemas.microsoft.com/office/drawing/2014/main" id="{4FC21429-0FCB-BBF7-0FEA-483B916D7A9E}"/>
                </a:ext>
              </a:extLst>
            </p:cNvPr>
            <p:cNvSpPr/>
            <p:nvPr/>
          </p:nvSpPr>
          <p:spPr>
            <a:xfrm>
              <a:off x="10515600" y="6896100"/>
              <a:ext cx="609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Alpha</a:t>
              </a:r>
              <a:endParaRPr lang="en-US" sz="818" dirty="0"/>
            </a:p>
          </p:txBody>
        </p:sp>
        <p:sp>
          <p:nvSpPr>
            <p:cNvPr id="69" name="Text 65">
              <a:extLst>
                <a:ext uri="{FF2B5EF4-FFF2-40B4-BE49-F238E27FC236}">
                  <a16:creationId xmlns:a16="http://schemas.microsoft.com/office/drawing/2014/main" id="{39C388D9-F108-71E1-D36F-8369E8B49000}"/>
                </a:ext>
              </a:extLst>
            </p:cNvPr>
            <p:cNvSpPr/>
            <p:nvPr/>
          </p:nvSpPr>
          <p:spPr>
            <a:xfrm>
              <a:off x="11353800" y="6865620"/>
              <a:ext cx="16764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9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resistor</a:t>
              </a:r>
              <a:endParaRPr lang="en-US" sz="1090" dirty="0"/>
            </a:p>
          </p:txBody>
        </p:sp>
        <p:sp>
          <p:nvSpPr>
            <p:cNvPr id="70" name="Shape 66">
              <a:extLst>
                <a:ext uri="{FF2B5EF4-FFF2-40B4-BE49-F238E27FC236}">
                  <a16:creationId xmlns:a16="http://schemas.microsoft.com/office/drawing/2014/main" id="{C3DAE702-EFD3-7005-4E0F-30C30C8E78FE}"/>
                </a:ext>
              </a:extLst>
            </p:cNvPr>
            <p:cNvSpPr/>
            <p:nvPr/>
          </p:nvSpPr>
          <p:spPr>
            <a:xfrm>
              <a:off x="13045440" y="6880860"/>
              <a:ext cx="960120" cy="205740"/>
            </a:xfrm>
            <a:prstGeom prst="roundRect">
              <a:avLst>
                <a:gd name="adj" fmla="val 44444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71" name="Text 67">
              <a:extLst>
                <a:ext uri="{FF2B5EF4-FFF2-40B4-BE49-F238E27FC236}">
                  <a16:creationId xmlns:a16="http://schemas.microsoft.com/office/drawing/2014/main" id="{59729B3B-A539-8E49-6C1C-6201BE997350}"/>
                </a:ext>
              </a:extLst>
            </p:cNvPr>
            <p:cNvSpPr/>
            <p:nvPr/>
          </p:nvSpPr>
          <p:spPr>
            <a:xfrm>
              <a:off x="13045440" y="6896100"/>
              <a:ext cx="96012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818" dirty="0"/>
            </a:p>
          </p:txBody>
        </p:sp>
        <p:sp>
          <p:nvSpPr>
            <p:cNvPr id="72" name="Text 68">
              <a:extLst>
                <a:ext uri="{FF2B5EF4-FFF2-40B4-BE49-F238E27FC236}">
                  <a16:creationId xmlns:a16="http://schemas.microsoft.com/office/drawing/2014/main" id="{CF1EC9FE-EA77-F2A9-D63E-47E0DAA7E44D}"/>
                </a:ext>
              </a:extLst>
            </p:cNvPr>
            <p:cNvSpPr/>
            <p:nvPr/>
          </p:nvSpPr>
          <p:spPr>
            <a:xfrm>
              <a:off x="7482840" y="7124700"/>
              <a:ext cx="6522720" cy="298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1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Material interfaces</a:t>
              </a:r>
              <a:endParaRPr lang="en-US" sz="1317" dirty="0"/>
            </a:p>
          </p:txBody>
        </p:sp>
        <p:sp>
          <p:nvSpPr>
            <p:cNvPr id="73" name="Text 69">
              <a:extLst>
                <a:ext uri="{FF2B5EF4-FFF2-40B4-BE49-F238E27FC236}">
                  <a16:creationId xmlns:a16="http://schemas.microsoft.com/office/drawing/2014/main" id="{5FB839D6-9FDB-F92D-B915-43FB4D94D065}"/>
                </a:ext>
              </a:extLst>
            </p:cNvPr>
            <p:cNvSpPr/>
            <p:nvPr/>
          </p:nvSpPr>
          <p:spPr>
            <a:xfrm>
              <a:off x="7482840" y="7399020"/>
              <a:ext cx="24384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 / flux continuity</a:t>
              </a:r>
              <a:endParaRPr lang="en-US" sz="999" dirty="0"/>
            </a:p>
          </p:txBody>
        </p:sp>
        <p:sp>
          <p:nvSpPr>
            <p:cNvPr id="74" name="Shape 70">
              <a:extLst>
                <a:ext uri="{FF2B5EF4-FFF2-40B4-BE49-F238E27FC236}">
                  <a16:creationId xmlns:a16="http://schemas.microsoft.com/office/drawing/2014/main" id="{421A72F5-7CEB-FA54-EEA7-2711EB46A3D3}"/>
                </a:ext>
              </a:extLst>
            </p:cNvPr>
            <p:cNvSpPr/>
            <p:nvPr/>
          </p:nvSpPr>
          <p:spPr>
            <a:xfrm>
              <a:off x="9982200" y="7414260"/>
              <a:ext cx="960120" cy="205740"/>
            </a:xfrm>
            <a:prstGeom prst="roundRect">
              <a:avLst>
                <a:gd name="adj" fmla="val 44444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75" name="Text 71">
              <a:extLst>
                <a:ext uri="{FF2B5EF4-FFF2-40B4-BE49-F238E27FC236}">
                  <a16:creationId xmlns:a16="http://schemas.microsoft.com/office/drawing/2014/main" id="{15858388-FFDE-0058-7802-A15348353B69}"/>
                </a:ext>
              </a:extLst>
            </p:cNvPr>
            <p:cNvSpPr/>
            <p:nvPr/>
          </p:nvSpPr>
          <p:spPr>
            <a:xfrm>
              <a:off x="9982200" y="7429500"/>
              <a:ext cx="96012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818" dirty="0"/>
            </a:p>
          </p:txBody>
        </p:sp>
        <p:sp>
          <p:nvSpPr>
            <p:cNvPr id="76" name="Text 72">
              <a:extLst>
                <a:ext uri="{FF2B5EF4-FFF2-40B4-BE49-F238E27FC236}">
                  <a16:creationId xmlns:a16="http://schemas.microsoft.com/office/drawing/2014/main" id="{8DEAA099-E497-4068-4EFA-E1F29613C2F8}"/>
                </a:ext>
              </a:extLst>
            </p:cNvPr>
            <p:cNvSpPr/>
            <p:nvPr/>
          </p:nvSpPr>
          <p:spPr>
            <a:xfrm>
              <a:off x="11201400" y="7399020"/>
              <a:ext cx="175260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1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Interface thermal resistance</a:t>
              </a:r>
              <a:endParaRPr lang="en-US" sz="818" dirty="0"/>
            </a:p>
          </p:txBody>
        </p:sp>
        <p:sp>
          <p:nvSpPr>
            <p:cNvPr id="77" name="Shape 73">
              <a:extLst>
                <a:ext uri="{FF2B5EF4-FFF2-40B4-BE49-F238E27FC236}">
                  <a16:creationId xmlns:a16="http://schemas.microsoft.com/office/drawing/2014/main" id="{DAD5A164-ED35-E4ED-4723-51523132FA0F}"/>
                </a:ext>
              </a:extLst>
            </p:cNvPr>
            <p:cNvSpPr/>
            <p:nvPr/>
          </p:nvSpPr>
          <p:spPr>
            <a:xfrm>
              <a:off x="13045440" y="7414260"/>
              <a:ext cx="960120" cy="205740"/>
            </a:xfrm>
            <a:prstGeom prst="roundRect">
              <a:avLst>
                <a:gd name="adj" fmla="val 44444"/>
              </a:avLst>
            </a:prstGeom>
            <a:solidFill>
              <a:srgbClr val="ECEAF4"/>
            </a:solidFill>
            <a:ln w="10160">
              <a:solidFill>
                <a:srgbClr val="64527C"/>
              </a:solidFill>
              <a:prstDash val="solid"/>
            </a:ln>
          </p:spPr>
        </p:sp>
        <p:sp>
          <p:nvSpPr>
            <p:cNvPr id="78" name="Text 74">
              <a:extLst>
                <a:ext uri="{FF2B5EF4-FFF2-40B4-BE49-F238E27FC236}">
                  <a16:creationId xmlns:a16="http://schemas.microsoft.com/office/drawing/2014/main" id="{0CEFC9A9-4660-AC73-EF52-17F87D0317EB}"/>
                </a:ext>
              </a:extLst>
            </p:cNvPr>
            <p:cNvSpPr/>
            <p:nvPr/>
          </p:nvSpPr>
          <p:spPr>
            <a:xfrm>
              <a:off x="13045440" y="7429500"/>
              <a:ext cx="960120" cy="1851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18" b="1" dirty="0">
                  <a:solidFill>
                    <a:srgbClr val="6452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Prototype</a:t>
              </a:r>
              <a:endParaRPr lang="en-US" sz="818" dirty="0"/>
            </a:p>
          </p:txBody>
        </p:sp>
      </p:grpSp>
    </p:spTree>
    <p:extLst>
      <p:ext uri="{BB962C8B-B14F-4D97-AF65-F5344CB8AC3E}">
        <p14:creationId xmlns:p14="http://schemas.microsoft.com/office/powerpoint/2010/main" val="331082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C93311D4-B6FD-EACE-DD5B-54D17F1A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850" y="386165"/>
            <a:ext cx="5081260" cy="592016"/>
          </a:xfrm>
        </p:spPr>
        <p:txBody>
          <a:bodyPr>
            <a:noAutofit/>
          </a:bodyPr>
          <a:lstStyle/>
          <a:p>
            <a:r>
              <a:rPr lang="en-US" altLang="zh-CN" dirty="0"/>
              <a:t>Case 1 — Package thermomechanical reliability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C4FAD12-55B9-7E39-566E-04691CD7D9C1}"/>
              </a:ext>
            </a:extLst>
          </p:cNvPr>
          <p:cNvGrpSpPr>
            <a:grpSpLocks noChangeAspect="1"/>
          </p:cNvGrpSpPr>
          <p:nvPr/>
        </p:nvGrpSpPr>
        <p:grpSpPr>
          <a:xfrm>
            <a:off x="852351" y="671960"/>
            <a:ext cx="10706575" cy="5519834"/>
            <a:chOff x="457200" y="678180"/>
            <a:chExt cx="13716000" cy="7071360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2F283772-0EEE-A2BD-525A-64FB0F496D98}"/>
                </a:ext>
              </a:extLst>
            </p:cNvPr>
            <p:cNvSpPr/>
            <p:nvPr/>
          </p:nvSpPr>
          <p:spPr>
            <a:xfrm>
              <a:off x="4953000" y="678180"/>
              <a:ext cx="914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1920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D740A05E-BE3D-4E3F-07C3-E19C37F660EF}"/>
                </a:ext>
              </a:extLst>
            </p:cNvPr>
            <p:cNvSpPr/>
            <p:nvPr/>
          </p:nvSpPr>
          <p:spPr>
            <a:xfrm>
              <a:off x="457200" y="1333500"/>
              <a:ext cx="6781800" cy="6416040"/>
            </a:xfrm>
            <a:prstGeom prst="roundRect">
              <a:avLst>
                <a:gd name="adj" fmla="val 1425"/>
              </a:avLst>
            </a:prstGeom>
            <a:solidFill>
              <a:srgbClr val="FFFFFF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5FE4D608-D3A9-2696-FC22-01932BE9732E}"/>
                </a:ext>
              </a:extLst>
            </p:cNvPr>
            <p:cNvSpPr/>
            <p:nvPr/>
          </p:nvSpPr>
          <p:spPr>
            <a:xfrm>
              <a:off x="632460" y="1943100"/>
              <a:ext cx="20193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Geometry</a:t>
              </a:r>
              <a:endParaRPr lang="en-US" sz="1086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DDBAFE41-C80C-A611-153A-1047D2353B53}"/>
                </a:ext>
              </a:extLst>
            </p:cNvPr>
            <p:cNvSpPr/>
            <p:nvPr/>
          </p:nvSpPr>
          <p:spPr>
            <a:xfrm>
              <a:off x="2819400" y="1943100"/>
              <a:ext cx="20193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</a:t>
              </a:r>
              <a:endParaRPr lang="en-US" sz="1086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5EE66261-3DA6-03A1-8BB0-5ADD9EC299D3}"/>
                </a:ext>
              </a:extLst>
            </p:cNvPr>
            <p:cNvSpPr/>
            <p:nvPr/>
          </p:nvSpPr>
          <p:spPr>
            <a:xfrm>
              <a:off x="5006340" y="1943100"/>
              <a:ext cx="19812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Equivalent stress</a:t>
              </a:r>
              <a:endParaRPr lang="en-US" sz="1086" dirty="0"/>
            </a:p>
          </p:txBody>
        </p:sp>
        <p:pic>
          <p:nvPicPr>
            <p:cNvPr id="13" name="Image 0" descr="preencoded.png">
              <a:extLst>
                <a:ext uri="{FF2B5EF4-FFF2-40B4-BE49-F238E27FC236}">
                  <a16:creationId xmlns:a16="http://schemas.microsoft.com/office/drawing/2014/main" id="{BE10E763-3E8D-6EB3-1C4E-AB3B9AB83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460" y="2362200"/>
              <a:ext cx="2133600" cy="1450848"/>
            </a:xfrm>
            <a:prstGeom prst="rect">
              <a:avLst/>
            </a:prstGeom>
          </p:spPr>
        </p:pic>
        <p:pic>
          <p:nvPicPr>
            <p:cNvPr id="14" name="Image 1" descr="preencoded.png">
              <a:extLst>
                <a:ext uri="{FF2B5EF4-FFF2-40B4-BE49-F238E27FC236}">
                  <a16:creationId xmlns:a16="http://schemas.microsoft.com/office/drawing/2014/main" id="{A5D2D202-7070-8097-9A40-46214FA57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19400" y="2781300"/>
              <a:ext cx="1943100" cy="1560851"/>
            </a:xfrm>
            <a:prstGeom prst="rect">
              <a:avLst/>
            </a:prstGeom>
          </p:spPr>
        </p:pic>
        <p:pic>
          <p:nvPicPr>
            <p:cNvPr id="15" name="Image 2" descr="preencoded.png">
              <a:extLst>
                <a:ext uri="{FF2B5EF4-FFF2-40B4-BE49-F238E27FC236}">
                  <a16:creationId xmlns:a16="http://schemas.microsoft.com/office/drawing/2014/main" id="{F3EA0FF0-28A3-F1AF-DC4A-B800B0949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6340" y="2781300"/>
              <a:ext cx="1943100" cy="1560851"/>
            </a:xfrm>
            <a:prstGeom prst="rect">
              <a:avLst/>
            </a:prstGeom>
          </p:spPr>
        </p:pic>
        <p:sp>
          <p:nvSpPr>
            <p:cNvPr id="16" name="Shape 10">
              <a:extLst>
                <a:ext uri="{FF2B5EF4-FFF2-40B4-BE49-F238E27FC236}">
                  <a16:creationId xmlns:a16="http://schemas.microsoft.com/office/drawing/2014/main" id="{A6E6D219-E5C1-81A3-D3C5-DFFD047CEF3A}"/>
                </a:ext>
              </a:extLst>
            </p:cNvPr>
            <p:cNvSpPr/>
            <p:nvPr/>
          </p:nvSpPr>
          <p:spPr>
            <a:xfrm>
              <a:off x="624840" y="2354580"/>
              <a:ext cx="2148840" cy="137160"/>
            </a:xfrm>
            <a:prstGeom prst="roundRect">
              <a:avLst>
                <a:gd name="adj" fmla="val 66667"/>
              </a:avLst>
            </a:prstGeom>
            <a:solidFill>
              <a:srgbClr val="FFFFFF"/>
            </a:solidFill>
            <a:ln w="10160">
              <a:solidFill>
                <a:srgbClr val="FFFFFF"/>
              </a:solidFill>
              <a:prstDash val="solid"/>
            </a:ln>
          </p:spPr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0FD231F4-99D7-8300-22F4-884332E786E3}"/>
                </a:ext>
              </a:extLst>
            </p:cNvPr>
            <p:cNvSpPr/>
            <p:nvPr/>
          </p:nvSpPr>
          <p:spPr>
            <a:xfrm>
              <a:off x="3810000" y="2247900"/>
              <a:ext cx="22860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55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</a:t>
              </a:r>
              <a:endParaRPr lang="en-US" sz="955" dirty="0"/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9247DCC9-4652-BB2B-EBA3-13AC9F091337}"/>
                </a:ext>
              </a:extLst>
            </p:cNvPr>
            <p:cNvSpPr/>
            <p:nvPr/>
          </p:nvSpPr>
          <p:spPr>
            <a:xfrm>
              <a:off x="4632960" y="2560320"/>
              <a:ext cx="632460" cy="0"/>
            </a:xfrm>
            <a:prstGeom prst="line">
              <a:avLst/>
            </a:prstGeom>
            <a:noFill/>
            <a:ln w="16510">
              <a:solidFill>
                <a:srgbClr val="A45B17"/>
              </a:solidFill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72D96EEB-0EF2-1F5D-5EE8-8196B09480EE}"/>
                </a:ext>
              </a:extLst>
            </p:cNvPr>
            <p:cNvSpPr/>
            <p:nvPr/>
          </p:nvSpPr>
          <p:spPr>
            <a:xfrm>
              <a:off x="5173980" y="2499360"/>
              <a:ext cx="91440" cy="60960"/>
            </a:xfrm>
            <a:prstGeom prst="line">
              <a:avLst/>
            </a:prstGeom>
            <a:noFill/>
            <a:ln w="16510">
              <a:solidFill>
                <a:srgbClr val="A45B17"/>
              </a:solidFill>
              <a:prstDash val="solid"/>
            </a:ln>
          </p:spPr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889AC695-00A6-C973-80C0-4DF2B7A8BF44}"/>
                </a:ext>
              </a:extLst>
            </p:cNvPr>
            <p:cNvSpPr/>
            <p:nvPr/>
          </p:nvSpPr>
          <p:spPr>
            <a:xfrm flipV="1">
              <a:off x="5173980" y="2560320"/>
              <a:ext cx="91440" cy="60960"/>
            </a:xfrm>
            <a:prstGeom prst="line">
              <a:avLst/>
            </a:prstGeom>
            <a:noFill/>
            <a:ln w="16510">
              <a:solidFill>
                <a:srgbClr val="A45B17"/>
              </a:solidFill>
              <a:prstDash val="solid"/>
            </a:ln>
          </p:spPr>
        </p:sp>
        <p:sp>
          <p:nvSpPr>
            <p:cNvPr id="21" name="Text 15">
              <a:extLst>
                <a:ext uri="{FF2B5EF4-FFF2-40B4-BE49-F238E27FC236}">
                  <a16:creationId xmlns:a16="http://schemas.microsoft.com/office/drawing/2014/main" id="{90411227-0917-817D-2B98-492A6ACFDF46}"/>
                </a:ext>
              </a:extLst>
            </p:cNvPr>
            <p:cNvSpPr/>
            <p:nvPr/>
          </p:nvSpPr>
          <p:spPr>
            <a:xfrm>
              <a:off x="3810000" y="2674620"/>
              <a:ext cx="22860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55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Mapping</a:t>
              </a:r>
              <a:endParaRPr lang="en-US" sz="955" dirty="0"/>
            </a:p>
          </p:txBody>
        </p:sp>
        <p:sp>
          <p:nvSpPr>
            <p:cNvPr id="22" name="Text 16">
              <a:extLst>
                <a:ext uri="{FF2B5EF4-FFF2-40B4-BE49-F238E27FC236}">
                  <a16:creationId xmlns:a16="http://schemas.microsoft.com/office/drawing/2014/main" id="{BD33C537-809F-E957-277E-33B326B5C998}"/>
                </a:ext>
              </a:extLst>
            </p:cNvPr>
            <p:cNvSpPr/>
            <p:nvPr/>
          </p:nvSpPr>
          <p:spPr>
            <a:xfrm>
              <a:off x="640080" y="467868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Case background</a:t>
              </a:r>
              <a:endParaRPr lang="en-US" sz="1303" dirty="0"/>
            </a:p>
          </p:txBody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85787EE6-E09B-33FD-B297-2AB82165749D}"/>
                </a:ext>
              </a:extLst>
            </p:cNvPr>
            <p:cNvSpPr/>
            <p:nvPr/>
          </p:nvSpPr>
          <p:spPr>
            <a:xfrm>
              <a:off x="640080" y="5044440"/>
              <a:ext cx="632460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Power-device package (adapted from PowerSO-10RF / LDMOS)</a:t>
              </a:r>
              <a:endParaRPr lang="en-US" sz="1216" dirty="0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4D6DF558-D4C1-23AA-7724-099603DA3647}"/>
                </a:ext>
              </a:extLst>
            </p:cNvPr>
            <p:cNvSpPr/>
            <p:nvPr/>
          </p:nvSpPr>
          <p:spPr>
            <a:xfrm>
              <a:off x="640080" y="5379720"/>
              <a:ext cx="632460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Uneven heating → expansion mismatch → stress</a:t>
              </a:r>
              <a:endParaRPr lang="en-US" sz="1216" dirty="0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8953BD28-414D-84E7-7241-BB7133C95CBE}"/>
                </a:ext>
              </a:extLst>
            </p:cNvPr>
            <p:cNvSpPr/>
            <p:nvPr/>
          </p:nvSpPr>
          <p:spPr>
            <a:xfrm>
              <a:off x="640080" y="6050280"/>
              <a:ext cx="308610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29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· Highlighted feature</a:t>
              </a:r>
              <a:endParaRPr lang="en-US" sz="1129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4549E1D1-8933-C6F6-DC69-A49FF583E155}"/>
                </a:ext>
              </a:extLst>
            </p:cNvPr>
            <p:cNvSpPr/>
            <p:nvPr/>
          </p:nvSpPr>
          <p:spPr>
            <a:xfrm>
              <a:off x="3848100" y="6050280"/>
              <a:ext cx="314706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29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 · Highlighted feature</a:t>
              </a:r>
              <a:endParaRPr lang="en-US" sz="1129" dirty="0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CE70B5D2-B9F0-2E1F-085C-0B441D16296C}"/>
                </a:ext>
              </a:extLst>
            </p:cNvPr>
            <p:cNvSpPr/>
            <p:nvPr/>
          </p:nvSpPr>
          <p:spPr>
            <a:xfrm>
              <a:off x="640080" y="6446520"/>
              <a:ext cx="308610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Steady-state</a:t>
              </a:r>
              <a:endParaRPr lang="en-US" sz="1216" dirty="0"/>
            </a:p>
          </p:txBody>
        </p:sp>
        <p:sp>
          <p:nvSpPr>
            <p:cNvPr id="29" name="Text 22">
              <a:extLst>
                <a:ext uri="{FF2B5EF4-FFF2-40B4-BE49-F238E27FC236}">
                  <a16:creationId xmlns:a16="http://schemas.microsoft.com/office/drawing/2014/main" id="{2D26D96F-BB4E-735B-A161-82B0DDB7045C}"/>
                </a:ext>
              </a:extLst>
            </p:cNvPr>
            <p:cNvSpPr/>
            <p:nvPr/>
          </p:nvSpPr>
          <p:spPr>
            <a:xfrm>
              <a:off x="640080" y="6789420"/>
              <a:ext cx="308610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Conduction · convection</a:t>
              </a:r>
              <a:endParaRPr lang="en-US" sz="1216" dirty="0"/>
            </a:p>
          </p:txBody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2A70C840-1229-07FE-3D52-4BEC83947C60}"/>
                </a:ext>
              </a:extLst>
            </p:cNvPr>
            <p:cNvSpPr/>
            <p:nvPr/>
          </p:nvSpPr>
          <p:spPr>
            <a:xfrm>
              <a:off x="640080" y="7132320"/>
              <a:ext cx="308610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Radiation</a:t>
              </a:r>
              <a:endParaRPr lang="en-US" sz="1216" dirty="0"/>
            </a:p>
          </p:txBody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13FA8F8D-B4AC-22F1-AB84-3E324D60E388}"/>
                </a:ext>
              </a:extLst>
            </p:cNvPr>
            <p:cNvSpPr/>
            <p:nvPr/>
          </p:nvSpPr>
          <p:spPr>
            <a:xfrm>
              <a:off x="3848100" y="6446520"/>
              <a:ext cx="314706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Quasistatic equilibrium</a:t>
              </a:r>
              <a:endParaRPr lang="en-US" sz="1216" dirty="0"/>
            </a:p>
          </p:txBody>
        </p:sp>
        <p:sp>
          <p:nvSpPr>
            <p:cNvPr id="32" name="Text 25">
              <a:extLst>
                <a:ext uri="{FF2B5EF4-FFF2-40B4-BE49-F238E27FC236}">
                  <a16:creationId xmlns:a16="http://schemas.microsoft.com/office/drawing/2014/main" id="{242801C8-8449-7951-7C54-B1F85E025870}"/>
                </a:ext>
              </a:extLst>
            </p:cNvPr>
            <p:cNvSpPr/>
            <p:nvPr/>
          </p:nvSpPr>
          <p:spPr>
            <a:xfrm>
              <a:off x="3848100" y="6789420"/>
              <a:ext cx="314706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mismatch</a:t>
              </a:r>
              <a:endParaRPr lang="en-US" sz="1216" dirty="0"/>
            </a:p>
          </p:txBody>
        </p:sp>
        <p:sp>
          <p:nvSpPr>
            <p:cNvPr id="33" name="Text 26">
              <a:extLst>
                <a:ext uri="{FF2B5EF4-FFF2-40B4-BE49-F238E27FC236}">
                  <a16:creationId xmlns:a16="http://schemas.microsoft.com/office/drawing/2014/main" id="{C20AC173-9322-8892-B3A2-0043E6C5B5D4}"/>
                </a:ext>
              </a:extLst>
            </p:cNvPr>
            <p:cNvSpPr/>
            <p:nvPr/>
          </p:nvSpPr>
          <p:spPr>
            <a:xfrm>
              <a:off x="3848100" y="7132320"/>
              <a:ext cx="314706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1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Prescribed displacement</a:t>
              </a:r>
              <a:endParaRPr lang="en-US" sz="1216" dirty="0"/>
            </a:p>
          </p:txBody>
        </p:sp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24FC9AC3-C5C3-688B-CE97-F93FDD7BEF48}"/>
                </a:ext>
              </a:extLst>
            </p:cNvPr>
            <p:cNvSpPr/>
            <p:nvPr/>
          </p:nvSpPr>
          <p:spPr>
            <a:xfrm>
              <a:off x="7391400" y="1333500"/>
              <a:ext cx="6781800" cy="2476500"/>
            </a:xfrm>
            <a:prstGeom prst="roundRect">
              <a:avLst>
                <a:gd name="adj" fmla="val 3692"/>
              </a:avLst>
            </a:prstGeom>
            <a:solidFill>
              <a:srgbClr val="F7FAFE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5" name="Shape 28">
              <a:extLst>
                <a:ext uri="{FF2B5EF4-FFF2-40B4-BE49-F238E27FC236}">
                  <a16:creationId xmlns:a16="http://schemas.microsoft.com/office/drawing/2014/main" id="{32CA415F-FE7D-2BC0-10A3-A22168AF3D74}"/>
                </a:ext>
              </a:extLst>
            </p:cNvPr>
            <p:cNvSpPr/>
            <p:nvPr/>
          </p:nvSpPr>
          <p:spPr>
            <a:xfrm>
              <a:off x="7391399" y="4038600"/>
              <a:ext cx="6781801" cy="3694889"/>
            </a:xfrm>
            <a:prstGeom prst="roundRect">
              <a:avLst>
                <a:gd name="adj" fmla="val 2885"/>
              </a:avLst>
            </a:prstGeom>
            <a:solidFill>
              <a:srgbClr val="F7FAFE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6" name="Shape 29">
              <a:extLst>
                <a:ext uri="{FF2B5EF4-FFF2-40B4-BE49-F238E27FC236}">
                  <a16:creationId xmlns:a16="http://schemas.microsoft.com/office/drawing/2014/main" id="{3475BED5-902C-39DC-02BD-C1E790926C7C}"/>
                </a:ext>
              </a:extLst>
            </p:cNvPr>
            <p:cNvSpPr/>
            <p:nvPr/>
          </p:nvSpPr>
          <p:spPr>
            <a:xfrm>
              <a:off x="7574280" y="1524000"/>
              <a:ext cx="6416040" cy="335280"/>
            </a:xfrm>
            <a:prstGeom prst="roundRect">
              <a:avLst>
                <a:gd name="adj" fmla="val 27273"/>
              </a:avLst>
            </a:prstGeom>
            <a:solidFill>
              <a:srgbClr val="DCE9F5"/>
            </a:solidFill>
            <a:ln w="10160">
              <a:solidFill>
                <a:srgbClr val="DCE9F5"/>
              </a:solidFill>
              <a:prstDash val="solid"/>
            </a:ln>
          </p:spPr>
        </p:sp>
        <p:sp>
          <p:nvSpPr>
            <p:cNvPr id="37" name="Text 30">
              <a:extLst>
                <a:ext uri="{FF2B5EF4-FFF2-40B4-BE49-F238E27FC236}">
                  <a16:creationId xmlns:a16="http://schemas.microsoft.com/office/drawing/2014/main" id="{A87444A4-D375-22F2-11F8-4738A0B872A0}"/>
                </a:ext>
              </a:extLst>
            </p:cNvPr>
            <p:cNvSpPr/>
            <p:nvPr/>
          </p:nvSpPr>
          <p:spPr>
            <a:xfrm>
              <a:off x="7680960" y="1562100"/>
              <a:ext cx="6096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ACCURACY</a:t>
              </a:r>
              <a:endParaRPr lang="en-US" sz="1086" dirty="0"/>
            </a:p>
          </p:txBody>
        </p:sp>
        <p:sp>
          <p:nvSpPr>
            <p:cNvPr id="38" name="Shape 31">
              <a:extLst>
                <a:ext uri="{FF2B5EF4-FFF2-40B4-BE49-F238E27FC236}">
                  <a16:creationId xmlns:a16="http://schemas.microsoft.com/office/drawing/2014/main" id="{C0617F5F-96DD-1256-055F-528BF10A8399}"/>
                </a:ext>
              </a:extLst>
            </p:cNvPr>
            <p:cNvSpPr/>
            <p:nvPr/>
          </p:nvSpPr>
          <p:spPr>
            <a:xfrm>
              <a:off x="7574280" y="4191000"/>
              <a:ext cx="6416040" cy="335280"/>
            </a:xfrm>
            <a:prstGeom prst="roundRect">
              <a:avLst>
                <a:gd name="adj" fmla="val 27273"/>
              </a:avLst>
            </a:prstGeom>
            <a:solidFill>
              <a:srgbClr val="DCE9F5"/>
            </a:solidFill>
            <a:ln w="10160">
              <a:solidFill>
                <a:srgbClr val="DCE9F5"/>
              </a:solidFill>
              <a:prstDash val="solid"/>
            </a:ln>
          </p:spPr>
        </p:sp>
        <p:sp>
          <p:nvSpPr>
            <p:cNvPr id="39" name="Text 32">
              <a:extLst>
                <a:ext uri="{FF2B5EF4-FFF2-40B4-BE49-F238E27FC236}">
                  <a16:creationId xmlns:a16="http://schemas.microsoft.com/office/drawing/2014/main" id="{40725D90-F895-AFA6-90DF-8B53FFEA7867}"/>
                </a:ext>
              </a:extLst>
            </p:cNvPr>
            <p:cNvSpPr/>
            <p:nvPr/>
          </p:nvSpPr>
          <p:spPr>
            <a:xfrm>
              <a:off x="7680960" y="4229100"/>
              <a:ext cx="6096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PERFORMANCE</a:t>
              </a:r>
              <a:endParaRPr lang="en-US" sz="1086" dirty="0"/>
            </a:p>
          </p:txBody>
        </p:sp>
        <p:sp>
          <p:nvSpPr>
            <p:cNvPr id="40" name="Shape 33">
              <a:extLst>
                <a:ext uri="{FF2B5EF4-FFF2-40B4-BE49-F238E27FC236}">
                  <a16:creationId xmlns:a16="http://schemas.microsoft.com/office/drawing/2014/main" id="{88BBDDBC-756E-FADE-A632-4B8E181265E2}"/>
                </a:ext>
              </a:extLst>
            </p:cNvPr>
            <p:cNvSpPr/>
            <p:nvPr/>
          </p:nvSpPr>
          <p:spPr>
            <a:xfrm>
              <a:off x="7574280" y="4632960"/>
              <a:ext cx="172212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1" name="Shape 34">
              <a:extLst>
                <a:ext uri="{FF2B5EF4-FFF2-40B4-BE49-F238E27FC236}">
                  <a16:creationId xmlns:a16="http://schemas.microsoft.com/office/drawing/2014/main" id="{CC6D4E2C-23D0-D838-C2DA-773EAD2B07ED}"/>
                </a:ext>
              </a:extLst>
            </p:cNvPr>
            <p:cNvSpPr/>
            <p:nvPr/>
          </p:nvSpPr>
          <p:spPr>
            <a:xfrm>
              <a:off x="9296400" y="463296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2" name="Shape 35">
              <a:extLst>
                <a:ext uri="{FF2B5EF4-FFF2-40B4-BE49-F238E27FC236}">
                  <a16:creationId xmlns:a16="http://schemas.microsoft.com/office/drawing/2014/main" id="{9B37DE5E-51FC-B0FB-BA3C-F6C82AA302B6}"/>
                </a:ext>
              </a:extLst>
            </p:cNvPr>
            <p:cNvSpPr/>
            <p:nvPr/>
          </p:nvSpPr>
          <p:spPr>
            <a:xfrm>
              <a:off x="10835640" y="463296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3" name="Shape 36">
              <a:extLst>
                <a:ext uri="{FF2B5EF4-FFF2-40B4-BE49-F238E27FC236}">
                  <a16:creationId xmlns:a16="http://schemas.microsoft.com/office/drawing/2014/main" id="{F9DD3FDC-5DD4-3754-37C4-4828012336C1}"/>
                </a:ext>
              </a:extLst>
            </p:cNvPr>
            <p:cNvSpPr/>
            <p:nvPr/>
          </p:nvSpPr>
          <p:spPr>
            <a:xfrm>
              <a:off x="12374880" y="4632960"/>
              <a:ext cx="161544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7FAFB471-6A21-5959-F811-B860B208AA43}"/>
                </a:ext>
              </a:extLst>
            </p:cNvPr>
            <p:cNvSpPr/>
            <p:nvPr/>
          </p:nvSpPr>
          <p:spPr>
            <a:xfrm>
              <a:off x="7574280" y="4998720"/>
              <a:ext cx="172212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5" name="Shape 38">
              <a:extLst>
                <a:ext uri="{FF2B5EF4-FFF2-40B4-BE49-F238E27FC236}">
                  <a16:creationId xmlns:a16="http://schemas.microsoft.com/office/drawing/2014/main" id="{3288D105-61C2-C16C-541E-C39D66C1FF0A}"/>
                </a:ext>
              </a:extLst>
            </p:cNvPr>
            <p:cNvSpPr/>
            <p:nvPr/>
          </p:nvSpPr>
          <p:spPr>
            <a:xfrm>
              <a:off x="9296400" y="499872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6" name="Shape 39">
              <a:extLst>
                <a:ext uri="{FF2B5EF4-FFF2-40B4-BE49-F238E27FC236}">
                  <a16:creationId xmlns:a16="http://schemas.microsoft.com/office/drawing/2014/main" id="{0F3D7D71-553D-3825-A464-80E38FBDA6A4}"/>
                </a:ext>
              </a:extLst>
            </p:cNvPr>
            <p:cNvSpPr/>
            <p:nvPr/>
          </p:nvSpPr>
          <p:spPr>
            <a:xfrm>
              <a:off x="10835640" y="499872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7" name="Shape 40">
              <a:extLst>
                <a:ext uri="{FF2B5EF4-FFF2-40B4-BE49-F238E27FC236}">
                  <a16:creationId xmlns:a16="http://schemas.microsoft.com/office/drawing/2014/main" id="{C98CE9E1-DDA8-756A-8829-E38859396BEF}"/>
                </a:ext>
              </a:extLst>
            </p:cNvPr>
            <p:cNvSpPr/>
            <p:nvPr/>
          </p:nvSpPr>
          <p:spPr>
            <a:xfrm>
              <a:off x="12374880" y="4998720"/>
              <a:ext cx="16154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8" name="Shape 41">
              <a:extLst>
                <a:ext uri="{FF2B5EF4-FFF2-40B4-BE49-F238E27FC236}">
                  <a16:creationId xmlns:a16="http://schemas.microsoft.com/office/drawing/2014/main" id="{C5789061-556C-25B3-E0F7-44A402029310}"/>
                </a:ext>
              </a:extLst>
            </p:cNvPr>
            <p:cNvSpPr/>
            <p:nvPr/>
          </p:nvSpPr>
          <p:spPr>
            <a:xfrm>
              <a:off x="7574280" y="5364480"/>
              <a:ext cx="172212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9" name="Shape 42">
              <a:extLst>
                <a:ext uri="{FF2B5EF4-FFF2-40B4-BE49-F238E27FC236}">
                  <a16:creationId xmlns:a16="http://schemas.microsoft.com/office/drawing/2014/main" id="{C02A8751-479D-929D-0B6A-B9C993DD3202}"/>
                </a:ext>
              </a:extLst>
            </p:cNvPr>
            <p:cNvSpPr/>
            <p:nvPr/>
          </p:nvSpPr>
          <p:spPr>
            <a:xfrm>
              <a:off x="9296400" y="536448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50" name="Shape 43">
              <a:extLst>
                <a:ext uri="{FF2B5EF4-FFF2-40B4-BE49-F238E27FC236}">
                  <a16:creationId xmlns:a16="http://schemas.microsoft.com/office/drawing/2014/main" id="{A0AB6F8F-32C3-BE6B-3BA0-D7461042EBE6}"/>
                </a:ext>
              </a:extLst>
            </p:cNvPr>
            <p:cNvSpPr/>
            <p:nvPr/>
          </p:nvSpPr>
          <p:spPr>
            <a:xfrm>
              <a:off x="10835640" y="536448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51" name="Shape 44">
              <a:extLst>
                <a:ext uri="{FF2B5EF4-FFF2-40B4-BE49-F238E27FC236}">
                  <a16:creationId xmlns:a16="http://schemas.microsoft.com/office/drawing/2014/main" id="{924E3EDD-2076-0315-4CA7-464C048FC426}"/>
                </a:ext>
              </a:extLst>
            </p:cNvPr>
            <p:cNvSpPr/>
            <p:nvPr/>
          </p:nvSpPr>
          <p:spPr>
            <a:xfrm>
              <a:off x="12374880" y="5364480"/>
              <a:ext cx="16154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52" name="Text 45">
              <a:extLst>
                <a:ext uri="{FF2B5EF4-FFF2-40B4-BE49-F238E27FC236}">
                  <a16:creationId xmlns:a16="http://schemas.microsoft.com/office/drawing/2014/main" id="{1BD11AA9-4E00-2F0E-01BB-A8686D1D8EA1}"/>
                </a:ext>
              </a:extLst>
            </p:cNvPr>
            <p:cNvSpPr/>
            <p:nvPr/>
          </p:nvSpPr>
          <p:spPr>
            <a:xfrm>
              <a:off x="7680960" y="4709160"/>
              <a:ext cx="150876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Time (s)</a:t>
              </a:r>
              <a:endParaRPr lang="en-US" sz="999" dirty="0"/>
            </a:p>
          </p:txBody>
        </p:sp>
        <p:sp>
          <p:nvSpPr>
            <p:cNvPr id="53" name="Text 46">
              <a:extLst>
                <a:ext uri="{FF2B5EF4-FFF2-40B4-BE49-F238E27FC236}">
                  <a16:creationId xmlns:a16="http://schemas.microsoft.com/office/drawing/2014/main" id="{DDCA874F-3D49-BD27-1AFD-8BE1FF969F87}"/>
                </a:ext>
              </a:extLst>
            </p:cNvPr>
            <p:cNvSpPr/>
            <p:nvPr/>
          </p:nvSpPr>
          <p:spPr>
            <a:xfrm>
              <a:off x="9403080" y="4709160"/>
              <a:ext cx="14097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StressThermal</a:t>
              </a:r>
              <a:endParaRPr lang="en-US" sz="999" dirty="0"/>
            </a:p>
          </p:txBody>
        </p:sp>
        <p:sp>
          <p:nvSpPr>
            <p:cNvPr id="54" name="Text 47">
              <a:extLst>
                <a:ext uri="{FF2B5EF4-FFF2-40B4-BE49-F238E27FC236}">
                  <a16:creationId xmlns:a16="http://schemas.microsoft.com/office/drawing/2014/main" id="{37E728F3-1B8D-8AF5-91D7-7B398755B390}"/>
                </a:ext>
              </a:extLst>
            </p:cNvPr>
            <p:cNvSpPr/>
            <p:nvPr/>
          </p:nvSpPr>
          <p:spPr>
            <a:xfrm>
              <a:off x="10942320" y="4709160"/>
              <a:ext cx="14097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S</a:t>
              </a:r>
              <a:endParaRPr lang="en-US" sz="999" dirty="0"/>
            </a:p>
          </p:txBody>
        </p:sp>
        <p:sp>
          <p:nvSpPr>
            <p:cNvPr id="55" name="Text 48">
              <a:extLst>
                <a:ext uri="{FF2B5EF4-FFF2-40B4-BE49-F238E27FC236}">
                  <a16:creationId xmlns:a16="http://schemas.microsoft.com/office/drawing/2014/main" id="{B23F35AE-1AAD-251E-1A5F-C668D40E866F}"/>
                </a:ext>
              </a:extLst>
            </p:cNvPr>
            <p:cNvSpPr/>
            <p:nvPr/>
          </p:nvSpPr>
          <p:spPr>
            <a:xfrm>
              <a:off x="12481560" y="4709160"/>
              <a:ext cx="14097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A</a:t>
              </a:r>
              <a:endParaRPr lang="en-US" sz="999" dirty="0"/>
            </a:p>
          </p:txBody>
        </p:sp>
        <p:sp>
          <p:nvSpPr>
            <p:cNvPr id="56" name="Text 49">
              <a:extLst>
                <a:ext uri="{FF2B5EF4-FFF2-40B4-BE49-F238E27FC236}">
                  <a16:creationId xmlns:a16="http://schemas.microsoft.com/office/drawing/2014/main" id="{92AEF251-A1C6-3FB6-A408-FAEAD09C5CAB}"/>
                </a:ext>
              </a:extLst>
            </p:cNvPr>
            <p:cNvSpPr/>
            <p:nvPr/>
          </p:nvSpPr>
          <p:spPr>
            <a:xfrm>
              <a:off x="7680960" y="5074920"/>
              <a:ext cx="16764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solve</a:t>
              </a:r>
              <a:endParaRPr lang="en-US" sz="1042" dirty="0"/>
            </a:p>
          </p:txBody>
        </p:sp>
        <p:sp>
          <p:nvSpPr>
            <p:cNvPr id="57" name="Text 50">
              <a:extLst>
                <a:ext uri="{FF2B5EF4-FFF2-40B4-BE49-F238E27FC236}">
                  <a16:creationId xmlns:a16="http://schemas.microsoft.com/office/drawing/2014/main" id="{41966CD3-4197-9CF4-02BF-79EB8B15B0F1}"/>
                </a:ext>
              </a:extLst>
            </p:cNvPr>
            <p:cNvSpPr/>
            <p:nvPr/>
          </p:nvSpPr>
          <p:spPr>
            <a:xfrm>
              <a:off x="9403080" y="507492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4.25</a:t>
              </a:r>
              <a:endParaRPr lang="en-US" sz="1173" dirty="0"/>
            </a:p>
          </p:txBody>
        </p:sp>
        <p:sp>
          <p:nvSpPr>
            <p:cNvPr id="58" name="Text 51">
              <a:extLst>
                <a:ext uri="{FF2B5EF4-FFF2-40B4-BE49-F238E27FC236}">
                  <a16:creationId xmlns:a16="http://schemas.microsoft.com/office/drawing/2014/main" id="{9A512B20-6579-6F4D-EFCE-978B17175609}"/>
                </a:ext>
              </a:extLst>
            </p:cNvPr>
            <p:cNvSpPr/>
            <p:nvPr/>
          </p:nvSpPr>
          <p:spPr>
            <a:xfrm>
              <a:off x="10942320" y="507492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2.30</a:t>
              </a:r>
              <a:endParaRPr lang="en-US" sz="1173" dirty="0"/>
            </a:p>
          </p:txBody>
        </p:sp>
        <p:sp>
          <p:nvSpPr>
            <p:cNvPr id="59" name="Text 52">
              <a:extLst>
                <a:ext uri="{FF2B5EF4-FFF2-40B4-BE49-F238E27FC236}">
                  <a16:creationId xmlns:a16="http://schemas.microsoft.com/office/drawing/2014/main" id="{3DD2A82D-29AD-992A-65E7-18D0B08059DF}"/>
                </a:ext>
              </a:extLst>
            </p:cNvPr>
            <p:cNvSpPr/>
            <p:nvPr/>
          </p:nvSpPr>
          <p:spPr>
            <a:xfrm>
              <a:off x="12481560" y="507492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8.30</a:t>
              </a:r>
              <a:endParaRPr lang="en-US" sz="1173" dirty="0"/>
            </a:p>
          </p:txBody>
        </p:sp>
        <p:sp>
          <p:nvSpPr>
            <p:cNvPr id="60" name="Text 53">
              <a:extLst>
                <a:ext uri="{FF2B5EF4-FFF2-40B4-BE49-F238E27FC236}">
                  <a16:creationId xmlns:a16="http://schemas.microsoft.com/office/drawing/2014/main" id="{B0BACA84-F454-B7A1-2BEB-280BE0F2B42B}"/>
                </a:ext>
              </a:extLst>
            </p:cNvPr>
            <p:cNvSpPr/>
            <p:nvPr/>
          </p:nvSpPr>
          <p:spPr>
            <a:xfrm>
              <a:off x="7680960" y="5440680"/>
              <a:ext cx="16764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 solve</a:t>
              </a:r>
              <a:endParaRPr lang="en-US" sz="1042" dirty="0"/>
            </a:p>
          </p:txBody>
        </p:sp>
        <p:sp>
          <p:nvSpPr>
            <p:cNvPr id="61" name="Text 54">
              <a:extLst>
                <a:ext uri="{FF2B5EF4-FFF2-40B4-BE49-F238E27FC236}">
                  <a16:creationId xmlns:a16="http://schemas.microsoft.com/office/drawing/2014/main" id="{C0965E1F-C644-AA81-5C8B-AE4C317CBC5E}"/>
                </a:ext>
              </a:extLst>
            </p:cNvPr>
            <p:cNvSpPr/>
            <p:nvPr/>
          </p:nvSpPr>
          <p:spPr>
            <a:xfrm>
              <a:off x="9403080" y="544068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7.07</a:t>
              </a:r>
              <a:endParaRPr lang="en-US" sz="1173" dirty="0"/>
            </a:p>
          </p:txBody>
        </p:sp>
        <p:sp>
          <p:nvSpPr>
            <p:cNvPr id="62" name="Text 55">
              <a:extLst>
                <a:ext uri="{FF2B5EF4-FFF2-40B4-BE49-F238E27FC236}">
                  <a16:creationId xmlns:a16="http://schemas.microsoft.com/office/drawing/2014/main" id="{A47DB9B9-6052-0C28-8771-79C6D940B336}"/>
                </a:ext>
              </a:extLst>
            </p:cNvPr>
            <p:cNvSpPr/>
            <p:nvPr/>
          </p:nvSpPr>
          <p:spPr>
            <a:xfrm>
              <a:off x="10942320" y="544068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4.24</a:t>
              </a:r>
              <a:endParaRPr lang="en-US" sz="1173" dirty="0"/>
            </a:p>
          </p:txBody>
        </p:sp>
        <p:sp>
          <p:nvSpPr>
            <p:cNvPr id="63" name="Text 56">
              <a:extLst>
                <a:ext uri="{FF2B5EF4-FFF2-40B4-BE49-F238E27FC236}">
                  <a16:creationId xmlns:a16="http://schemas.microsoft.com/office/drawing/2014/main" id="{2A05B0BE-BD7D-E1C5-D244-665A2E487FD5}"/>
                </a:ext>
              </a:extLst>
            </p:cNvPr>
            <p:cNvSpPr/>
            <p:nvPr/>
          </p:nvSpPr>
          <p:spPr>
            <a:xfrm>
              <a:off x="12481560" y="544068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10.00</a:t>
              </a:r>
              <a:endParaRPr lang="en-US" sz="1173" dirty="0"/>
            </a:p>
          </p:txBody>
        </p:sp>
        <p:sp>
          <p:nvSpPr>
            <p:cNvPr id="64" name="Text 57">
              <a:extLst>
                <a:ext uri="{FF2B5EF4-FFF2-40B4-BE49-F238E27FC236}">
                  <a16:creationId xmlns:a16="http://schemas.microsoft.com/office/drawing/2014/main" id="{7984CF9E-5D63-8F9D-299E-3C824037BE27}"/>
                </a:ext>
              </a:extLst>
            </p:cNvPr>
            <p:cNvSpPr/>
            <p:nvPr/>
          </p:nvSpPr>
          <p:spPr>
            <a:xfrm>
              <a:off x="7680960" y="6019800"/>
              <a:ext cx="620268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82,477 solid tetrahedra · 15,653 solid vertices</a:t>
              </a:r>
              <a:endParaRPr lang="en-US" sz="999" dirty="0"/>
            </a:p>
          </p:txBody>
        </p:sp>
        <p:sp>
          <p:nvSpPr>
            <p:cNvPr id="65" name="Shape 58">
              <a:extLst>
                <a:ext uri="{FF2B5EF4-FFF2-40B4-BE49-F238E27FC236}">
                  <a16:creationId xmlns:a16="http://schemas.microsoft.com/office/drawing/2014/main" id="{251F87DC-3A38-8C45-734A-60A92166AAA1}"/>
                </a:ext>
              </a:extLst>
            </p:cNvPr>
            <p:cNvSpPr/>
            <p:nvPr/>
          </p:nvSpPr>
          <p:spPr>
            <a:xfrm>
              <a:off x="7574280" y="2026920"/>
              <a:ext cx="2438400" cy="381000"/>
            </a:xfrm>
            <a:prstGeom prst="roundRect">
              <a:avLst>
                <a:gd name="adj" fmla="val 24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6" name="Shape 59">
              <a:extLst>
                <a:ext uri="{FF2B5EF4-FFF2-40B4-BE49-F238E27FC236}">
                  <a16:creationId xmlns:a16="http://schemas.microsoft.com/office/drawing/2014/main" id="{8B49F71D-E896-18C4-FFC7-57572A74BF3D}"/>
                </a:ext>
              </a:extLst>
            </p:cNvPr>
            <p:cNvSpPr/>
            <p:nvPr/>
          </p:nvSpPr>
          <p:spPr>
            <a:xfrm>
              <a:off x="10012680" y="2026920"/>
              <a:ext cx="1325880" cy="381000"/>
            </a:xfrm>
            <a:prstGeom prst="roundRect">
              <a:avLst>
                <a:gd name="adj" fmla="val 24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7" name="Shape 60">
              <a:extLst>
                <a:ext uri="{FF2B5EF4-FFF2-40B4-BE49-F238E27FC236}">
                  <a16:creationId xmlns:a16="http://schemas.microsoft.com/office/drawing/2014/main" id="{0F2DCF09-CAE1-3537-CEB6-E6C216B7826D}"/>
                </a:ext>
              </a:extLst>
            </p:cNvPr>
            <p:cNvSpPr/>
            <p:nvPr/>
          </p:nvSpPr>
          <p:spPr>
            <a:xfrm>
              <a:off x="11338560" y="2026920"/>
              <a:ext cx="1325880" cy="381000"/>
            </a:xfrm>
            <a:prstGeom prst="roundRect">
              <a:avLst>
                <a:gd name="adj" fmla="val 24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8" name="Shape 61">
              <a:extLst>
                <a:ext uri="{FF2B5EF4-FFF2-40B4-BE49-F238E27FC236}">
                  <a16:creationId xmlns:a16="http://schemas.microsoft.com/office/drawing/2014/main" id="{BEF8E88A-8F80-34E5-05F0-76D63774A88E}"/>
                </a:ext>
              </a:extLst>
            </p:cNvPr>
            <p:cNvSpPr/>
            <p:nvPr/>
          </p:nvSpPr>
          <p:spPr>
            <a:xfrm>
              <a:off x="12664440" y="2026920"/>
              <a:ext cx="1325880" cy="381000"/>
            </a:xfrm>
            <a:prstGeom prst="roundRect">
              <a:avLst>
                <a:gd name="adj" fmla="val 24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9" name="Shape 62">
              <a:extLst>
                <a:ext uri="{FF2B5EF4-FFF2-40B4-BE49-F238E27FC236}">
                  <a16:creationId xmlns:a16="http://schemas.microsoft.com/office/drawing/2014/main" id="{E543DD8E-769D-8A45-72E2-E155D2F5B336}"/>
                </a:ext>
              </a:extLst>
            </p:cNvPr>
            <p:cNvSpPr/>
            <p:nvPr/>
          </p:nvSpPr>
          <p:spPr>
            <a:xfrm>
              <a:off x="7574280" y="2407920"/>
              <a:ext cx="243840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0" name="Shape 63">
              <a:extLst>
                <a:ext uri="{FF2B5EF4-FFF2-40B4-BE49-F238E27FC236}">
                  <a16:creationId xmlns:a16="http://schemas.microsoft.com/office/drawing/2014/main" id="{84AB4F50-5BCC-6DDB-D740-D06C50968D34}"/>
                </a:ext>
              </a:extLst>
            </p:cNvPr>
            <p:cNvSpPr/>
            <p:nvPr/>
          </p:nvSpPr>
          <p:spPr>
            <a:xfrm>
              <a:off x="10012680" y="2407920"/>
              <a:ext cx="132588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1" name="Shape 64">
              <a:extLst>
                <a:ext uri="{FF2B5EF4-FFF2-40B4-BE49-F238E27FC236}">
                  <a16:creationId xmlns:a16="http://schemas.microsoft.com/office/drawing/2014/main" id="{68466734-4E2A-B1EE-E2DE-40F5B92EA65C}"/>
                </a:ext>
              </a:extLst>
            </p:cNvPr>
            <p:cNvSpPr/>
            <p:nvPr/>
          </p:nvSpPr>
          <p:spPr>
            <a:xfrm>
              <a:off x="11338560" y="2407920"/>
              <a:ext cx="132588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2" name="Shape 65">
              <a:extLst>
                <a:ext uri="{FF2B5EF4-FFF2-40B4-BE49-F238E27FC236}">
                  <a16:creationId xmlns:a16="http://schemas.microsoft.com/office/drawing/2014/main" id="{D704483E-79EF-E7C2-81A1-5CA79635A5DC}"/>
                </a:ext>
              </a:extLst>
            </p:cNvPr>
            <p:cNvSpPr/>
            <p:nvPr/>
          </p:nvSpPr>
          <p:spPr>
            <a:xfrm>
              <a:off x="12664440" y="2407920"/>
              <a:ext cx="132588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3" name="Shape 66">
              <a:extLst>
                <a:ext uri="{FF2B5EF4-FFF2-40B4-BE49-F238E27FC236}">
                  <a16:creationId xmlns:a16="http://schemas.microsoft.com/office/drawing/2014/main" id="{21DC43E1-E1BB-DD69-2578-00BAE86CDA0D}"/>
                </a:ext>
              </a:extLst>
            </p:cNvPr>
            <p:cNvSpPr/>
            <p:nvPr/>
          </p:nvSpPr>
          <p:spPr>
            <a:xfrm>
              <a:off x="7574280" y="3002280"/>
              <a:ext cx="243840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4" name="Shape 67">
              <a:extLst>
                <a:ext uri="{FF2B5EF4-FFF2-40B4-BE49-F238E27FC236}">
                  <a16:creationId xmlns:a16="http://schemas.microsoft.com/office/drawing/2014/main" id="{9D68250D-2D80-F3A8-B05C-5A300D17831D}"/>
                </a:ext>
              </a:extLst>
            </p:cNvPr>
            <p:cNvSpPr/>
            <p:nvPr/>
          </p:nvSpPr>
          <p:spPr>
            <a:xfrm>
              <a:off x="10012680" y="3002280"/>
              <a:ext cx="132588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5" name="Shape 68">
              <a:extLst>
                <a:ext uri="{FF2B5EF4-FFF2-40B4-BE49-F238E27FC236}">
                  <a16:creationId xmlns:a16="http://schemas.microsoft.com/office/drawing/2014/main" id="{C91E4167-03EE-2B3D-024A-1E24A9ACFCB9}"/>
                </a:ext>
              </a:extLst>
            </p:cNvPr>
            <p:cNvSpPr/>
            <p:nvPr/>
          </p:nvSpPr>
          <p:spPr>
            <a:xfrm>
              <a:off x="11338560" y="3002280"/>
              <a:ext cx="132588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6" name="Shape 69">
              <a:extLst>
                <a:ext uri="{FF2B5EF4-FFF2-40B4-BE49-F238E27FC236}">
                  <a16:creationId xmlns:a16="http://schemas.microsoft.com/office/drawing/2014/main" id="{A75A29D6-5DB8-7A7B-D48C-5A42EADE31C2}"/>
                </a:ext>
              </a:extLst>
            </p:cNvPr>
            <p:cNvSpPr/>
            <p:nvPr/>
          </p:nvSpPr>
          <p:spPr>
            <a:xfrm>
              <a:off x="12664440" y="3002280"/>
              <a:ext cx="1325880" cy="594360"/>
            </a:xfrm>
            <a:prstGeom prst="roundRect">
              <a:avLst>
                <a:gd name="adj" fmla="val 15385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7" name="Text 70">
              <a:extLst>
                <a:ext uri="{FF2B5EF4-FFF2-40B4-BE49-F238E27FC236}">
                  <a16:creationId xmlns:a16="http://schemas.microsoft.com/office/drawing/2014/main" id="{2674F652-964A-F951-F027-7AF2A30803C6}"/>
                </a:ext>
              </a:extLst>
            </p:cNvPr>
            <p:cNvSpPr/>
            <p:nvPr/>
          </p:nvSpPr>
          <p:spPr>
            <a:xfrm>
              <a:off x="7665720" y="2125980"/>
              <a:ext cx="225552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2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Metric</a:t>
              </a:r>
              <a:endParaRPr lang="en-US" sz="912" dirty="0"/>
            </a:p>
          </p:txBody>
        </p:sp>
        <p:sp>
          <p:nvSpPr>
            <p:cNvPr id="78" name="Text 71">
              <a:extLst>
                <a:ext uri="{FF2B5EF4-FFF2-40B4-BE49-F238E27FC236}">
                  <a16:creationId xmlns:a16="http://schemas.microsoft.com/office/drawing/2014/main" id="{171AE55C-C210-9C6E-5CB6-97E35ACAB03F}"/>
                </a:ext>
              </a:extLst>
            </p:cNvPr>
            <p:cNvSpPr/>
            <p:nvPr/>
          </p:nvSpPr>
          <p:spPr>
            <a:xfrm>
              <a:off x="10104120" y="2125980"/>
              <a:ext cx="11430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2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StressThermal</a:t>
              </a:r>
              <a:endParaRPr lang="en-US" sz="912" dirty="0"/>
            </a:p>
          </p:txBody>
        </p:sp>
        <p:sp>
          <p:nvSpPr>
            <p:cNvPr id="79" name="Text 72">
              <a:extLst>
                <a:ext uri="{FF2B5EF4-FFF2-40B4-BE49-F238E27FC236}">
                  <a16:creationId xmlns:a16="http://schemas.microsoft.com/office/drawing/2014/main" id="{E6AD6FF0-AF89-E51A-EDD4-C5D8640DAE89}"/>
                </a:ext>
              </a:extLst>
            </p:cNvPr>
            <p:cNvSpPr/>
            <p:nvPr/>
          </p:nvSpPr>
          <p:spPr>
            <a:xfrm>
              <a:off x="11430000" y="2125980"/>
              <a:ext cx="11430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2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S</a:t>
              </a:r>
              <a:endParaRPr lang="en-US" sz="912" dirty="0"/>
            </a:p>
          </p:txBody>
        </p:sp>
        <p:sp>
          <p:nvSpPr>
            <p:cNvPr id="80" name="Text 73">
              <a:extLst>
                <a:ext uri="{FF2B5EF4-FFF2-40B4-BE49-F238E27FC236}">
                  <a16:creationId xmlns:a16="http://schemas.microsoft.com/office/drawing/2014/main" id="{53688DF8-CA67-07F5-61D6-5149CAB1F1B6}"/>
                </a:ext>
              </a:extLst>
            </p:cNvPr>
            <p:cNvSpPr/>
            <p:nvPr/>
          </p:nvSpPr>
          <p:spPr>
            <a:xfrm>
              <a:off x="12755880" y="2125980"/>
              <a:ext cx="11430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2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A</a:t>
              </a:r>
              <a:endParaRPr lang="en-US" sz="912" dirty="0"/>
            </a:p>
          </p:txBody>
        </p:sp>
        <p:sp>
          <p:nvSpPr>
            <p:cNvPr id="81" name="Text 74">
              <a:extLst>
                <a:ext uri="{FF2B5EF4-FFF2-40B4-BE49-F238E27FC236}">
                  <a16:creationId xmlns:a16="http://schemas.microsoft.com/office/drawing/2014/main" id="{31DA5056-A04C-A9B9-1B1C-91F7F0D705B2}"/>
                </a:ext>
              </a:extLst>
            </p:cNvPr>
            <p:cNvSpPr/>
            <p:nvPr/>
          </p:nvSpPr>
          <p:spPr>
            <a:xfrm>
              <a:off x="7680960" y="2484120"/>
              <a:ext cx="222504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Maximum Temperature</a:t>
              </a:r>
              <a:endParaRPr lang="en-US" sz="1042" dirty="0"/>
            </a:p>
          </p:txBody>
        </p:sp>
        <p:sp>
          <p:nvSpPr>
            <p:cNvPr id="82" name="Text 75">
              <a:extLst>
                <a:ext uri="{FF2B5EF4-FFF2-40B4-BE49-F238E27FC236}">
                  <a16:creationId xmlns:a16="http://schemas.microsoft.com/office/drawing/2014/main" id="{48631FC5-D7CE-06F1-D437-F5A29898B6B7}"/>
                </a:ext>
              </a:extLst>
            </p:cNvPr>
            <p:cNvSpPr/>
            <p:nvPr/>
          </p:nvSpPr>
          <p:spPr>
            <a:xfrm>
              <a:off x="7680960" y="2712720"/>
              <a:ext cx="22250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(K)</a:t>
              </a:r>
              <a:endParaRPr lang="en-US" sz="955" dirty="0"/>
            </a:p>
          </p:txBody>
        </p:sp>
        <p:sp>
          <p:nvSpPr>
            <p:cNvPr id="83" name="Text 76">
              <a:extLst>
                <a:ext uri="{FF2B5EF4-FFF2-40B4-BE49-F238E27FC236}">
                  <a16:creationId xmlns:a16="http://schemas.microsoft.com/office/drawing/2014/main" id="{058CDB08-262F-0F54-4837-B9CB4A4FF219}"/>
                </a:ext>
              </a:extLst>
            </p:cNvPr>
            <p:cNvSpPr/>
            <p:nvPr/>
          </p:nvSpPr>
          <p:spPr>
            <a:xfrm>
              <a:off x="7680960" y="3078480"/>
              <a:ext cx="222504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Maximum Equivalent</a:t>
              </a:r>
              <a:endParaRPr lang="en-US" sz="1042" dirty="0"/>
            </a:p>
          </p:txBody>
        </p:sp>
        <p:sp>
          <p:nvSpPr>
            <p:cNvPr id="84" name="Text 77">
              <a:extLst>
                <a:ext uri="{FF2B5EF4-FFF2-40B4-BE49-F238E27FC236}">
                  <a16:creationId xmlns:a16="http://schemas.microsoft.com/office/drawing/2014/main" id="{3DFA07FF-9DD4-6046-5489-5386005F7F6E}"/>
                </a:ext>
              </a:extLst>
            </p:cNvPr>
            <p:cNvSpPr/>
            <p:nvPr/>
          </p:nvSpPr>
          <p:spPr>
            <a:xfrm>
              <a:off x="7680960" y="3307080"/>
              <a:ext cx="222504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 (MPa)</a:t>
              </a:r>
              <a:endParaRPr lang="en-US" sz="1042" dirty="0"/>
            </a:p>
          </p:txBody>
        </p:sp>
        <p:sp>
          <p:nvSpPr>
            <p:cNvPr id="85" name="Text 78">
              <a:extLst>
                <a:ext uri="{FF2B5EF4-FFF2-40B4-BE49-F238E27FC236}">
                  <a16:creationId xmlns:a16="http://schemas.microsoft.com/office/drawing/2014/main" id="{5853C66A-6FAC-59F9-4298-647424F81B84}"/>
                </a:ext>
              </a:extLst>
            </p:cNvPr>
            <p:cNvSpPr/>
            <p:nvPr/>
          </p:nvSpPr>
          <p:spPr>
            <a:xfrm>
              <a:off x="10104120" y="2583180"/>
              <a:ext cx="1143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490.016</a:t>
              </a:r>
              <a:endParaRPr lang="en-US" sz="1086" dirty="0"/>
            </a:p>
          </p:txBody>
        </p:sp>
        <p:sp>
          <p:nvSpPr>
            <p:cNvPr id="86" name="Text 79">
              <a:extLst>
                <a:ext uri="{FF2B5EF4-FFF2-40B4-BE49-F238E27FC236}">
                  <a16:creationId xmlns:a16="http://schemas.microsoft.com/office/drawing/2014/main" id="{466E5CFC-DC06-6575-9E2B-D65756899428}"/>
                </a:ext>
              </a:extLst>
            </p:cNvPr>
            <p:cNvSpPr/>
            <p:nvPr/>
          </p:nvSpPr>
          <p:spPr>
            <a:xfrm>
              <a:off x="11430000" y="2583180"/>
              <a:ext cx="1143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489.456</a:t>
              </a:r>
              <a:endParaRPr lang="en-US" sz="1086" dirty="0"/>
            </a:p>
          </p:txBody>
        </p:sp>
        <p:sp>
          <p:nvSpPr>
            <p:cNvPr id="87" name="Text 80">
              <a:extLst>
                <a:ext uri="{FF2B5EF4-FFF2-40B4-BE49-F238E27FC236}">
                  <a16:creationId xmlns:a16="http://schemas.microsoft.com/office/drawing/2014/main" id="{D707EA19-CDFA-E197-D54E-0E2D60F81CA5}"/>
                </a:ext>
              </a:extLst>
            </p:cNvPr>
            <p:cNvSpPr/>
            <p:nvPr/>
          </p:nvSpPr>
          <p:spPr>
            <a:xfrm>
              <a:off x="12755880" y="2583180"/>
              <a:ext cx="1143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489.433</a:t>
              </a:r>
              <a:endParaRPr lang="en-US" sz="1086" dirty="0"/>
            </a:p>
          </p:txBody>
        </p:sp>
        <p:sp>
          <p:nvSpPr>
            <p:cNvPr id="88" name="Text 81">
              <a:extLst>
                <a:ext uri="{FF2B5EF4-FFF2-40B4-BE49-F238E27FC236}">
                  <a16:creationId xmlns:a16="http://schemas.microsoft.com/office/drawing/2014/main" id="{011BB01F-B1B9-2890-0D28-CEAC9059D2E5}"/>
                </a:ext>
              </a:extLst>
            </p:cNvPr>
            <p:cNvSpPr/>
            <p:nvPr/>
          </p:nvSpPr>
          <p:spPr>
            <a:xfrm>
              <a:off x="10104120" y="3177540"/>
              <a:ext cx="1143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1105.175</a:t>
              </a:r>
              <a:endParaRPr lang="en-US" sz="1086" dirty="0"/>
            </a:p>
          </p:txBody>
        </p:sp>
        <p:sp>
          <p:nvSpPr>
            <p:cNvPr id="89" name="Text 82">
              <a:extLst>
                <a:ext uri="{FF2B5EF4-FFF2-40B4-BE49-F238E27FC236}">
                  <a16:creationId xmlns:a16="http://schemas.microsoft.com/office/drawing/2014/main" id="{AF6E1D2F-B334-359F-D97B-C0912549CDEC}"/>
                </a:ext>
              </a:extLst>
            </p:cNvPr>
            <p:cNvSpPr/>
            <p:nvPr/>
          </p:nvSpPr>
          <p:spPr>
            <a:xfrm>
              <a:off x="11430000" y="3177540"/>
              <a:ext cx="1143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1105.423</a:t>
              </a:r>
              <a:endParaRPr lang="en-US" sz="1086" dirty="0"/>
            </a:p>
          </p:txBody>
        </p:sp>
        <p:sp>
          <p:nvSpPr>
            <p:cNvPr id="90" name="Text 83">
              <a:extLst>
                <a:ext uri="{FF2B5EF4-FFF2-40B4-BE49-F238E27FC236}">
                  <a16:creationId xmlns:a16="http://schemas.microsoft.com/office/drawing/2014/main" id="{DA24C41E-19E2-44CD-303D-41A13398FC6E}"/>
                </a:ext>
              </a:extLst>
            </p:cNvPr>
            <p:cNvSpPr/>
            <p:nvPr/>
          </p:nvSpPr>
          <p:spPr>
            <a:xfrm>
              <a:off x="12755880" y="3177540"/>
              <a:ext cx="1143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1106.836</a:t>
              </a:r>
              <a:endParaRPr lang="en-US" sz="1086" dirty="0"/>
            </a:p>
          </p:txBody>
        </p:sp>
      </p:grpSp>
      <p:sp>
        <p:nvSpPr>
          <p:cNvPr id="93" name="Shape 2">
            <a:extLst>
              <a:ext uri="{FF2B5EF4-FFF2-40B4-BE49-F238E27FC236}">
                <a16:creationId xmlns:a16="http://schemas.microsoft.com/office/drawing/2014/main" id="{4EB75A47-C8C0-86C1-27C4-6C827AA07474}"/>
              </a:ext>
            </a:extLst>
          </p:cNvPr>
          <p:cNvSpPr/>
          <p:nvPr/>
        </p:nvSpPr>
        <p:spPr>
          <a:xfrm>
            <a:off x="5879037" y="203925"/>
            <a:ext cx="4404909" cy="786591"/>
          </a:xfrm>
          <a:prstGeom prst="roundRect">
            <a:avLst>
              <a:gd name="adj" fmla="val 9600"/>
            </a:avLst>
          </a:prstGeom>
          <a:solidFill>
            <a:srgbClr val="DCE9F5"/>
          </a:solidFill>
          <a:ln w="10160">
            <a:solidFill>
              <a:srgbClr val="668AAA"/>
            </a:solidFill>
            <a:prstDash val="solid"/>
          </a:ln>
        </p:spPr>
      </p:sp>
      <p:sp>
        <p:nvSpPr>
          <p:cNvPr id="95" name="Text 3">
            <a:extLst>
              <a:ext uri="{FF2B5EF4-FFF2-40B4-BE49-F238E27FC236}">
                <a16:creationId xmlns:a16="http://schemas.microsoft.com/office/drawing/2014/main" id="{BBEC229F-7155-CD0B-DC79-F71598F584E0}"/>
              </a:ext>
            </a:extLst>
          </p:cNvPr>
          <p:cNvSpPr/>
          <p:nvPr/>
        </p:nvSpPr>
        <p:spPr>
          <a:xfrm>
            <a:off x="6004891" y="285730"/>
            <a:ext cx="4153200" cy="169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9" b="1" dirty="0">
                <a:solidFill>
                  <a:srgbClr val="17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adapted from Sentaurus Applications Library</a:t>
            </a:r>
            <a:endParaRPr lang="en-US" sz="869" dirty="0"/>
          </a:p>
        </p:txBody>
      </p:sp>
      <p:sp>
        <p:nvSpPr>
          <p:cNvPr id="97" name="Text 4">
            <a:extLst>
              <a:ext uri="{FF2B5EF4-FFF2-40B4-BE49-F238E27FC236}">
                <a16:creationId xmlns:a16="http://schemas.microsoft.com/office/drawing/2014/main" id="{DE1DF3E8-2452-E7CD-397D-4EA49768CCFA}"/>
              </a:ext>
            </a:extLst>
          </p:cNvPr>
          <p:cNvSpPr/>
          <p:nvPr/>
        </p:nvSpPr>
        <p:spPr>
          <a:xfrm>
            <a:off x="6004891" y="512269"/>
            <a:ext cx="4153200" cy="169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9" b="1" dirty="0">
                <a:solidFill>
                  <a:srgbClr val="17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Solver: StressThermal</a:t>
            </a:r>
            <a:endParaRPr lang="en-US" sz="869" dirty="0"/>
          </a:p>
        </p:txBody>
      </p:sp>
      <p:sp>
        <p:nvSpPr>
          <p:cNvPr id="99" name="Text 5">
            <a:extLst>
              <a:ext uri="{FF2B5EF4-FFF2-40B4-BE49-F238E27FC236}">
                <a16:creationId xmlns:a16="http://schemas.microsoft.com/office/drawing/2014/main" id="{F5C8FAD6-70D7-C2F3-EA91-3161C8A2F2D2}"/>
              </a:ext>
            </a:extLst>
          </p:cNvPr>
          <p:cNvSpPr/>
          <p:nvPr/>
        </p:nvSpPr>
        <p:spPr>
          <a:xfrm>
            <a:off x="6004891" y="738808"/>
            <a:ext cx="4153200" cy="169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9" b="1" dirty="0">
                <a:solidFill>
                  <a:srgbClr val="172D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Post-processing: h5py · NumPy · VTK · Pillow</a:t>
            </a:r>
            <a:endParaRPr lang="en-US" sz="869" dirty="0"/>
          </a:p>
        </p:txBody>
      </p:sp>
    </p:spTree>
    <p:extLst>
      <p:ext uri="{BB962C8B-B14F-4D97-AF65-F5344CB8AC3E}">
        <p14:creationId xmlns:p14="http://schemas.microsoft.com/office/powerpoint/2010/main" val="2030502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C93311D4-B6FD-EACE-DD5B-54D17F1A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Case 2 — </a:t>
            </a:r>
            <a:r>
              <a:rPr lang="en-US" altLang="zh-CN" dirty="0" err="1"/>
              <a:t>Submodelling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F1BEB5-616A-3D52-DDC0-FF0D607B16F5}"/>
              </a:ext>
            </a:extLst>
          </p:cNvPr>
          <p:cNvGrpSpPr>
            <a:grpSpLocks noChangeAspect="1"/>
          </p:cNvGrpSpPr>
          <p:nvPr/>
        </p:nvGrpSpPr>
        <p:grpSpPr>
          <a:xfrm>
            <a:off x="486599" y="203925"/>
            <a:ext cx="11326909" cy="6205584"/>
            <a:chOff x="457200" y="235063"/>
            <a:chExt cx="13716000" cy="7514477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BFA329F0-C7D5-0236-D648-EC8E7DAA2EE8}"/>
                </a:ext>
              </a:extLst>
            </p:cNvPr>
            <p:cNvSpPr/>
            <p:nvPr/>
          </p:nvSpPr>
          <p:spPr>
            <a:xfrm>
              <a:off x="4953000" y="678180"/>
              <a:ext cx="914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1920" dirty="0"/>
            </a:p>
          </p:txBody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D0E7DB8-0268-F988-0ECA-D29F72860A77}"/>
                </a:ext>
              </a:extLst>
            </p:cNvPr>
            <p:cNvSpPr/>
            <p:nvPr/>
          </p:nvSpPr>
          <p:spPr>
            <a:xfrm>
              <a:off x="6987020" y="235063"/>
              <a:ext cx="5334000" cy="952500"/>
            </a:xfrm>
            <a:prstGeom prst="roundRect">
              <a:avLst>
                <a:gd name="adj" fmla="val 9600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E51989F9-3364-2343-8136-2B64E1B3E5CA}"/>
                </a:ext>
              </a:extLst>
            </p:cNvPr>
            <p:cNvSpPr/>
            <p:nvPr/>
          </p:nvSpPr>
          <p:spPr>
            <a:xfrm>
              <a:off x="7139420" y="334122"/>
              <a:ext cx="502920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69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Source: adapted from Sentaurus Applications Library</a:t>
              </a:r>
              <a:endParaRPr lang="en-US" sz="869" dirty="0"/>
            </a:p>
          </p:txBody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21D4FFCE-4BBE-6272-FC12-52E2C7DA02EA}"/>
                </a:ext>
              </a:extLst>
            </p:cNvPr>
            <p:cNvSpPr/>
            <p:nvPr/>
          </p:nvSpPr>
          <p:spPr>
            <a:xfrm>
              <a:off x="7139420" y="608443"/>
              <a:ext cx="502920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69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Solver: StressThermal</a:t>
              </a:r>
              <a:endParaRPr lang="en-US" sz="869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9DDDA9F7-4C98-7204-B6D9-7EA286B40A52}"/>
                </a:ext>
              </a:extLst>
            </p:cNvPr>
            <p:cNvSpPr/>
            <p:nvPr/>
          </p:nvSpPr>
          <p:spPr>
            <a:xfrm>
              <a:off x="7139420" y="882764"/>
              <a:ext cx="502920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69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Post-processing: h5py · NumPy · VTK · Pillow</a:t>
              </a:r>
              <a:endParaRPr lang="en-US" sz="869" dirty="0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FB417971-60D9-18D3-5FFA-FD3345BFE741}"/>
                </a:ext>
              </a:extLst>
            </p:cNvPr>
            <p:cNvSpPr/>
            <p:nvPr/>
          </p:nvSpPr>
          <p:spPr>
            <a:xfrm>
              <a:off x="457200" y="1333500"/>
              <a:ext cx="6781801" cy="6416040"/>
            </a:xfrm>
            <a:prstGeom prst="roundRect">
              <a:avLst>
                <a:gd name="adj" fmla="val 1425"/>
              </a:avLst>
            </a:prstGeom>
            <a:solidFill>
              <a:srgbClr val="FFFFFF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816B9046-BD9F-7BC4-4704-D9E44E98CC75}"/>
                </a:ext>
              </a:extLst>
            </p:cNvPr>
            <p:cNvSpPr/>
            <p:nvPr/>
          </p:nvSpPr>
          <p:spPr>
            <a:xfrm>
              <a:off x="647700" y="1943100"/>
              <a:ext cx="20193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Geometry</a:t>
              </a:r>
              <a:endParaRPr lang="en-US" sz="1086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50C017B3-E144-73D7-A16C-A9BDD8615F22}"/>
                </a:ext>
              </a:extLst>
            </p:cNvPr>
            <p:cNvSpPr/>
            <p:nvPr/>
          </p:nvSpPr>
          <p:spPr>
            <a:xfrm>
              <a:off x="2819400" y="1943100"/>
              <a:ext cx="20193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× 3 pillar array</a:t>
              </a:r>
              <a:endParaRPr lang="en-US" sz="1042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E2581480-1A16-8F92-D6E5-B5F29EC91388}"/>
                </a:ext>
              </a:extLst>
            </p:cNvPr>
            <p:cNvSpPr/>
            <p:nvPr/>
          </p:nvSpPr>
          <p:spPr>
            <a:xfrm>
              <a:off x="4991100" y="1943100"/>
              <a:ext cx="21336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Single-pillar submodel</a:t>
              </a:r>
              <a:endParaRPr lang="en-US" sz="1042" dirty="0"/>
            </a:p>
          </p:txBody>
        </p:sp>
        <p:pic>
          <p:nvPicPr>
            <p:cNvPr id="13" name="Image 0" descr="preencoded.png">
              <a:extLst>
                <a:ext uri="{FF2B5EF4-FFF2-40B4-BE49-F238E27FC236}">
                  <a16:creationId xmlns:a16="http://schemas.microsoft.com/office/drawing/2014/main" id="{E3BC6E7B-F061-FD87-DCB6-C0A393F24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700" y="2362200"/>
              <a:ext cx="2133600" cy="1450848"/>
            </a:xfrm>
            <a:prstGeom prst="rect">
              <a:avLst/>
            </a:prstGeom>
          </p:spPr>
        </p:pic>
        <p:pic>
          <p:nvPicPr>
            <p:cNvPr id="14" name="Image 1" descr="preencoded.png">
              <a:extLst>
                <a:ext uri="{FF2B5EF4-FFF2-40B4-BE49-F238E27FC236}">
                  <a16:creationId xmlns:a16="http://schemas.microsoft.com/office/drawing/2014/main" id="{AA7FD004-7BAA-A5F5-EBC2-7763E8424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19400" y="2857500"/>
              <a:ext cx="1943100" cy="1478446"/>
            </a:xfrm>
            <a:prstGeom prst="rect">
              <a:avLst/>
            </a:prstGeom>
          </p:spPr>
        </p:pic>
        <p:pic>
          <p:nvPicPr>
            <p:cNvPr id="15" name="Image 2" descr="preencoded.png">
              <a:extLst>
                <a:ext uri="{FF2B5EF4-FFF2-40B4-BE49-F238E27FC236}">
                  <a16:creationId xmlns:a16="http://schemas.microsoft.com/office/drawing/2014/main" id="{9C1AAE46-F94E-5C3E-75EE-0560F3353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000" y="2857500"/>
              <a:ext cx="1295400" cy="1512333"/>
            </a:xfrm>
            <a:prstGeom prst="rect">
              <a:avLst/>
            </a:prstGeom>
          </p:spPr>
        </p:pic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60AF0A7B-70B7-1DC0-5959-6D6F537A54FD}"/>
                </a:ext>
              </a:extLst>
            </p:cNvPr>
            <p:cNvSpPr/>
            <p:nvPr/>
          </p:nvSpPr>
          <p:spPr>
            <a:xfrm>
              <a:off x="2819400" y="4411980"/>
              <a:ext cx="19431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55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Equivalent stress</a:t>
              </a:r>
              <a:endParaRPr lang="en-US" sz="955" dirty="0"/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3A164FA6-5F96-8406-99DB-A5AF8D7E8DA8}"/>
                </a:ext>
              </a:extLst>
            </p:cNvPr>
            <p:cNvSpPr/>
            <p:nvPr/>
          </p:nvSpPr>
          <p:spPr>
            <a:xfrm>
              <a:off x="4991100" y="4411980"/>
              <a:ext cx="19431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55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Equivalent stress</a:t>
              </a:r>
              <a:endParaRPr lang="en-US" sz="955" dirty="0"/>
            </a:p>
          </p:txBody>
        </p:sp>
        <p:sp>
          <p:nvSpPr>
            <p:cNvPr id="18" name="Text 12">
              <a:extLst>
                <a:ext uri="{FF2B5EF4-FFF2-40B4-BE49-F238E27FC236}">
                  <a16:creationId xmlns:a16="http://schemas.microsoft.com/office/drawing/2014/main" id="{062848A5-0707-C349-73E7-F2F231B52D4D}"/>
                </a:ext>
              </a:extLst>
            </p:cNvPr>
            <p:cNvSpPr/>
            <p:nvPr/>
          </p:nvSpPr>
          <p:spPr>
            <a:xfrm>
              <a:off x="3619500" y="2217420"/>
              <a:ext cx="25527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12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Global-to-local displacement</a:t>
              </a:r>
              <a:endParaRPr lang="en-US" sz="912" dirty="0"/>
            </a:p>
          </p:txBody>
        </p:sp>
        <p:sp>
          <p:nvSpPr>
            <p:cNvPr id="19" name="Text 13">
              <a:extLst>
                <a:ext uri="{FF2B5EF4-FFF2-40B4-BE49-F238E27FC236}">
                  <a16:creationId xmlns:a16="http://schemas.microsoft.com/office/drawing/2014/main" id="{206B05C3-496C-6688-A3D9-2B6CAB2D7E5A}"/>
                </a:ext>
              </a:extLst>
            </p:cNvPr>
            <p:cNvSpPr/>
            <p:nvPr/>
          </p:nvSpPr>
          <p:spPr>
            <a:xfrm>
              <a:off x="3771900" y="2674620"/>
              <a:ext cx="22479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12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Mapping</a:t>
              </a:r>
              <a:endParaRPr lang="en-US" sz="912" dirty="0"/>
            </a:p>
          </p:txBody>
        </p:sp>
        <p:sp>
          <p:nvSpPr>
            <p:cNvPr id="20" name="Shape 14">
              <a:extLst>
                <a:ext uri="{FF2B5EF4-FFF2-40B4-BE49-F238E27FC236}">
                  <a16:creationId xmlns:a16="http://schemas.microsoft.com/office/drawing/2014/main" id="{865D9BB9-B7AF-F4ED-6FF1-BF1F0DD60B28}"/>
                </a:ext>
              </a:extLst>
            </p:cNvPr>
            <p:cNvSpPr/>
            <p:nvPr/>
          </p:nvSpPr>
          <p:spPr>
            <a:xfrm>
              <a:off x="4572000" y="2560320"/>
              <a:ext cx="632460" cy="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9917DFAB-D14E-A0EE-E6AD-2DCC65D95691}"/>
                </a:ext>
              </a:extLst>
            </p:cNvPr>
            <p:cNvSpPr/>
            <p:nvPr/>
          </p:nvSpPr>
          <p:spPr>
            <a:xfrm>
              <a:off x="5113020" y="2499360"/>
              <a:ext cx="91440" cy="6096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22" name="Shape 16">
              <a:extLst>
                <a:ext uri="{FF2B5EF4-FFF2-40B4-BE49-F238E27FC236}">
                  <a16:creationId xmlns:a16="http://schemas.microsoft.com/office/drawing/2014/main" id="{F083904F-FDD9-ACBB-D521-2F6A50CB63A8}"/>
                </a:ext>
              </a:extLst>
            </p:cNvPr>
            <p:cNvSpPr/>
            <p:nvPr/>
          </p:nvSpPr>
          <p:spPr>
            <a:xfrm flipV="1">
              <a:off x="5113020" y="2560320"/>
              <a:ext cx="91440" cy="60960"/>
            </a:xfrm>
            <a:prstGeom prst="line">
              <a:avLst/>
            </a:prstGeom>
            <a:noFill/>
            <a:ln w="16510">
              <a:solidFill>
                <a:srgbClr val="206D65"/>
              </a:solidFill>
              <a:prstDash val="solid"/>
            </a:ln>
          </p:spPr>
        </p:sp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A67CEC29-AE07-D0EB-3424-CB2190EF3343}"/>
                </a:ext>
              </a:extLst>
            </p:cNvPr>
            <p:cNvSpPr/>
            <p:nvPr/>
          </p:nvSpPr>
          <p:spPr>
            <a:xfrm>
              <a:off x="647700" y="467868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Case background</a:t>
              </a:r>
              <a:endParaRPr lang="en-US" sz="1303" dirty="0"/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D31C9EA4-F389-5E5D-19CF-17B127080F1D}"/>
                </a:ext>
              </a:extLst>
            </p:cNvPr>
            <p:cNvSpPr/>
            <p:nvPr/>
          </p:nvSpPr>
          <p:spPr>
            <a:xfrm>
              <a:off x="647700" y="504444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Flip-chip package · 3 × 3 copper pillars</a:t>
              </a:r>
              <a:endParaRPr lang="en-US" sz="1303" dirty="0"/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9550410E-BB47-E15F-CF53-A1AAB319BC08}"/>
                </a:ext>
              </a:extLst>
            </p:cNvPr>
            <p:cNvSpPr/>
            <p:nvPr/>
          </p:nvSpPr>
          <p:spPr>
            <a:xfrm>
              <a:off x="647700" y="537972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Cooling: 180 °C → 25 °C</a:t>
              </a:r>
              <a:endParaRPr lang="en-US" sz="1303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7F917092-9AF4-D56C-F604-EE7E3ABAC21B}"/>
                </a:ext>
              </a:extLst>
            </p:cNvPr>
            <p:cNvSpPr/>
            <p:nvPr/>
          </p:nvSpPr>
          <p:spPr>
            <a:xfrm>
              <a:off x="647700" y="605028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Highlighted feature: Mechanical submodelling</a:t>
              </a:r>
              <a:endParaRPr lang="en-US" sz="1303" dirty="0"/>
            </a:p>
          </p:txBody>
        </p:sp>
        <p:sp>
          <p:nvSpPr>
            <p:cNvPr id="28" name="Text 21">
              <a:extLst>
                <a:ext uri="{FF2B5EF4-FFF2-40B4-BE49-F238E27FC236}">
                  <a16:creationId xmlns:a16="http://schemas.microsoft.com/office/drawing/2014/main" id="{33C685F4-8111-A754-2A76-75FA98353434}"/>
                </a:ext>
              </a:extLst>
            </p:cNvPr>
            <p:cNvSpPr/>
            <p:nvPr/>
          </p:nvSpPr>
          <p:spPr>
            <a:xfrm>
              <a:off x="647700" y="644652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Map global displacement</a:t>
              </a:r>
              <a:endParaRPr lang="en-US" sz="1303" dirty="0"/>
            </a:p>
          </p:txBody>
        </p:sp>
        <p:sp>
          <p:nvSpPr>
            <p:cNvPr id="29" name="Text 22">
              <a:extLst>
                <a:ext uri="{FF2B5EF4-FFF2-40B4-BE49-F238E27FC236}">
                  <a16:creationId xmlns:a16="http://schemas.microsoft.com/office/drawing/2014/main" id="{B937399F-0622-D7C0-E110-29C811130056}"/>
                </a:ext>
              </a:extLst>
            </p:cNvPr>
            <p:cNvSpPr/>
            <p:nvPr/>
          </p:nvSpPr>
          <p:spPr>
            <a:xfrm>
              <a:off x="647700" y="678942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Refine the single-pillar mesh</a:t>
              </a:r>
              <a:endParaRPr lang="en-US" sz="1303" dirty="0"/>
            </a:p>
          </p:txBody>
        </p:sp>
        <p:sp>
          <p:nvSpPr>
            <p:cNvPr id="30" name="Text 23">
              <a:extLst>
                <a:ext uri="{FF2B5EF4-FFF2-40B4-BE49-F238E27FC236}">
                  <a16:creationId xmlns:a16="http://schemas.microsoft.com/office/drawing/2014/main" id="{92114C48-271A-47C3-A195-9174D0482078}"/>
                </a:ext>
              </a:extLst>
            </p:cNvPr>
            <p:cNvSpPr/>
            <p:nvPr/>
          </p:nvSpPr>
          <p:spPr>
            <a:xfrm>
              <a:off x="647700" y="7132320"/>
              <a:ext cx="632460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Solve local stress</a:t>
              </a:r>
              <a:endParaRPr lang="en-US" sz="1303" dirty="0"/>
            </a:p>
          </p:txBody>
        </p:sp>
        <p:sp>
          <p:nvSpPr>
            <p:cNvPr id="31" name="Shape 24">
              <a:extLst>
                <a:ext uri="{FF2B5EF4-FFF2-40B4-BE49-F238E27FC236}">
                  <a16:creationId xmlns:a16="http://schemas.microsoft.com/office/drawing/2014/main" id="{54BC325B-BEC7-DA42-A4DC-3E76552AAF10}"/>
                </a:ext>
              </a:extLst>
            </p:cNvPr>
            <p:cNvSpPr/>
            <p:nvPr/>
          </p:nvSpPr>
          <p:spPr>
            <a:xfrm>
              <a:off x="7391400" y="1333500"/>
              <a:ext cx="6781800" cy="2476500"/>
            </a:xfrm>
            <a:prstGeom prst="roundRect">
              <a:avLst>
                <a:gd name="adj" fmla="val 3692"/>
              </a:avLst>
            </a:prstGeom>
            <a:solidFill>
              <a:srgbClr val="F7FAFE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2" name="Shape 25">
              <a:extLst>
                <a:ext uri="{FF2B5EF4-FFF2-40B4-BE49-F238E27FC236}">
                  <a16:creationId xmlns:a16="http://schemas.microsoft.com/office/drawing/2014/main" id="{9C9A29B8-D47E-8CAC-E1F0-DB53A5244187}"/>
                </a:ext>
              </a:extLst>
            </p:cNvPr>
            <p:cNvSpPr/>
            <p:nvPr/>
          </p:nvSpPr>
          <p:spPr>
            <a:xfrm>
              <a:off x="7391399" y="4038600"/>
              <a:ext cx="6781800" cy="3706921"/>
            </a:xfrm>
            <a:prstGeom prst="roundRect">
              <a:avLst>
                <a:gd name="adj" fmla="val 2885"/>
              </a:avLst>
            </a:prstGeom>
            <a:solidFill>
              <a:srgbClr val="F7FAFE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3" name="Shape 26">
              <a:extLst>
                <a:ext uri="{FF2B5EF4-FFF2-40B4-BE49-F238E27FC236}">
                  <a16:creationId xmlns:a16="http://schemas.microsoft.com/office/drawing/2014/main" id="{31640868-FC7D-B794-CE39-C9DAEDFC0532}"/>
                </a:ext>
              </a:extLst>
            </p:cNvPr>
            <p:cNvSpPr/>
            <p:nvPr/>
          </p:nvSpPr>
          <p:spPr>
            <a:xfrm>
              <a:off x="7574280" y="1524000"/>
              <a:ext cx="6416040" cy="335280"/>
            </a:xfrm>
            <a:prstGeom prst="roundRect">
              <a:avLst>
                <a:gd name="adj" fmla="val 27273"/>
              </a:avLst>
            </a:prstGeom>
            <a:solidFill>
              <a:srgbClr val="DCE9F5"/>
            </a:solidFill>
            <a:ln w="10160">
              <a:solidFill>
                <a:srgbClr val="DCE9F5"/>
              </a:solidFill>
              <a:prstDash val="solid"/>
            </a:ln>
          </p:spPr>
        </p:sp>
        <p:sp>
          <p:nvSpPr>
            <p:cNvPr id="34" name="Text 27">
              <a:extLst>
                <a:ext uri="{FF2B5EF4-FFF2-40B4-BE49-F238E27FC236}">
                  <a16:creationId xmlns:a16="http://schemas.microsoft.com/office/drawing/2014/main" id="{6305BDDA-966F-348A-3791-D3F8FAB64BF1}"/>
                </a:ext>
              </a:extLst>
            </p:cNvPr>
            <p:cNvSpPr/>
            <p:nvPr/>
          </p:nvSpPr>
          <p:spPr>
            <a:xfrm>
              <a:off x="7680960" y="1562100"/>
              <a:ext cx="6096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ACCURACY</a:t>
              </a:r>
              <a:endParaRPr lang="en-US" sz="1086" dirty="0"/>
            </a:p>
          </p:txBody>
        </p:sp>
        <p:sp>
          <p:nvSpPr>
            <p:cNvPr id="35" name="Shape 28">
              <a:extLst>
                <a:ext uri="{FF2B5EF4-FFF2-40B4-BE49-F238E27FC236}">
                  <a16:creationId xmlns:a16="http://schemas.microsoft.com/office/drawing/2014/main" id="{58C391D4-7027-BB1A-EEDD-D1893EFD28BD}"/>
                </a:ext>
              </a:extLst>
            </p:cNvPr>
            <p:cNvSpPr/>
            <p:nvPr/>
          </p:nvSpPr>
          <p:spPr>
            <a:xfrm>
              <a:off x="7574280" y="4191000"/>
              <a:ext cx="6416040" cy="335280"/>
            </a:xfrm>
            <a:prstGeom prst="roundRect">
              <a:avLst>
                <a:gd name="adj" fmla="val 27273"/>
              </a:avLst>
            </a:prstGeom>
            <a:solidFill>
              <a:srgbClr val="DCE9F5"/>
            </a:solidFill>
            <a:ln w="10160">
              <a:solidFill>
                <a:srgbClr val="DCE9F5"/>
              </a:solidFill>
              <a:prstDash val="solid"/>
            </a:ln>
          </p:spPr>
        </p:sp>
        <p:sp>
          <p:nvSpPr>
            <p:cNvPr id="36" name="Shape 29">
              <a:extLst>
                <a:ext uri="{FF2B5EF4-FFF2-40B4-BE49-F238E27FC236}">
                  <a16:creationId xmlns:a16="http://schemas.microsoft.com/office/drawing/2014/main" id="{DCE0FDE1-97FE-5654-2301-CE90BB1895F5}"/>
                </a:ext>
              </a:extLst>
            </p:cNvPr>
            <p:cNvSpPr/>
            <p:nvPr/>
          </p:nvSpPr>
          <p:spPr>
            <a:xfrm>
              <a:off x="7574280" y="2026920"/>
              <a:ext cx="2438400" cy="548640"/>
            </a:xfrm>
            <a:prstGeom prst="roundRect">
              <a:avLst>
                <a:gd name="adj" fmla="val 16667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37" name="Shape 30">
              <a:extLst>
                <a:ext uri="{FF2B5EF4-FFF2-40B4-BE49-F238E27FC236}">
                  <a16:creationId xmlns:a16="http://schemas.microsoft.com/office/drawing/2014/main" id="{3C592316-8F62-D6AB-F3C2-1391DC580167}"/>
                </a:ext>
              </a:extLst>
            </p:cNvPr>
            <p:cNvSpPr/>
            <p:nvPr/>
          </p:nvSpPr>
          <p:spPr>
            <a:xfrm>
              <a:off x="10012680" y="2026920"/>
              <a:ext cx="1325880" cy="548640"/>
            </a:xfrm>
            <a:prstGeom prst="roundRect">
              <a:avLst>
                <a:gd name="adj" fmla="val 16667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38" name="Shape 31">
              <a:extLst>
                <a:ext uri="{FF2B5EF4-FFF2-40B4-BE49-F238E27FC236}">
                  <a16:creationId xmlns:a16="http://schemas.microsoft.com/office/drawing/2014/main" id="{C7E43631-4AA7-A529-2688-690529EB84A6}"/>
                </a:ext>
              </a:extLst>
            </p:cNvPr>
            <p:cNvSpPr/>
            <p:nvPr/>
          </p:nvSpPr>
          <p:spPr>
            <a:xfrm>
              <a:off x="11338560" y="2026920"/>
              <a:ext cx="1325880" cy="548640"/>
            </a:xfrm>
            <a:prstGeom prst="roundRect">
              <a:avLst>
                <a:gd name="adj" fmla="val 16667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39" name="Shape 32">
              <a:extLst>
                <a:ext uri="{FF2B5EF4-FFF2-40B4-BE49-F238E27FC236}">
                  <a16:creationId xmlns:a16="http://schemas.microsoft.com/office/drawing/2014/main" id="{FF1E6D20-1758-E2A5-6A40-E93DF747C645}"/>
                </a:ext>
              </a:extLst>
            </p:cNvPr>
            <p:cNvSpPr/>
            <p:nvPr/>
          </p:nvSpPr>
          <p:spPr>
            <a:xfrm>
              <a:off x="12664440" y="2026920"/>
              <a:ext cx="1325880" cy="548640"/>
            </a:xfrm>
            <a:prstGeom prst="roundRect">
              <a:avLst>
                <a:gd name="adj" fmla="val 16667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0" name="Shape 33">
              <a:extLst>
                <a:ext uri="{FF2B5EF4-FFF2-40B4-BE49-F238E27FC236}">
                  <a16:creationId xmlns:a16="http://schemas.microsoft.com/office/drawing/2014/main" id="{E11847AF-39A7-7570-DBF2-7629B741EA82}"/>
                </a:ext>
              </a:extLst>
            </p:cNvPr>
            <p:cNvSpPr/>
            <p:nvPr/>
          </p:nvSpPr>
          <p:spPr>
            <a:xfrm>
              <a:off x="7574280" y="2575560"/>
              <a:ext cx="243840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1" name="Shape 34">
              <a:extLst>
                <a:ext uri="{FF2B5EF4-FFF2-40B4-BE49-F238E27FC236}">
                  <a16:creationId xmlns:a16="http://schemas.microsoft.com/office/drawing/2014/main" id="{98909DD6-1B3D-07E2-C236-F7DC2FFF3DC5}"/>
                </a:ext>
              </a:extLst>
            </p:cNvPr>
            <p:cNvSpPr/>
            <p:nvPr/>
          </p:nvSpPr>
          <p:spPr>
            <a:xfrm>
              <a:off x="10012680" y="2575560"/>
              <a:ext cx="132588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2" name="Shape 35">
              <a:extLst>
                <a:ext uri="{FF2B5EF4-FFF2-40B4-BE49-F238E27FC236}">
                  <a16:creationId xmlns:a16="http://schemas.microsoft.com/office/drawing/2014/main" id="{C886469C-6315-06CA-0C17-114D9D4C36B3}"/>
                </a:ext>
              </a:extLst>
            </p:cNvPr>
            <p:cNvSpPr/>
            <p:nvPr/>
          </p:nvSpPr>
          <p:spPr>
            <a:xfrm>
              <a:off x="11338560" y="2575560"/>
              <a:ext cx="132588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3" name="Shape 36">
              <a:extLst>
                <a:ext uri="{FF2B5EF4-FFF2-40B4-BE49-F238E27FC236}">
                  <a16:creationId xmlns:a16="http://schemas.microsoft.com/office/drawing/2014/main" id="{21BF6FEB-6CA8-4AC6-1A5C-9E3FF9640288}"/>
                </a:ext>
              </a:extLst>
            </p:cNvPr>
            <p:cNvSpPr/>
            <p:nvPr/>
          </p:nvSpPr>
          <p:spPr>
            <a:xfrm>
              <a:off x="12664440" y="2575560"/>
              <a:ext cx="132588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B102C335-E634-D6EE-EA97-47212AE34D5B}"/>
                </a:ext>
              </a:extLst>
            </p:cNvPr>
            <p:cNvSpPr/>
            <p:nvPr/>
          </p:nvSpPr>
          <p:spPr>
            <a:xfrm>
              <a:off x="7574280" y="3002280"/>
              <a:ext cx="243840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5" name="Shape 38">
              <a:extLst>
                <a:ext uri="{FF2B5EF4-FFF2-40B4-BE49-F238E27FC236}">
                  <a16:creationId xmlns:a16="http://schemas.microsoft.com/office/drawing/2014/main" id="{EC25AB40-6460-3641-4CB3-BE7D6264CD2B}"/>
                </a:ext>
              </a:extLst>
            </p:cNvPr>
            <p:cNvSpPr/>
            <p:nvPr/>
          </p:nvSpPr>
          <p:spPr>
            <a:xfrm>
              <a:off x="10012680" y="3002280"/>
              <a:ext cx="132588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6" name="Shape 39">
              <a:extLst>
                <a:ext uri="{FF2B5EF4-FFF2-40B4-BE49-F238E27FC236}">
                  <a16:creationId xmlns:a16="http://schemas.microsoft.com/office/drawing/2014/main" id="{C0E572C6-FFBA-8522-0A19-2CD39FE0A8D9}"/>
                </a:ext>
              </a:extLst>
            </p:cNvPr>
            <p:cNvSpPr/>
            <p:nvPr/>
          </p:nvSpPr>
          <p:spPr>
            <a:xfrm>
              <a:off x="11338560" y="3002280"/>
              <a:ext cx="132588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7" name="Shape 40">
              <a:extLst>
                <a:ext uri="{FF2B5EF4-FFF2-40B4-BE49-F238E27FC236}">
                  <a16:creationId xmlns:a16="http://schemas.microsoft.com/office/drawing/2014/main" id="{4C965A9C-F12D-F289-B0B4-C19F8F85D5EF}"/>
                </a:ext>
              </a:extLst>
            </p:cNvPr>
            <p:cNvSpPr/>
            <p:nvPr/>
          </p:nvSpPr>
          <p:spPr>
            <a:xfrm>
              <a:off x="12664440" y="3002280"/>
              <a:ext cx="1325880" cy="426720"/>
            </a:xfrm>
            <a:prstGeom prst="roundRect">
              <a:avLst>
                <a:gd name="adj" fmla="val 21429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48" name="Text 41">
              <a:extLst>
                <a:ext uri="{FF2B5EF4-FFF2-40B4-BE49-F238E27FC236}">
                  <a16:creationId xmlns:a16="http://schemas.microsoft.com/office/drawing/2014/main" id="{662E270A-5422-188B-F11F-756ABCE404FD}"/>
                </a:ext>
              </a:extLst>
            </p:cNvPr>
            <p:cNvSpPr/>
            <p:nvPr/>
          </p:nvSpPr>
          <p:spPr>
            <a:xfrm>
              <a:off x="7680960" y="2072640"/>
              <a:ext cx="22250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5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Maximum Equivalent</a:t>
              </a:r>
              <a:endParaRPr lang="en-US" sz="955" dirty="0"/>
            </a:p>
          </p:txBody>
        </p:sp>
        <p:sp>
          <p:nvSpPr>
            <p:cNvPr id="49" name="Text 42">
              <a:extLst>
                <a:ext uri="{FF2B5EF4-FFF2-40B4-BE49-F238E27FC236}">
                  <a16:creationId xmlns:a16="http://schemas.microsoft.com/office/drawing/2014/main" id="{65A6D1B8-D65A-73B0-913E-9040EA350D1D}"/>
                </a:ext>
              </a:extLst>
            </p:cNvPr>
            <p:cNvSpPr/>
            <p:nvPr/>
          </p:nvSpPr>
          <p:spPr>
            <a:xfrm>
              <a:off x="10088880" y="2202180"/>
              <a:ext cx="120396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2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StressThermal</a:t>
              </a:r>
              <a:endParaRPr lang="en-US" sz="912" dirty="0"/>
            </a:p>
          </p:txBody>
        </p:sp>
        <p:sp>
          <p:nvSpPr>
            <p:cNvPr id="50" name="Text 43">
              <a:extLst>
                <a:ext uri="{FF2B5EF4-FFF2-40B4-BE49-F238E27FC236}">
                  <a16:creationId xmlns:a16="http://schemas.microsoft.com/office/drawing/2014/main" id="{29B892B3-67CF-A70F-9BF9-098EC3F95FE5}"/>
                </a:ext>
              </a:extLst>
            </p:cNvPr>
            <p:cNvSpPr/>
            <p:nvPr/>
          </p:nvSpPr>
          <p:spPr>
            <a:xfrm>
              <a:off x="11414760" y="2202180"/>
              <a:ext cx="120396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2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S</a:t>
              </a:r>
              <a:endParaRPr lang="en-US" sz="912" dirty="0"/>
            </a:p>
          </p:txBody>
        </p:sp>
        <p:sp>
          <p:nvSpPr>
            <p:cNvPr id="51" name="Text 44">
              <a:extLst>
                <a:ext uri="{FF2B5EF4-FFF2-40B4-BE49-F238E27FC236}">
                  <a16:creationId xmlns:a16="http://schemas.microsoft.com/office/drawing/2014/main" id="{884778FF-EE1B-776B-D4DE-0ED8355961FC}"/>
                </a:ext>
              </a:extLst>
            </p:cNvPr>
            <p:cNvSpPr/>
            <p:nvPr/>
          </p:nvSpPr>
          <p:spPr>
            <a:xfrm>
              <a:off x="12740640" y="2202180"/>
              <a:ext cx="120396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2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A</a:t>
              </a:r>
              <a:endParaRPr lang="en-US" sz="912" dirty="0"/>
            </a:p>
          </p:txBody>
        </p:sp>
        <p:sp>
          <p:nvSpPr>
            <p:cNvPr id="52" name="Text 45">
              <a:extLst>
                <a:ext uri="{FF2B5EF4-FFF2-40B4-BE49-F238E27FC236}">
                  <a16:creationId xmlns:a16="http://schemas.microsoft.com/office/drawing/2014/main" id="{85D164D3-0286-B80E-C86E-9F0AFDA3672B}"/>
                </a:ext>
              </a:extLst>
            </p:cNvPr>
            <p:cNvSpPr/>
            <p:nvPr/>
          </p:nvSpPr>
          <p:spPr>
            <a:xfrm>
              <a:off x="7680960" y="2674620"/>
              <a:ext cx="222504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Global</a:t>
              </a:r>
              <a:endParaRPr lang="en-US" sz="1086" dirty="0"/>
            </a:p>
          </p:txBody>
        </p:sp>
        <p:sp>
          <p:nvSpPr>
            <p:cNvPr id="53" name="Text 46">
              <a:extLst>
                <a:ext uri="{FF2B5EF4-FFF2-40B4-BE49-F238E27FC236}">
                  <a16:creationId xmlns:a16="http://schemas.microsoft.com/office/drawing/2014/main" id="{94B9598A-1C1D-A670-AE6D-4B6A595FDBE1}"/>
                </a:ext>
              </a:extLst>
            </p:cNvPr>
            <p:cNvSpPr/>
            <p:nvPr/>
          </p:nvSpPr>
          <p:spPr>
            <a:xfrm>
              <a:off x="10119360" y="2674620"/>
              <a:ext cx="111252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887.678</a:t>
              </a:r>
              <a:endParaRPr lang="en-US" sz="1086" dirty="0"/>
            </a:p>
          </p:txBody>
        </p:sp>
        <p:sp>
          <p:nvSpPr>
            <p:cNvPr id="54" name="Text 47">
              <a:extLst>
                <a:ext uri="{FF2B5EF4-FFF2-40B4-BE49-F238E27FC236}">
                  <a16:creationId xmlns:a16="http://schemas.microsoft.com/office/drawing/2014/main" id="{009A127E-5F2B-9232-57A4-39B5930364C5}"/>
                </a:ext>
              </a:extLst>
            </p:cNvPr>
            <p:cNvSpPr/>
            <p:nvPr/>
          </p:nvSpPr>
          <p:spPr>
            <a:xfrm>
              <a:off x="11445240" y="2674620"/>
              <a:ext cx="111252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887.678</a:t>
              </a:r>
              <a:endParaRPr lang="en-US" sz="1086" dirty="0"/>
            </a:p>
          </p:txBody>
        </p:sp>
        <p:sp>
          <p:nvSpPr>
            <p:cNvPr id="55" name="Text 48">
              <a:extLst>
                <a:ext uri="{FF2B5EF4-FFF2-40B4-BE49-F238E27FC236}">
                  <a16:creationId xmlns:a16="http://schemas.microsoft.com/office/drawing/2014/main" id="{0FA97F71-6655-272C-7577-4682789CB847}"/>
                </a:ext>
              </a:extLst>
            </p:cNvPr>
            <p:cNvSpPr/>
            <p:nvPr/>
          </p:nvSpPr>
          <p:spPr>
            <a:xfrm>
              <a:off x="12771120" y="2674620"/>
              <a:ext cx="111252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887.678</a:t>
              </a:r>
              <a:endParaRPr lang="en-US" sz="1086" dirty="0"/>
            </a:p>
          </p:txBody>
        </p:sp>
        <p:sp>
          <p:nvSpPr>
            <p:cNvPr id="56" name="Text 49">
              <a:extLst>
                <a:ext uri="{FF2B5EF4-FFF2-40B4-BE49-F238E27FC236}">
                  <a16:creationId xmlns:a16="http://schemas.microsoft.com/office/drawing/2014/main" id="{A7D1A8BA-ACA0-2F2B-3194-9E9ABBF20EE0}"/>
                </a:ext>
              </a:extLst>
            </p:cNvPr>
            <p:cNvSpPr/>
            <p:nvPr/>
          </p:nvSpPr>
          <p:spPr>
            <a:xfrm>
              <a:off x="7680960" y="3101340"/>
              <a:ext cx="222504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Local</a:t>
              </a:r>
              <a:endParaRPr lang="en-US" sz="1086" dirty="0"/>
            </a:p>
          </p:txBody>
        </p:sp>
        <p:sp>
          <p:nvSpPr>
            <p:cNvPr id="57" name="Text 50">
              <a:extLst>
                <a:ext uri="{FF2B5EF4-FFF2-40B4-BE49-F238E27FC236}">
                  <a16:creationId xmlns:a16="http://schemas.microsoft.com/office/drawing/2014/main" id="{23DC6A73-141E-9080-00AF-59900D329012}"/>
                </a:ext>
              </a:extLst>
            </p:cNvPr>
            <p:cNvSpPr/>
            <p:nvPr/>
          </p:nvSpPr>
          <p:spPr>
            <a:xfrm>
              <a:off x="10119360" y="3101340"/>
              <a:ext cx="111252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703.701</a:t>
              </a:r>
              <a:endParaRPr lang="en-US" sz="1086" dirty="0"/>
            </a:p>
          </p:txBody>
        </p:sp>
        <p:sp>
          <p:nvSpPr>
            <p:cNvPr id="58" name="Text 51">
              <a:extLst>
                <a:ext uri="{FF2B5EF4-FFF2-40B4-BE49-F238E27FC236}">
                  <a16:creationId xmlns:a16="http://schemas.microsoft.com/office/drawing/2014/main" id="{077B525C-5A30-2793-472C-FAB27A076224}"/>
                </a:ext>
              </a:extLst>
            </p:cNvPr>
            <p:cNvSpPr/>
            <p:nvPr/>
          </p:nvSpPr>
          <p:spPr>
            <a:xfrm>
              <a:off x="11445240" y="3101340"/>
              <a:ext cx="111252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703.701</a:t>
              </a:r>
              <a:endParaRPr lang="en-US" sz="1086" dirty="0"/>
            </a:p>
          </p:txBody>
        </p:sp>
        <p:sp>
          <p:nvSpPr>
            <p:cNvPr id="59" name="Text 52">
              <a:extLst>
                <a:ext uri="{FF2B5EF4-FFF2-40B4-BE49-F238E27FC236}">
                  <a16:creationId xmlns:a16="http://schemas.microsoft.com/office/drawing/2014/main" id="{B2AB640D-3F42-BDB2-8F5D-2931EB7C8A06}"/>
                </a:ext>
              </a:extLst>
            </p:cNvPr>
            <p:cNvSpPr/>
            <p:nvPr/>
          </p:nvSpPr>
          <p:spPr>
            <a:xfrm>
              <a:off x="12771120" y="3101340"/>
              <a:ext cx="111252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703.700</a:t>
              </a:r>
              <a:endParaRPr lang="en-US" sz="1086" dirty="0"/>
            </a:p>
          </p:txBody>
        </p:sp>
        <p:sp>
          <p:nvSpPr>
            <p:cNvPr id="60" name="Text 53">
              <a:extLst>
                <a:ext uri="{FF2B5EF4-FFF2-40B4-BE49-F238E27FC236}">
                  <a16:creationId xmlns:a16="http://schemas.microsoft.com/office/drawing/2014/main" id="{A5ABDEFC-9BE2-DB5A-4088-ECB39B6FA93E}"/>
                </a:ext>
              </a:extLst>
            </p:cNvPr>
            <p:cNvSpPr/>
            <p:nvPr/>
          </p:nvSpPr>
          <p:spPr>
            <a:xfrm>
              <a:off x="7680960" y="4229100"/>
              <a:ext cx="609600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86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PERFORMANCE</a:t>
              </a:r>
              <a:endParaRPr lang="en-US" sz="1086" dirty="0"/>
            </a:p>
          </p:txBody>
        </p:sp>
        <p:sp>
          <p:nvSpPr>
            <p:cNvPr id="61" name="Shape 54">
              <a:extLst>
                <a:ext uri="{FF2B5EF4-FFF2-40B4-BE49-F238E27FC236}">
                  <a16:creationId xmlns:a16="http://schemas.microsoft.com/office/drawing/2014/main" id="{C66B4796-B59A-08F6-BD44-9243E3A46FA8}"/>
                </a:ext>
              </a:extLst>
            </p:cNvPr>
            <p:cNvSpPr/>
            <p:nvPr/>
          </p:nvSpPr>
          <p:spPr>
            <a:xfrm>
              <a:off x="7574280" y="4632960"/>
              <a:ext cx="172212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2" name="Shape 55">
              <a:extLst>
                <a:ext uri="{FF2B5EF4-FFF2-40B4-BE49-F238E27FC236}">
                  <a16:creationId xmlns:a16="http://schemas.microsoft.com/office/drawing/2014/main" id="{B5D77819-A44B-7A62-E659-8EB8423D7779}"/>
                </a:ext>
              </a:extLst>
            </p:cNvPr>
            <p:cNvSpPr/>
            <p:nvPr/>
          </p:nvSpPr>
          <p:spPr>
            <a:xfrm>
              <a:off x="9296400" y="463296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3" name="Shape 56">
              <a:extLst>
                <a:ext uri="{FF2B5EF4-FFF2-40B4-BE49-F238E27FC236}">
                  <a16:creationId xmlns:a16="http://schemas.microsoft.com/office/drawing/2014/main" id="{1C0408B7-3E68-AF5E-DC3F-B3AF06E4013C}"/>
                </a:ext>
              </a:extLst>
            </p:cNvPr>
            <p:cNvSpPr/>
            <p:nvPr/>
          </p:nvSpPr>
          <p:spPr>
            <a:xfrm>
              <a:off x="10835640" y="463296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4" name="Shape 57">
              <a:extLst>
                <a:ext uri="{FF2B5EF4-FFF2-40B4-BE49-F238E27FC236}">
                  <a16:creationId xmlns:a16="http://schemas.microsoft.com/office/drawing/2014/main" id="{A5D4A984-6EB1-D17B-D3D2-3D75A4F82165}"/>
                </a:ext>
              </a:extLst>
            </p:cNvPr>
            <p:cNvSpPr/>
            <p:nvPr/>
          </p:nvSpPr>
          <p:spPr>
            <a:xfrm>
              <a:off x="12374880" y="4632960"/>
              <a:ext cx="1615440" cy="365760"/>
            </a:xfrm>
            <a:prstGeom prst="roundRect">
              <a:avLst>
                <a:gd name="adj" fmla="val 25000"/>
              </a:avLst>
            </a:prstGeom>
            <a:solidFill>
              <a:srgbClr val="DCE9F5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5" name="Shape 58">
              <a:extLst>
                <a:ext uri="{FF2B5EF4-FFF2-40B4-BE49-F238E27FC236}">
                  <a16:creationId xmlns:a16="http://schemas.microsoft.com/office/drawing/2014/main" id="{18FCFA95-4CA3-38CD-D24A-6C9BE741FD25}"/>
                </a:ext>
              </a:extLst>
            </p:cNvPr>
            <p:cNvSpPr/>
            <p:nvPr/>
          </p:nvSpPr>
          <p:spPr>
            <a:xfrm>
              <a:off x="7574280" y="4998720"/>
              <a:ext cx="172212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6" name="Shape 59">
              <a:extLst>
                <a:ext uri="{FF2B5EF4-FFF2-40B4-BE49-F238E27FC236}">
                  <a16:creationId xmlns:a16="http://schemas.microsoft.com/office/drawing/2014/main" id="{5BD7EBBE-EBF8-4092-6C88-E890369FC208}"/>
                </a:ext>
              </a:extLst>
            </p:cNvPr>
            <p:cNvSpPr/>
            <p:nvPr/>
          </p:nvSpPr>
          <p:spPr>
            <a:xfrm>
              <a:off x="9296400" y="499872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7" name="Shape 60">
              <a:extLst>
                <a:ext uri="{FF2B5EF4-FFF2-40B4-BE49-F238E27FC236}">
                  <a16:creationId xmlns:a16="http://schemas.microsoft.com/office/drawing/2014/main" id="{0D165AA6-EDFA-4339-5830-9F73C9764130}"/>
                </a:ext>
              </a:extLst>
            </p:cNvPr>
            <p:cNvSpPr/>
            <p:nvPr/>
          </p:nvSpPr>
          <p:spPr>
            <a:xfrm>
              <a:off x="10835640" y="499872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8" name="Shape 61">
              <a:extLst>
                <a:ext uri="{FF2B5EF4-FFF2-40B4-BE49-F238E27FC236}">
                  <a16:creationId xmlns:a16="http://schemas.microsoft.com/office/drawing/2014/main" id="{C7546741-4CAB-7BC4-A99C-9E2DDC6E4154}"/>
                </a:ext>
              </a:extLst>
            </p:cNvPr>
            <p:cNvSpPr/>
            <p:nvPr/>
          </p:nvSpPr>
          <p:spPr>
            <a:xfrm>
              <a:off x="12374880" y="4998720"/>
              <a:ext cx="16154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69" name="Shape 62">
              <a:extLst>
                <a:ext uri="{FF2B5EF4-FFF2-40B4-BE49-F238E27FC236}">
                  <a16:creationId xmlns:a16="http://schemas.microsoft.com/office/drawing/2014/main" id="{7CD95A29-C8BC-C5EB-331D-91627678476F}"/>
                </a:ext>
              </a:extLst>
            </p:cNvPr>
            <p:cNvSpPr/>
            <p:nvPr/>
          </p:nvSpPr>
          <p:spPr>
            <a:xfrm>
              <a:off x="7574280" y="5364480"/>
              <a:ext cx="172212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0" name="Shape 63">
              <a:extLst>
                <a:ext uri="{FF2B5EF4-FFF2-40B4-BE49-F238E27FC236}">
                  <a16:creationId xmlns:a16="http://schemas.microsoft.com/office/drawing/2014/main" id="{6C6600D2-5368-D9C7-C3C8-9BF2B57F63B2}"/>
                </a:ext>
              </a:extLst>
            </p:cNvPr>
            <p:cNvSpPr/>
            <p:nvPr/>
          </p:nvSpPr>
          <p:spPr>
            <a:xfrm>
              <a:off x="9296400" y="536448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1" name="Shape 64">
              <a:extLst>
                <a:ext uri="{FF2B5EF4-FFF2-40B4-BE49-F238E27FC236}">
                  <a16:creationId xmlns:a16="http://schemas.microsoft.com/office/drawing/2014/main" id="{DF0A7BFC-3A51-C0C7-5CE4-E7F35EE2DDCB}"/>
                </a:ext>
              </a:extLst>
            </p:cNvPr>
            <p:cNvSpPr/>
            <p:nvPr/>
          </p:nvSpPr>
          <p:spPr>
            <a:xfrm>
              <a:off x="10835640" y="5364480"/>
              <a:ext cx="15392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2" name="Shape 65">
              <a:extLst>
                <a:ext uri="{FF2B5EF4-FFF2-40B4-BE49-F238E27FC236}">
                  <a16:creationId xmlns:a16="http://schemas.microsoft.com/office/drawing/2014/main" id="{A25F676E-E340-6EDD-2778-75F51AE193C4}"/>
                </a:ext>
              </a:extLst>
            </p:cNvPr>
            <p:cNvSpPr/>
            <p:nvPr/>
          </p:nvSpPr>
          <p:spPr>
            <a:xfrm>
              <a:off x="12374880" y="5364480"/>
              <a:ext cx="1615440" cy="365760"/>
            </a:xfrm>
            <a:prstGeom prst="roundRect">
              <a:avLst>
                <a:gd name="adj" fmla="val 25000"/>
              </a:avLst>
            </a:prstGeom>
            <a:solidFill>
              <a:srgbClr val="F7FAFE"/>
            </a:solidFill>
            <a:ln w="10160">
              <a:solidFill>
                <a:srgbClr val="B4C9DC"/>
              </a:solidFill>
              <a:prstDash val="solid"/>
            </a:ln>
          </p:spPr>
        </p:sp>
        <p:sp>
          <p:nvSpPr>
            <p:cNvPr id="73" name="Text 66">
              <a:extLst>
                <a:ext uri="{FF2B5EF4-FFF2-40B4-BE49-F238E27FC236}">
                  <a16:creationId xmlns:a16="http://schemas.microsoft.com/office/drawing/2014/main" id="{6396AF1C-308C-679E-8AF5-0ACA75021422}"/>
                </a:ext>
              </a:extLst>
            </p:cNvPr>
            <p:cNvSpPr/>
            <p:nvPr/>
          </p:nvSpPr>
          <p:spPr>
            <a:xfrm>
              <a:off x="7680960" y="4709160"/>
              <a:ext cx="150876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Time (s)</a:t>
              </a:r>
              <a:endParaRPr lang="en-US" sz="999" dirty="0"/>
            </a:p>
          </p:txBody>
        </p:sp>
        <p:sp>
          <p:nvSpPr>
            <p:cNvPr id="74" name="Text 67">
              <a:extLst>
                <a:ext uri="{FF2B5EF4-FFF2-40B4-BE49-F238E27FC236}">
                  <a16:creationId xmlns:a16="http://schemas.microsoft.com/office/drawing/2014/main" id="{1121D401-ED12-E936-C024-AA0C7AE61D05}"/>
                </a:ext>
              </a:extLst>
            </p:cNvPr>
            <p:cNvSpPr/>
            <p:nvPr/>
          </p:nvSpPr>
          <p:spPr>
            <a:xfrm>
              <a:off x="9403080" y="4709160"/>
              <a:ext cx="14097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StressThermal</a:t>
              </a:r>
              <a:endParaRPr lang="en-US" sz="999" dirty="0"/>
            </a:p>
          </p:txBody>
        </p:sp>
        <p:sp>
          <p:nvSpPr>
            <p:cNvPr id="75" name="Text 68">
              <a:extLst>
                <a:ext uri="{FF2B5EF4-FFF2-40B4-BE49-F238E27FC236}">
                  <a16:creationId xmlns:a16="http://schemas.microsoft.com/office/drawing/2014/main" id="{AA7BD7B2-4814-69C3-8820-3E50840A3161}"/>
                </a:ext>
              </a:extLst>
            </p:cNvPr>
            <p:cNvSpPr/>
            <p:nvPr/>
          </p:nvSpPr>
          <p:spPr>
            <a:xfrm>
              <a:off x="10942320" y="4709160"/>
              <a:ext cx="14097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S</a:t>
              </a:r>
              <a:endParaRPr lang="en-US" sz="999" dirty="0"/>
            </a:p>
          </p:txBody>
        </p:sp>
        <p:sp>
          <p:nvSpPr>
            <p:cNvPr id="76" name="Text 69">
              <a:extLst>
                <a:ext uri="{FF2B5EF4-FFF2-40B4-BE49-F238E27FC236}">
                  <a16:creationId xmlns:a16="http://schemas.microsoft.com/office/drawing/2014/main" id="{6306E22C-F86B-4B55-E2A4-AABAA3934676}"/>
                </a:ext>
              </a:extLst>
            </p:cNvPr>
            <p:cNvSpPr/>
            <p:nvPr/>
          </p:nvSpPr>
          <p:spPr>
            <a:xfrm>
              <a:off x="12481560" y="4709160"/>
              <a:ext cx="14097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99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Golden tool - A</a:t>
              </a:r>
              <a:endParaRPr lang="en-US" sz="999" dirty="0"/>
            </a:p>
          </p:txBody>
        </p:sp>
        <p:sp>
          <p:nvSpPr>
            <p:cNvPr id="77" name="Text 70">
              <a:extLst>
                <a:ext uri="{FF2B5EF4-FFF2-40B4-BE49-F238E27FC236}">
                  <a16:creationId xmlns:a16="http://schemas.microsoft.com/office/drawing/2014/main" id="{5A32ED41-FC21-6E9B-57CE-489E8A264CC6}"/>
                </a:ext>
              </a:extLst>
            </p:cNvPr>
            <p:cNvSpPr/>
            <p:nvPr/>
          </p:nvSpPr>
          <p:spPr>
            <a:xfrm>
              <a:off x="7680960" y="5074920"/>
              <a:ext cx="150876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Global solve</a:t>
              </a:r>
              <a:endParaRPr lang="en-US" sz="1042" dirty="0"/>
            </a:p>
          </p:txBody>
        </p:sp>
        <p:sp>
          <p:nvSpPr>
            <p:cNvPr id="78" name="Text 71">
              <a:extLst>
                <a:ext uri="{FF2B5EF4-FFF2-40B4-BE49-F238E27FC236}">
                  <a16:creationId xmlns:a16="http://schemas.microsoft.com/office/drawing/2014/main" id="{DAC10198-B07B-7D49-6366-922B1A9EA5D2}"/>
                </a:ext>
              </a:extLst>
            </p:cNvPr>
            <p:cNvSpPr/>
            <p:nvPr/>
          </p:nvSpPr>
          <p:spPr>
            <a:xfrm>
              <a:off x="9403080" y="507492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16.69</a:t>
              </a:r>
              <a:endParaRPr lang="en-US" sz="1173" dirty="0"/>
            </a:p>
          </p:txBody>
        </p:sp>
        <p:sp>
          <p:nvSpPr>
            <p:cNvPr id="79" name="Text 72">
              <a:extLst>
                <a:ext uri="{FF2B5EF4-FFF2-40B4-BE49-F238E27FC236}">
                  <a16:creationId xmlns:a16="http://schemas.microsoft.com/office/drawing/2014/main" id="{04F1161A-C876-201D-D9EF-4142C9BD8136}"/>
                </a:ext>
              </a:extLst>
            </p:cNvPr>
            <p:cNvSpPr/>
            <p:nvPr/>
          </p:nvSpPr>
          <p:spPr>
            <a:xfrm>
              <a:off x="10942320" y="507492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16.45</a:t>
              </a:r>
              <a:endParaRPr lang="en-US" sz="1173" dirty="0"/>
            </a:p>
          </p:txBody>
        </p:sp>
        <p:sp>
          <p:nvSpPr>
            <p:cNvPr id="80" name="Text 73">
              <a:extLst>
                <a:ext uri="{FF2B5EF4-FFF2-40B4-BE49-F238E27FC236}">
                  <a16:creationId xmlns:a16="http://schemas.microsoft.com/office/drawing/2014/main" id="{DFA7FC91-F2DB-7873-94CE-4654FDB95B18}"/>
                </a:ext>
              </a:extLst>
            </p:cNvPr>
            <p:cNvSpPr/>
            <p:nvPr/>
          </p:nvSpPr>
          <p:spPr>
            <a:xfrm>
              <a:off x="12481560" y="507492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38.60</a:t>
              </a:r>
              <a:endParaRPr lang="en-US" sz="1173" dirty="0"/>
            </a:p>
          </p:txBody>
        </p:sp>
        <p:sp>
          <p:nvSpPr>
            <p:cNvPr id="81" name="Text 74">
              <a:extLst>
                <a:ext uri="{FF2B5EF4-FFF2-40B4-BE49-F238E27FC236}">
                  <a16:creationId xmlns:a16="http://schemas.microsoft.com/office/drawing/2014/main" id="{DB4693EA-144B-67A0-0F0E-A982BE1BA289}"/>
                </a:ext>
              </a:extLst>
            </p:cNvPr>
            <p:cNvSpPr/>
            <p:nvPr/>
          </p:nvSpPr>
          <p:spPr>
            <a:xfrm>
              <a:off x="7680960" y="5440680"/>
              <a:ext cx="150876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4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Local solve</a:t>
              </a:r>
              <a:endParaRPr lang="en-US" sz="1042" dirty="0"/>
            </a:p>
          </p:txBody>
        </p:sp>
        <p:sp>
          <p:nvSpPr>
            <p:cNvPr id="82" name="Text 75">
              <a:extLst>
                <a:ext uri="{FF2B5EF4-FFF2-40B4-BE49-F238E27FC236}">
                  <a16:creationId xmlns:a16="http://schemas.microsoft.com/office/drawing/2014/main" id="{473F4C71-8D41-87DC-186D-B6A854C0AC96}"/>
                </a:ext>
              </a:extLst>
            </p:cNvPr>
            <p:cNvSpPr/>
            <p:nvPr/>
          </p:nvSpPr>
          <p:spPr>
            <a:xfrm>
              <a:off x="9403080" y="544068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43.02</a:t>
              </a:r>
              <a:endParaRPr lang="en-US" sz="1173" dirty="0"/>
            </a:p>
          </p:txBody>
        </p:sp>
        <p:sp>
          <p:nvSpPr>
            <p:cNvPr id="83" name="Text 76">
              <a:extLst>
                <a:ext uri="{FF2B5EF4-FFF2-40B4-BE49-F238E27FC236}">
                  <a16:creationId xmlns:a16="http://schemas.microsoft.com/office/drawing/2014/main" id="{2786CAF3-F66C-DB73-1ABC-58180B5CF3AA}"/>
                </a:ext>
              </a:extLst>
            </p:cNvPr>
            <p:cNvSpPr/>
            <p:nvPr/>
          </p:nvSpPr>
          <p:spPr>
            <a:xfrm>
              <a:off x="10942320" y="544068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39.10</a:t>
              </a:r>
              <a:endParaRPr lang="en-US" sz="1173" dirty="0"/>
            </a:p>
          </p:txBody>
        </p:sp>
        <p:sp>
          <p:nvSpPr>
            <p:cNvPr id="84" name="Text 77">
              <a:extLst>
                <a:ext uri="{FF2B5EF4-FFF2-40B4-BE49-F238E27FC236}">
                  <a16:creationId xmlns:a16="http://schemas.microsoft.com/office/drawing/2014/main" id="{2FDECBD6-ECE0-60B2-9421-969BAD6B5212}"/>
                </a:ext>
              </a:extLst>
            </p:cNvPr>
            <p:cNvSpPr/>
            <p:nvPr/>
          </p:nvSpPr>
          <p:spPr>
            <a:xfrm>
              <a:off x="12481560" y="5440680"/>
              <a:ext cx="140970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7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77.50</a:t>
              </a:r>
              <a:endParaRPr lang="en-US" sz="1173" dirty="0"/>
            </a:p>
          </p:txBody>
        </p:sp>
        <p:sp>
          <p:nvSpPr>
            <p:cNvPr id="85" name="Text 78">
              <a:extLst>
                <a:ext uri="{FF2B5EF4-FFF2-40B4-BE49-F238E27FC236}">
                  <a16:creationId xmlns:a16="http://schemas.microsoft.com/office/drawing/2014/main" id="{807349AB-21FC-44A1-B264-33DE0345BF2A}"/>
                </a:ext>
              </a:extLst>
            </p:cNvPr>
            <p:cNvSpPr/>
            <p:nvPr/>
          </p:nvSpPr>
          <p:spPr>
            <a:xfrm>
              <a:off x="7680960" y="6019800"/>
              <a:ext cx="6202680" cy="195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25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Global: 246,681 tets · Local: 422,904 tets</a:t>
              </a:r>
              <a:endParaRPr lang="en-US" sz="825" dirty="0"/>
            </a:p>
          </p:txBody>
        </p:sp>
        <p:sp>
          <p:nvSpPr>
            <p:cNvPr id="86" name="Text 79">
              <a:extLst>
                <a:ext uri="{FF2B5EF4-FFF2-40B4-BE49-F238E27FC236}">
                  <a16:creationId xmlns:a16="http://schemas.microsoft.com/office/drawing/2014/main" id="{036D5460-E62F-52A5-FC4E-EBE2D4E2101B}"/>
                </a:ext>
              </a:extLst>
            </p:cNvPr>
            <p:cNvSpPr/>
            <p:nvPr/>
          </p:nvSpPr>
          <p:spPr>
            <a:xfrm>
              <a:off x="7668927" y="2299634"/>
              <a:ext cx="2225040" cy="25717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0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 (MPa)</a:t>
              </a:r>
              <a:endParaRPr lang="en-US" sz="960" dirty="0"/>
            </a:p>
          </p:txBody>
        </p:sp>
      </p:grpSp>
    </p:spTree>
    <p:extLst>
      <p:ext uri="{BB962C8B-B14F-4D97-AF65-F5344CB8AC3E}">
        <p14:creationId xmlns:p14="http://schemas.microsoft.com/office/powerpoint/2010/main" val="137949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C93311D4-B6FD-EACE-DD5B-54D17F1A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Future plans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BC4BDBA-FB69-5628-8863-751FD5CCAC21}"/>
              </a:ext>
            </a:extLst>
          </p:cNvPr>
          <p:cNvGrpSpPr>
            <a:grpSpLocks noChangeAspect="1"/>
          </p:cNvGrpSpPr>
          <p:nvPr/>
        </p:nvGrpSpPr>
        <p:grpSpPr>
          <a:xfrm>
            <a:off x="475760" y="437417"/>
            <a:ext cx="11310239" cy="6106258"/>
            <a:chOff x="533400" y="678180"/>
            <a:chExt cx="13563600" cy="7322820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5668E885-A4E4-5162-CB5A-EE422C54215B}"/>
                </a:ext>
              </a:extLst>
            </p:cNvPr>
            <p:cNvSpPr/>
            <p:nvPr/>
          </p:nvSpPr>
          <p:spPr>
            <a:xfrm>
              <a:off x="4953000" y="678180"/>
              <a:ext cx="9144000" cy="381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endParaRPr lang="en-US" sz="1920" dirty="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37A1B992-E050-490C-0407-1ED89B36E8B5}"/>
                </a:ext>
              </a:extLst>
            </p:cNvPr>
            <p:cNvSpPr/>
            <p:nvPr/>
          </p:nvSpPr>
          <p:spPr>
            <a:xfrm>
              <a:off x="4953000" y="685800"/>
              <a:ext cx="906780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8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From physics features to integrated solutions</a:t>
              </a:r>
              <a:endParaRPr lang="en-US" sz="1283" dirty="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4BBB037A-D6A2-F0C3-7DEC-D03E76EBDA69}"/>
                </a:ext>
              </a:extLst>
            </p:cNvPr>
            <p:cNvSpPr/>
            <p:nvPr/>
          </p:nvSpPr>
          <p:spPr>
            <a:xfrm>
              <a:off x="533400" y="1333500"/>
              <a:ext cx="76200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4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TODO FEATURES</a:t>
              </a:r>
              <a:endParaRPr lang="en-US" sz="1054" dirty="0"/>
            </a:p>
          </p:txBody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6A3A7983-BCBC-477D-1DA0-72E4AC41C904}"/>
                </a:ext>
              </a:extLst>
            </p:cNvPr>
            <p:cNvSpPr/>
            <p:nvPr/>
          </p:nvSpPr>
          <p:spPr>
            <a:xfrm>
              <a:off x="533400" y="1630680"/>
              <a:ext cx="2895600" cy="1402080"/>
            </a:xfrm>
            <a:prstGeom prst="roundRect">
              <a:avLst>
                <a:gd name="adj" fmla="val 6522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68066805-9B3A-9607-90D9-03216BBC03D9}"/>
                </a:ext>
              </a:extLst>
            </p:cNvPr>
            <p:cNvSpPr/>
            <p:nvPr/>
          </p:nvSpPr>
          <p:spPr>
            <a:xfrm>
              <a:off x="670560" y="1752600"/>
              <a:ext cx="262128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8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</a:t>
              </a:r>
              <a:endParaRPr lang="en-US" sz="1283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1CFD7EBA-6099-D281-A88D-D6E118199A7D}"/>
                </a:ext>
              </a:extLst>
            </p:cNvPr>
            <p:cNvSpPr/>
            <p:nvPr/>
          </p:nvSpPr>
          <p:spPr>
            <a:xfrm>
              <a:off x="670560" y="2171700"/>
              <a:ext cx="1790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Buckling</a:t>
              </a:r>
              <a:endParaRPr lang="en-US" sz="1100" dirty="0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A3DEB4B7-C70D-8EF9-377E-DBC4FE058D74}"/>
                </a:ext>
              </a:extLst>
            </p:cNvPr>
            <p:cNvSpPr/>
            <p:nvPr/>
          </p:nvSpPr>
          <p:spPr>
            <a:xfrm>
              <a:off x="2468880" y="2202180"/>
              <a:ext cx="829056" cy="179832"/>
            </a:xfrm>
            <a:prstGeom prst="roundRect">
              <a:avLst>
                <a:gd name="adj" fmla="val 5084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F94268E7-FA63-81B0-8BEF-E40953F9BBDC}"/>
                </a:ext>
              </a:extLst>
            </p:cNvPr>
            <p:cNvSpPr/>
            <p:nvPr/>
          </p:nvSpPr>
          <p:spPr>
            <a:xfrm>
              <a:off x="2499360" y="2209800"/>
              <a:ext cx="85344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733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D4CB6157-AD6C-1037-699D-3658E6073548}"/>
                </a:ext>
              </a:extLst>
            </p:cNvPr>
            <p:cNvSpPr/>
            <p:nvPr/>
          </p:nvSpPr>
          <p:spPr>
            <a:xfrm>
              <a:off x="670560" y="2453640"/>
              <a:ext cx="1790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Crack analysis</a:t>
              </a:r>
              <a:endParaRPr lang="en-US" sz="1100" dirty="0"/>
            </a:p>
          </p:txBody>
        </p:sp>
        <p:sp>
          <p:nvSpPr>
            <p:cNvPr id="13" name="Shape 10">
              <a:extLst>
                <a:ext uri="{FF2B5EF4-FFF2-40B4-BE49-F238E27FC236}">
                  <a16:creationId xmlns:a16="http://schemas.microsoft.com/office/drawing/2014/main" id="{C8044CBF-40D6-BC07-8B8B-E0CBF7E04BD2}"/>
                </a:ext>
              </a:extLst>
            </p:cNvPr>
            <p:cNvSpPr/>
            <p:nvPr/>
          </p:nvSpPr>
          <p:spPr>
            <a:xfrm>
              <a:off x="2468880" y="2484120"/>
              <a:ext cx="829056" cy="179832"/>
            </a:xfrm>
            <a:prstGeom prst="roundRect">
              <a:avLst>
                <a:gd name="adj" fmla="val 5084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1FC391A3-5DFB-1117-E998-452646F84597}"/>
                </a:ext>
              </a:extLst>
            </p:cNvPr>
            <p:cNvSpPr/>
            <p:nvPr/>
          </p:nvSpPr>
          <p:spPr>
            <a:xfrm>
              <a:off x="2499360" y="2491740"/>
              <a:ext cx="85344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733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544D8D5D-2E0B-9212-3B33-662BC3FD3E1A}"/>
                </a:ext>
              </a:extLst>
            </p:cNvPr>
            <p:cNvSpPr/>
            <p:nvPr/>
          </p:nvSpPr>
          <p:spPr>
            <a:xfrm>
              <a:off x="670560" y="2735580"/>
              <a:ext cx="1790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Contact analysis</a:t>
              </a:r>
              <a:endParaRPr lang="en-US" sz="1100" dirty="0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1383251F-8703-9767-E1B8-4A6EA3A39F0D}"/>
                </a:ext>
              </a:extLst>
            </p:cNvPr>
            <p:cNvSpPr/>
            <p:nvPr/>
          </p:nvSpPr>
          <p:spPr>
            <a:xfrm>
              <a:off x="2468880" y="2766060"/>
              <a:ext cx="829056" cy="179832"/>
            </a:xfrm>
            <a:prstGeom prst="roundRect">
              <a:avLst>
                <a:gd name="adj" fmla="val 5084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CA4E50E7-BDD4-EC07-1B63-5CEFE5F74577}"/>
                </a:ext>
              </a:extLst>
            </p:cNvPr>
            <p:cNvSpPr/>
            <p:nvPr/>
          </p:nvSpPr>
          <p:spPr>
            <a:xfrm>
              <a:off x="2499360" y="2773680"/>
              <a:ext cx="85344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733" dirty="0"/>
            </a:p>
          </p:txBody>
        </p:sp>
        <p:sp>
          <p:nvSpPr>
            <p:cNvPr id="18" name="Shape 15">
              <a:extLst>
                <a:ext uri="{FF2B5EF4-FFF2-40B4-BE49-F238E27FC236}">
                  <a16:creationId xmlns:a16="http://schemas.microsoft.com/office/drawing/2014/main" id="{D92F8E5E-F994-EA80-57A2-2C241F5D2241}"/>
                </a:ext>
              </a:extLst>
            </p:cNvPr>
            <p:cNvSpPr/>
            <p:nvPr/>
          </p:nvSpPr>
          <p:spPr>
            <a:xfrm>
              <a:off x="3581400" y="1630680"/>
              <a:ext cx="2895600" cy="1402080"/>
            </a:xfrm>
            <a:prstGeom prst="roundRect">
              <a:avLst>
                <a:gd name="adj" fmla="val 6522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B9BD829A-3D07-5EB8-442B-9F0592A165CE}"/>
                </a:ext>
              </a:extLst>
            </p:cNvPr>
            <p:cNvSpPr/>
            <p:nvPr/>
          </p:nvSpPr>
          <p:spPr>
            <a:xfrm>
              <a:off x="3718560" y="1752600"/>
              <a:ext cx="262128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83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Analysis</a:t>
              </a:r>
              <a:endParaRPr lang="en-US" sz="1283" dirty="0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6E6A2A8F-6FDB-40E2-B380-D631F811DFDE}"/>
                </a:ext>
              </a:extLst>
            </p:cNvPr>
            <p:cNvSpPr/>
            <p:nvPr/>
          </p:nvSpPr>
          <p:spPr>
            <a:xfrm>
              <a:off x="3718560" y="2171700"/>
              <a:ext cx="1790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current</a:t>
              </a:r>
              <a:endParaRPr lang="en-US" sz="1100" dirty="0"/>
            </a:p>
          </p:txBody>
        </p:sp>
        <p:sp>
          <p:nvSpPr>
            <p:cNvPr id="21" name="Shape 18">
              <a:extLst>
                <a:ext uri="{FF2B5EF4-FFF2-40B4-BE49-F238E27FC236}">
                  <a16:creationId xmlns:a16="http://schemas.microsoft.com/office/drawing/2014/main" id="{E1D45627-E002-9191-6435-82DC461FF292}"/>
                </a:ext>
              </a:extLst>
            </p:cNvPr>
            <p:cNvSpPr/>
            <p:nvPr/>
          </p:nvSpPr>
          <p:spPr>
            <a:xfrm>
              <a:off x="5516880" y="2202180"/>
              <a:ext cx="829056" cy="179832"/>
            </a:xfrm>
            <a:prstGeom prst="roundRect">
              <a:avLst>
                <a:gd name="adj" fmla="val 5084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7D9A216A-7F3A-C7AE-1452-C7E31ACE1A8A}"/>
                </a:ext>
              </a:extLst>
            </p:cNvPr>
            <p:cNvSpPr/>
            <p:nvPr/>
          </p:nvSpPr>
          <p:spPr>
            <a:xfrm>
              <a:off x="5547360" y="2209800"/>
              <a:ext cx="85344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733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8C44B2BA-7F2F-5433-CFEF-DD2033199054}"/>
                </a:ext>
              </a:extLst>
            </p:cNvPr>
            <p:cNvSpPr/>
            <p:nvPr/>
          </p:nvSpPr>
          <p:spPr>
            <a:xfrm>
              <a:off x="3718560" y="2453640"/>
              <a:ext cx="1790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Electrostatic</a:t>
              </a:r>
              <a:endParaRPr lang="en-US" sz="1100" dirty="0"/>
            </a:p>
          </p:txBody>
        </p:sp>
        <p:sp>
          <p:nvSpPr>
            <p:cNvPr id="24" name="Shape 21">
              <a:extLst>
                <a:ext uri="{FF2B5EF4-FFF2-40B4-BE49-F238E27FC236}">
                  <a16:creationId xmlns:a16="http://schemas.microsoft.com/office/drawing/2014/main" id="{A500C095-EF63-5CCE-5F1A-1002F16B1A6E}"/>
                </a:ext>
              </a:extLst>
            </p:cNvPr>
            <p:cNvSpPr/>
            <p:nvPr/>
          </p:nvSpPr>
          <p:spPr>
            <a:xfrm>
              <a:off x="5516880" y="2484120"/>
              <a:ext cx="829056" cy="179832"/>
            </a:xfrm>
            <a:prstGeom prst="roundRect">
              <a:avLst>
                <a:gd name="adj" fmla="val 5084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33174C6A-12FC-2AC0-0E9A-DCB532FC6E72}"/>
                </a:ext>
              </a:extLst>
            </p:cNvPr>
            <p:cNvSpPr/>
            <p:nvPr/>
          </p:nvSpPr>
          <p:spPr>
            <a:xfrm>
              <a:off x="5547360" y="2491740"/>
              <a:ext cx="85344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733" dirty="0"/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744921C5-0A7E-5689-9009-76F48425968E}"/>
                </a:ext>
              </a:extLst>
            </p:cNvPr>
            <p:cNvSpPr/>
            <p:nvPr/>
          </p:nvSpPr>
          <p:spPr>
            <a:xfrm>
              <a:off x="6629400" y="1630680"/>
              <a:ext cx="2895600" cy="1402080"/>
            </a:xfrm>
            <a:prstGeom prst="roundRect">
              <a:avLst>
                <a:gd name="adj" fmla="val 6522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C2080586-D3F7-1AF0-B06A-989B305BC969}"/>
                </a:ext>
              </a:extLst>
            </p:cNvPr>
            <p:cNvSpPr/>
            <p:nvPr/>
          </p:nvSpPr>
          <p:spPr>
            <a:xfrm>
              <a:off x="6766560" y="1691640"/>
              <a:ext cx="262128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Electrical Related</a:t>
              </a:r>
              <a:endParaRPr lang="en-US" sz="1100" dirty="0"/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26AFDEB5-3F36-48C5-A378-C94C926AEF02}"/>
                </a:ext>
              </a:extLst>
            </p:cNvPr>
            <p:cNvSpPr/>
            <p:nvPr/>
          </p:nvSpPr>
          <p:spPr>
            <a:xfrm>
              <a:off x="6766560" y="1905000"/>
              <a:ext cx="262128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79529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Coupling</a:t>
              </a:r>
              <a:endParaRPr lang="en-US" sz="1100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6C44DA1B-B2E7-3D01-7B19-6C21902BB745}"/>
                </a:ext>
              </a:extLst>
            </p:cNvPr>
            <p:cNvSpPr/>
            <p:nvPr/>
          </p:nvSpPr>
          <p:spPr>
            <a:xfrm>
              <a:off x="6766560" y="2171700"/>
              <a:ext cx="1790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Electromechanical</a:t>
              </a:r>
              <a:endParaRPr lang="en-US" sz="1100" dirty="0"/>
            </a:p>
          </p:txBody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90E5D215-6198-954E-BA78-2E70E854E80C}"/>
                </a:ext>
              </a:extLst>
            </p:cNvPr>
            <p:cNvSpPr/>
            <p:nvPr/>
          </p:nvSpPr>
          <p:spPr>
            <a:xfrm>
              <a:off x="8564880" y="2202180"/>
              <a:ext cx="829056" cy="179832"/>
            </a:xfrm>
            <a:prstGeom prst="roundRect">
              <a:avLst>
                <a:gd name="adj" fmla="val 5084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E9067C4A-E58F-820C-48B6-B1CD53A16ECE}"/>
                </a:ext>
              </a:extLst>
            </p:cNvPr>
            <p:cNvSpPr/>
            <p:nvPr/>
          </p:nvSpPr>
          <p:spPr>
            <a:xfrm>
              <a:off x="8595360" y="2209800"/>
              <a:ext cx="85344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733" dirty="0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F746FD25-4BE0-1749-342E-D2517BD308A8}"/>
                </a:ext>
              </a:extLst>
            </p:cNvPr>
            <p:cNvSpPr/>
            <p:nvPr/>
          </p:nvSpPr>
          <p:spPr>
            <a:xfrm>
              <a:off x="6766560" y="2453640"/>
              <a:ext cx="1790700" cy="2468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Electrothermal</a:t>
              </a:r>
              <a:endParaRPr lang="en-US" sz="1100" dirty="0"/>
            </a:p>
          </p:txBody>
        </p:sp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CE80FBEB-CD5D-494F-92E4-25EC21F8834E}"/>
                </a:ext>
              </a:extLst>
            </p:cNvPr>
            <p:cNvSpPr/>
            <p:nvPr/>
          </p:nvSpPr>
          <p:spPr>
            <a:xfrm>
              <a:off x="8564880" y="2484120"/>
              <a:ext cx="829056" cy="179832"/>
            </a:xfrm>
            <a:prstGeom prst="roundRect">
              <a:avLst>
                <a:gd name="adj" fmla="val 50847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455A875E-9899-3067-F7EC-54EA23873B07}"/>
                </a:ext>
              </a:extLst>
            </p:cNvPr>
            <p:cNvSpPr/>
            <p:nvPr/>
          </p:nvSpPr>
          <p:spPr>
            <a:xfrm>
              <a:off x="8595360" y="2491740"/>
              <a:ext cx="85344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733" dirty="0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5538C9A8-DE26-59F7-E6AD-9C0BCE38EC79}"/>
                </a:ext>
              </a:extLst>
            </p:cNvPr>
            <p:cNvSpPr/>
            <p:nvPr/>
          </p:nvSpPr>
          <p:spPr>
            <a:xfrm>
              <a:off x="533400" y="3185160"/>
              <a:ext cx="89916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4" b="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SOLUTIONS &amp; APPLICATIONS</a:t>
              </a:r>
              <a:endParaRPr lang="en-US" sz="1054" dirty="0"/>
            </a:p>
          </p:txBody>
        </p:sp>
        <p:sp>
          <p:nvSpPr>
            <p:cNvPr id="37" name="Shape 33">
              <a:extLst>
                <a:ext uri="{FF2B5EF4-FFF2-40B4-BE49-F238E27FC236}">
                  <a16:creationId xmlns:a16="http://schemas.microsoft.com/office/drawing/2014/main" id="{5A3A81C7-EEC1-7966-4D9D-F7083C40DAD2}"/>
                </a:ext>
              </a:extLst>
            </p:cNvPr>
            <p:cNvSpPr/>
            <p:nvPr/>
          </p:nvSpPr>
          <p:spPr>
            <a:xfrm>
              <a:off x="533400" y="3489960"/>
              <a:ext cx="4419600" cy="2377440"/>
            </a:xfrm>
            <a:prstGeom prst="roundRect">
              <a:avLst>
                <a:gd name="adj" fmla="val 3846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38" name="Text 34">
              <a:extLst>
                <a:ext uri="{FF2B5EF4-FFF2-40B4-BE49-F238E27FC236}">
                  <a16:creationId xmlns:a16="http://schemas.microsoft.com/office/drawing/2014/main" id="{62E4469D-6BA9-B198-AAC9-77C8A3210A8C}"/>
                </a:ext>
              </a:extLst>
            </p:cNvPr>
            <p:cNvSpPr/>
            <p:nvPr/>
          </p:nvSpPr>
          <p:spPr>
            <a:xfrm>
              <a:off x="685800" y="3611880"/>
              <a:ext cx="4114800" cy="298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29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Hybrid Bonding</a:t>
              </a:r>
              <a:endParaRPr lang="en-US" sz="1329" dirty="0"/>
            </a:p>
          </p:txBody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7EBD6B86-CE62-BA60-6861-601AE92FEB6D}"/>
                </a:ext>
              </a:extLst>
            </p:cNvPr>
            <p:cNvSpPr/>
            <p:nvPr/>
          </p:nvSpPr>
          <p:spPr>
            <a:xfrm>
              <a:off x="3368040" y="3649980"/>
              <a:ext cx="973074" cy="210693"/>
            </a:xfrm>
            <a:prstGeom prst="roundRect">
              <a:avLst>
                <a:gd name="adj" fmla="val 43400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40" name="Text 36">
              <a:extLst>
                <a:ext uri="{FF2B5EF4-FFF2-40B4-BE49-F238E27FC236}">
                  <a16:creationId xmlns:a16="http://schemas.microsoft.com/office/drawing/2014/main" id="{5495B28B-D2BF-A316-7E6F-83F18F17B04C}"/>
                </a:ext>
              </a:extLst>
            </p:cNvPr>
            <p:cNvSpPr/>
            <p:nvPr/>
          </p:nvSpPr>
          <p:spPr>
            <a:xfrm>
              <a:off x="3398520" y="3657600"/>
              <a:ext cx="1409700" cy="195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7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</a:t>
              </a:r>
              <a:endParaRPr lang="en-US" sz="871" dirty="0"/>
            </a:p>
          </p:txBody>
        </p:sp>
        <p:sp>
          <p:nvSpPr>
            <p:cNvPr id="41" name="Text 37">
              <a:extLst>
                <a:ext uri="{FF2B5EF4-FFF2-40B4-BE49-F238E27FC236}">
                  <a16:creationId xmlns:a16="http://schemas.microsoft.com/office/drawing/2014/main" id="{CAAD2807-638A-AD37-8E3B-CD9A7F64F79F}"/>
                </a:ext>
              </a:extLst>
            </p:cNvPr>
            <p:cNvSpPr/>
            <p:nvPr/>
          </p:nvSpPr>
          <p:spPr>
            <a:xfrm>
              <a:off x="685800" y="4008120"/>
              <a:ext cx="41148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next-generation solution for high-density,</a:t>
              </a:r>
              <a:endParaRPr lang="en-US" sz="1008" dirty="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CC72D55C-F15C-21F0-A63C-DF96DD606692}"/>
                </a:ext>
              </a:extLst>
            </p:cNvPr>
            <p:cNvSpPr/>
            <p:nvPr/>
          </p:nvSpPr>
          <p:spPr>
            <a:xfrm>
              <a:off x="685800" y="4236720"/>
              <a:ext cx="41148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low-power chip-to-chip integration.</a:t>
              </a:r>
              <a:endParaRPr lang="en-US" sz="1008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1B276F81-E6E4-3AD0-23F8-E98492DE5C92}"/>
                </a:ext>
              </a:extLst>
            </p:cNvPr>
            <p:cNvSpPr/>
            <p:nvPr/>
          </p:nvSpPr>
          <p:spPr>
            <a:xfrm>
              <a:off x="685800" y="4572000"/>
              <a:ext cx="18669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Existing foundation</a:t>
              </a:r>
              <a:endParaRPr lang="en-US" sz="963" dirty="0"/>
            </a:p>
          </p:txBody>
        </p:sp>
        <p:sp>
          <p:nvSpPr>
            <p:cNvPr id="44" name="Text 40">
              <a:extLst>
                <a:ext uri="{FF2B5EF4-FFF2-40B4-BE49-F238E27FC236}">
                  <a16:creationId xmlns:a16="http://schemas.microsoft.com/office/drawing/2014/main" id="{1ECC5EE2-55B3-10D4-7A7E-1F8C195A408C}"/>
                </a:ext>
              </a:extLst>
            </p:cNvPr>
            <p:cNvSpPr/>
            <p:nvPr/>
          </p:nvSpPr>
          <p:spPr>
            <a:xfrm>
              <a:off x="685800" y="4861560"/>
              <a:ext cx="18669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 analysis</a:t>
              </a:r>
              <a:endParaRPr lang="en-US" sz="1008" dirty="0"/>
            </a:p>
          </p:txBody>
        </p:sp>
        <p:sp>
          <p:nvSpPr>
            <p:cNvPr id="45" name="Text 41">
              <a:extLst>
                <a:ext uri="{FF2B5EF4-FFF2-40B4-BE49-F238E27FC236}">
                  <a16:creationId xmlns:a16="http://schemas.microsoft.com/office/drawing/2014/main" id="{EEAE352B-AC8A-052B-038B-1F19B74C3821}"/>
                </a:ext>
              </a:extLst>
            </p:cNvPr>
            <p:cNvSpPr/>
            <p:nvPr/>
          </p:nvSpPr>
          <p:spPr>
            <a:xfrm>
              <a:off x="2720340" y="4572000"/>
              <a:ext cx="208026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Planned extensions</a:t>
              </a:r>
              <a:endParaRPr lang="en-US" sz="963" dirty="0"/>
            </a:p>
          </p:txBody>
        </p:sp>
        <p:sp>
          <p:nvSpPr>
            <p:cNvPr id="46" name="Text 42">
              <a:extLst>
                <a:ext uri="{FF2B5EF4-FFF2-40B4-BE49-F238E27FC236}">
                  <a16:creationId xmlns:a16="http://schemas.microsoft.com/office/drawing/2014/main" id="{68666D4C-7B39-1D17-287A-F88379652B35}"/>
                </a:ext>
              </a:extLst>
            </p:cNvPr>
            <p:cNvSpPr/>
            <p:nvPr/>
          </p:nvSpPr>
          <p:spPr>
            <a:xfrm>
              <a:off x="2720340" y="4861560"/>
              <a:ext cx="208026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Mechanical contact</a:t>
              </a:r>
              <a:endParaRPr lang="en-US" sz="1008" dirty="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6FD40B8E-BDF5-09BF-08D0-4363EEB5755A}"/>
                </a:ext>
              </a:extLst>
            </p:cNvPr>
            <p:cNvSpPr/>
            <p:nvPr/>
          </p:nvSpPr>
          <p:spPr>
            <a:xfrm>
              <a:off x="2720340" y="5151120"/>
              <a:ext cx="208026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Crack analysis</a:t>
              </a:r>
              <a:endParaRPr lang="en-US" sz="1008" dirty="0"/>
            </a:p>
          </p:txBody>
        </p:sp>
        <p:sp>
          <p:nvSpPr>
            <p:cNvPr id="48" name="Text 44">
              <a:extLst>
                <a:ext uri="{FF2B5EF4-FFF2-40B4-BE49-F238E27FC236}">
                  <a16:creationId xmlns:a16="http://schemas.microsoft.com/office/drawing/2014/main" id="{7FED8FE5-1BDA-BD45-34D5-57EF2B5B9E57}"/>
                </a:ext>
              </a:extLst>
            </p:cNvPr>
            <p:cNvSpPr/>
            <p:nvPr/>
          </p:nvSpPr>
          <p:spPr>
            <a:xfrm>
              <a:off x="2720340" y="5440680"/>
              <a:ext cx="208026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Cohesive damage / softening</a:t>
              </a:r>
              <a:endParaRPr lang="en-US" sz="963" dirty="0"/>
            </a:p>
          </p:txBody>
        </p:sp>
        <p:sp>
          <p:nvSpPr>
            <p:cNvPr id="49" name="Shape 45">
              <a:extLst>
                <a:ext uri="{FF2B5EF4-FFF2-40B4-BE49-F238E27FC236}">
                  <a16:creationId xmlns:a16="http://schemas.microsoft.com/office/drawing/2014/main" id="{52CF02D2-AB71-0B28-F2BE-EE255A40E47A}"/>
                </a:ext>
              </a:extLst>
            </p:cNvPr>
            <p:cNvSpPr/>
            <p:nvPr/>
          </p:nvSpPr>
          <p:spPr>
            <a:xfrm>
              <a:off x="5105400" y="3489960"/>
              <a:ext cx="4419600" cy="2377440"/>
            </a:xfrm>
            <a:prstGeom prst="roundRect">
              <a:avLst>
                <a:gd name="adj" fmla="val 3846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50" name="Text 46">
              <a:extLst>
                <a:ext uri="{FF2B5EF4-FFF2-40B4-BE49-F238E27FC236}">
                  <a16:creationId xmlns:a16="http://schemas.microsoft.com/office/drawing/2014/main" id="{59F020BB-BDC2-B163-1938-0B38E7712CB2}"/>
                </a:ext>
              </a:extLst>
            </p:cNvPr>
            <p:cNvSpPr/>
            <p:nvPr/>
          </p:nvSpPr>
          <p:spPr>
            <a:xfrm>
              <a:off x="5257800" y="3611880"/>
              <a:ext cx="4114800" cy="298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29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Vibration Analysis</a:t>
              </a:r>
              <a:endParaRPr lang="en-US" sz="1329" dirty="0"/>
            </a:p>
          </p:txBody>
        </p:sp>
        <p:sp>
          <p:nvSpPr>
            <p:cNvPr id="51" name="Shape 47">
              <a:extLst>
                <a:ext uri="{FF2B5EF4-FFF2-40B4-BE49-F238E27FC236}">
                  <a16:creationId xmlns:a16="http://schemas.microsoft.com/office/drawing/2014/main" id="{753DAAE8-02BD-3297-F8ED-940C3BFD12F9}"/>
                </a:ext>
              </a:extLst>
            </p:cNvPr>
            <p:cNvSpPr/>
            <p:nvPr/>
          </p:nvSpPr>
          <p:spPr>
            <a:xfrm>
              <a:off x="8351520" y="3649980"/>
              <a:ext cx="784860" cy="210693"/>
            </a:xfrm>
            <a:prstGeom prst="roundRect">
              <a:avLst>
                <a:gd name="adj" fmla="val 43400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52" name="Text 48">
              <a:extLst>
                <a:ext uri="{FF2B5EF4-FFF2-40B4-BE49-F238E27FC236}">
                  <a16:creationId xmlns:a16="http://schemas.microsoft.com/office/drawing/2014/main" id="{5A99DA52-14F6-92C0-674A-1132147B0DBE}"/>
                </a:ext>
              </a:extLst>
            </p:cNvPr>
            <p:cNvSpPr/>
            <p:nvPr/>
          </p:nvSpPr>
          <p:spPr>
            <a:xfrm>
              <a:off x="8382000" y="3657600"/>
              <a:ext cx="990600" cy="195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7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GT-A only</a:t>
              </a:r>
              <a:endParaRPr lang="en-US" sz="871" dirty="0"/>
            </a:p>
          </p:txBody>
        </p:sp>
        <p:sp>
          <p:nvSpPr>
            <p:cNvPr id="53" name="Text 49">
              <a:extLst>
                <a:ext uri="{FF2B5EF4-FFF2-40B4-BE49-F238E27FC236}">
                  <a16:creationId xmlns:a16="http://schemas.microsoft.com/office/drawing/2014/main" id="{05007E7F-44A3-FD4F-57D2-18D7BB744B11}"/>
                </a:ext>
              </a:extLst>
            </p:cNvPr>
            <p:cNvSpPr/>
            <p:nvPr/>
          </p:nvSpPr>
          <p:spPr>
            <a:xfrm>
              <a:off x="5257800" y="4008120"/>
              <a:ext cx="41148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Chip / package / PCB reliability</a:t>
              </a:r>
              <a:endParaRPr lang="en-US" sz="1008" dirty="0"/>
            </a:p>
          </p:txBody>
        </p:sp>
        <p:sp>
          <p:nvSpPr>
            <p:cNvPr id="54" name="Text 50">
              <a:extLst>
                <a:ext uri="{FF2B5EF4-FFF2-40B4-BE49-F238E27FC236}">
                  <a16:creationId xmlns:a16="http://schemas.microsoft.com/office/drawing/2014/main" id="{A4659CD4-0DFA-C418-9507-B325F5220EBB}"/>
                </a:ext>
              </a:extLst>
            </p:cNvPr>
            <p:cNvSpPr/>
            <p:nvPr/>
          </p:nvSpPr>
          <p:spPr>
            <a:xfrm>
              <a:off x="5257800" y="4236720"/>
              <a:ext cx="41148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Identify package / PCB resonance</a:t>
              </a:r>
              <a:endParaRPr lang="en-US" sz="1008" dirty="0"/>
            </a:p>
          </p:txBody>
        </p:sp>
        <p:sp>
          <p:nvSpPr>
            <p:cNvPr id="55" name="Text 51">
              <a:extLst>
                <a:ext uri="{FF2B5EF4-FFF2-40B4-BE49-F238E27FC236}">
                  <a16:creationId xmlns:a16="http://schemas.microsoft.com/office/drawing/2014/main" id="{14C98145-A608-36AF-4CA6-DDF62B6BF6B9}"/>
                </a:ext>
              </a:extLst>
            </p:cNvPr>
            <p:cNvSpPr/>
            <p:nvPr/>
          </p:nvSpPr>
          <p:spPr>
            <a:xfrm>
              <a:off x="5257800" y="4572000"/>
              <a:ext cx="18669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Existing foundation</a:t>
              </a:r>
              <a:endParaRPr lang="en-US" sz="963" dirty="0"/>
            </a:p>
          </p:txBody>
        </p:sp>
        <p:sp>
          <p:nvSpPr>
            <p:cNvPr id="56" name="Text 52">
              <a:extLst>
                <a:ext uri="{FF2B5EF4-FFF2-40B4-BE49-F238E27FC236}">
                  <a16:creationId xmlns:a16="http://schemas.microsoft.com/office/drawing/2014/main" id="{8AC24B81-F020-BFEA-DCAA-809FE1B1E095}"/>
                </a:ext>
              </a:extLst>
            </p:cNvPr>
            <p:cNvSpPr/>
            <p:nvPr/>
          </p:nvSpPr>
          <p:spPr>
            <a:xfrm>
              <a:off x="5257800" y="4861560"/>
              <a:ext cx="186690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 analysis</a:t>
              </a:r>
              <a:endParaRPr lang="en-US" sz="1008" dirty="0"/>
            </a:p>
          </p:txBody>
        </p:sp>
        <p:sp>
          <p:nvSpPr>
            <p:cNvPr id="57" name="Text 53">
              <a:extLst>
                <a:ext uri="{FF2B5EF4-FFF2-40B4-BE49-F238E27FC236}">
                  <a16:creationId xmlns:a16="http://schemas.microsoft.com/office/drawing/2014/main" id="{F24C9637-E11D-01B4-4350-6C8B9B7677E7}"/>
                </a:ext>
              </a:extLst>
            </p:cNvPr>
            <p:cNvSpPr/>
            <p:nvPr/>
          </p:nvSpPr>
          <p:spPr>
            <a:xfrm>
              <a:off x="7292340" y="4572000"/>
              <a:ext cx="208026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Planned extensions</a:t>
              </a:r>
              <a:endParaRPr lang="en-US" sz="963" dirty="0"/>
            </a:p>
          </p:txBody>
        </p:sp>
        <p:sp>
          <p:nvSpPr>
            <p:cNvPr id="58" name="Text 54">
              <a:extLst>
                <a:ext uri="{FF2B5EF4-FFF2-40B4-BE49-F238E27FC236}">
                  <a16:creationId xmlns:a16="http://schemas.microsoft.com/office/drawing/2014/main" id="{1DE70051-FB11-3714-8430-C8FF7BCEDD25}"/>
                </a:ext>
              </a:extLst>
            </p:cNvPr>
            <p:cNvSpPr/>
            <p:nvPr/>
          </p:nvSpPr>
          <p:spPr>
            <a:xfrm>
              <a:off x="7292340" y="4861560"/>
              <a:ext cx="208026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Frequency / Modal</a:t>
              </a:r>
              <a:endParaRPr lang="en-US" sz="1008" dirty="0"/>
            </a:p>
          </p:txBody>
        </p:sp>
        <p:sp>
          <p:nvSpPr>
            <p:cNvPr id="59" name="Text 55">
              <a:extLst>
                <a:ext uri="{FF2B5EF4-FFF2-40B4-BE49-F238E27FC236}">
                  <a16:creationId xmlns:a16="http://schemas.microsoft.com/office/drawing/2014/main" id="{69F4DA1B-D0BC-F36D-C450-AFABE03065D5}"/>
                </a:ext>
              </a:extLst>
            </p:cNvPr>
            <p:cNvSpPr/>
            <p:nvPr/>
          </p:nvSpPr>
          <p:spPr>
            <a:xfrm>
              <a:off x="7292340" y="5151120"/>
              <a:ext cx="208026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Harmonic Response</a:t>
              </a:r>
              <a:endParaRPr lang="en-US" sz="1008" dirty="0"/>
            </a:p>
          </p:txBody>
        </p:sp>
        <p:sp>
          <p:nvSpPr>
            <p:cNvPr id="60" name="Text 56">
              <a:extLst>
                <a:ext uri="{FF2B5EF4-FFF2-40B4-BE49-F238E27FC236}">
                  <a16:creationId xmlns:a16="http://schemas.microsoft.com/office/drawing/2014/main" id="{B2652E18-F6E3-0CB6-DB58-78D1FF3F0F00}"/>
                </a:ext>
              </a:extLst>
            </p:cNvPr>
            <p:cNvSpPr/>
            <p:nvPr/>
          </p:nvSpPr>
          <p:spPr>
            <a:xfrm>
              <a:off x="7292340" y="5440680"/>
              <a:ext cx="208026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Response Spectrum</a:t>
              </a:r>
              <a:endParaRPr lang="en-US" sz="1008" dirty="0"/>
            </a:p>
          </p:txBody>
        </p:sp>
        <p:sp>
          <p:nvSpPr>
            <p:cNvPr id="61" name="Shape 57">
              <a:extLst>
                <a:ext uri="{FF2B5EF4-FFF2-40B4-BE49-F238E27FC236}">
                  <a16:creationId xmlns:a16="http://schemas.microsoft.com/office/drawing/2014/main" id="{DFC85B68-7464-D073-76B0-C5841A89D597}"/>
                </a:ext>
              </a:extLst>
            </p:cNvPr>
            <p:cNvSpPr/>
            <p:nvPr/>
          </p:nvSpPr>
          <p:spPr>
            <a:xfrm>
              <a:off x="533400" y="6019800"/>
              <a:ext cx="8991600" cy="1981200"/>
            </a:xfrm>
            <a:prstGeom prst="roundRect">
              <a:avLst>
                <a:gd name="adj" fmla="val 4615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62" name="Text 58">
              <a:extLst>
                <a:ext uri="{FF2B5EF4-FFF2-40B4-BE49-F238E27FC236}">
                  <a16:creationId xmlns:a16="http://schemas.microsoft.com/office/drawing/2014/main" id="{9BF889CF-6BD8-BCAB-758C-5DC4BFC86CB1}"/>
                </a:ext>
              </a:extLst>
            </p:cNvPr>
            <p:cNvSpPr/>
            <p:nvPr/>
          </p:nvSpPr>
          <p:spPr>
            <a:xfrm>
              <a:off x="685800" y="6141720"/>
              <a:ext cx="8686800" cy="2983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29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Trace Mapping</a:t>
              </a:r>
              <a:endParaRPr lang="en-US" sz="1329" dirty="0"/>
            </a:p>
          </p:txBody>
        </p:sp>
        <p:sp>
          <p:nvSpPr>
            <p:cNvPr id="63" name="Shape 59">
              <a:extLst>
                <a:ext uri="{FF2B5EF4-FFF2-40B4-BE49-F238E27FC236}">
                  <a16:creationId xmlns:a16="http://schemas.microsoft.com/office/drawing/2014/main" id="{5FDF865C-CBF1-9BB3-DCCC-70ABCE4958A3}"/>
                </a:ext>
              </a:extLst>
            </p:cNvPr>
            <p:cNvSpPr/>
            <p:nvPr/>
          </p:nvSpPr>
          <p:spPr>
            <a:xfrm>
              <a:off x="8199120" y="6179820"/>
              <a:ext cx="784860" cy="210693"/>
            </a:xfrm>
            <a:prstGeom prst="roundRect">
              <a:avLst>
                <a:gd name="adj" fmla="val 43400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64" name="Text 60">
              <a:extLst>
                <a:ext uri="{FF2B5EF4-FFF2-40B4-BE49-F238E27FC236}">
                  <a16:creationId xmlns:a16="http://schemas.microsoft.com/office/drawing/2014/main" id="{9BA8A5FF-7E13-8140-2A57-A9029416B86E}"/>
                </a:ext>
              </a:extLst>
            </p:cNvPr>
            <p:cNvSpPr/>
            <p:nvPr/>
          </p:nvSpPr>
          <p:spPr>
            <a:xfrm>
              <a:off x="8229600" y="6187440"/>
              <a:ext cx="1143000" cy="19545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71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GT-A only</a:t>
              </a:r>
              <a:endParaRPr lang="en-US" sz="871" dirty="0"/>
            </a:p>
          </p:txBody>
        </p:sp>
        <p:sp>
          <p:nvSpPr>
            <p:cNvPr id="65" name="Text 61">
              <a:extLst>
                <a:ext uri="{FF2B5EF4-FFF2-40B4-BE49-F238E27FC236}">
                  <a16:creationId xmlns:a16="http://schemas.microsoft.com/office/drawing/2014/main" id="{2D6AF0A4-AF35-2829-411B-20F068FA71A4}"/>
                </a:ext>
              </a:extLst>
            </p:cNvPr>
            <p:cNvSpPr/>
            <p:nvPr/>
          </p:nvSpPr>
          <p:spPr>
            <a:xfrm>
              <a:off x="685800" y="6492240"/>
              <a:ext cx="396240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ECAD copper layout → FE material properties</a:t>
              </a:r>
              <a:endParaRPr lang="en-US" sz="963" dirty="0"/>
            </a:p>
          </p:txBody>
        </p:sp>
        <p:sp>
          <p:nvSpPr>
            <p:cNvPr id="66" name="Text 62">
              <a:extLst>
                <a:ext uri="{FF2B5EF4-FFF2-40B4-BE49-F238E27FC236}">
                  <a16:creationId xmlns:a16="http://schemas.microsoft.com/office/drawing/2014/main" id="{2B801FCD-6B5E-A755-0505-9FC3F9A12A55}"/>
                </a:ext>
              </a:extLst>
            </p:cNvPr>
            <p:cNvSpPr/>
            <p:nvPr/>
          </p:nvSpPr>
          <p:spPr>
            <a:xfrm>
              <a:off x="685800" y="6743700"/>
              <a:ext cx="1196340" cy="1748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779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Source fraction</a:t>
              </a:r>
              <a:endParaRPr lang="en-US" sz="779" dirty="0"/>
            </a:p>
          </p:txBody>
        </p:sp>
        <p:sp>
          <p:nvSpPr>
            <p:cNvPr id="67" name="Text 63">
              <a:extLst>
                <a:ext uri="{FF2B5EF4-FFF2-40B4-BE49-F238E27FC236}">
                  <a16:creationId xmlns:a16="http://schemas.microsoft.com/office/drawing/2014/main" id="{22056AB4-EF39-C862-6931-6F3A340A7EF7}"/>
                </a:ext>
              </a:extLst>
            </p:cNvPr>
            <p:cNvSpPr/>
            <p:nvPr/>
          </p:nvSpPr>
          <p:spPr>
            <a:xfrm>
              <a:off x="2049780" y="6743700"/>
              <a:ext cx="1196340" cy="1748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779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 Target FE mesh</a:t>
              </a:r>
              <a:endParaRPr lang="en-US" sz="779" dirty="0"/>
            </a:p>
          </p:txBody>
        </p:sp>
        <p:sp>
          <p:nvSpPr>
            <p:cNvPr id="68" name="Text 64">
              <a:extLst>
                <a:ext uri="{FF2B5EF4-FFF2-40B4-BE49-F238E27FC236}">
                  <a16:creationId xmlns:a16="http://schemas.microsoft.com/office/drawing/2014/main" id="{687E591A-1ABD-7AE4-0BBD-9C38FD04E63D}"/>
                </a:ext>
              </a:extLst>
            </p:cNvPr>
            <p:cNvSpPr/>
            <p:nvPr/>
          </p:nvSpPr>
          <p:spPr>
            <a:xfrm>
              <a:off x="3413760" y="6743700"/>
              <a:ext cx="1196340" cy="1748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779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Mapped fraction</a:t>
              </a:r>
              <a:endParaRPr lang="en-US" sz="779" dirty="0"/>
            </a:p>
          </p:txBody>
        </p:sp>
        <p:pic>
          <p:nvPicPr>
            <p:cNvPr id="69" name="Image 0" descr="preencoded.png">
              <a:extLst>
                <a:ext uri="{FF2B5EF4-FFF2-40B4-BE49-F238E27FC236}">
                  <a16:creationId xmlns:a16="http://schemas.microsoft.com/office/drawing/2014/main" id="{518D40D5-5D53-A714-04E1-BC33113CF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6972300"/>
              <a:ext cx="3924300" cy="834017"/>
            </a:xfrm>
            <a:prstGeom prst="rect">
              <a:avLst/>
            </a:prstGeom>
          </p:spPr>
        </p:pic>
        <p:sp>
          <p:nvSpPr>
            <p:cNvPr id="70" name="Text 65">
              <a:extLst>
                <a:ext uri="{FF2B5EF4-FFF2-40B4-BE49-F238E27FC236}">
                  <a16:creationId xmlns:a16="http://schemas.microsoft.com/office/drawing/2014/main" id="{D0D300CF-FAFD-178D-0150-3A132821B738}"/>
                </a:ext>
              </a:extLst>
            </p:cNvPr>
            <p:cNvSpPr/>
            <p:nvPr/>
          </p:nvSpPr>
          <p:spPr>
            <a:xfrm>
              <a:off x="685800" y="7833360"/>
              <a:ext cx="3924300" cy="1645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733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Source: GT-A reference guide · 2025 R1</a:t>
              </a:r>
              <a:endParaRPr lang="en-US" sz="733" dirty="0"/>
            </a:p>
          </p:txBody>
        </p:sp>
        <p:sp>
          <p:nvSpPr>
            <p:cNvPr id="71" name="Text 66">
              <a:extLst>
                <a:ext uri="{FF2B5EF4-FFF2-40B4-BE49-F238E27FC236}">
                  <a16:creationId xmlns:a16="http://schemas.microsoft.com/office/drawing/2014/main" id="{A40CFCD4-EA7B-BFF0-FCF8-7D92226A96DF}"/>
                </a:ext>
              </a:extLst>
            </p:cNvPr>
            <p:cNvSpPr/>
            <p:nvPr/>
          </p:nvSpPr>
          <p:spPr>
            <a:xfrm>
              <a:off x="4792980" y="6492240"/>
              <a:ext cx="188214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Existing foundation</a:t>
              </a:r>
              <a:endParaRPr lang="en-US" sz="963" dirty="0"/>
            </a:p>
          </p:txBody>
        </p:sp>
        <p:sp>
          <p:nvSpPr>
            <p:cNvPr id="72" name="Text 67">
              <a:extLst>
                <a:ext uri="{FF2B5EF4-FFF2-40B4-BE49-F238E27FC236}">
                  <a16:creationId xmlns:a16="http://schemas.microsoft.com/office/drawing/2014/main" id="{54A1770B-C694-AE83-5D99-60B8748EAB5A}"/>
                </a:ext>
              </a:extLst>
            </p:cNvPr>
            <p:cNvSpPr/>
            <p:nvPr/>
          </p:nvSpPr>
          <p:spPr>
            <a:xfrm>
              <a:off x="4792980" y="6880860"/>
              <a:ext cx="18821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 analysis</a:t>
              </a:r>
              <a:endParaRPr lang="en-US" sz="1008" dirty="0"/>
            </a:p>
          </p:txBody>
        </p:sp>
        <p:sp>
          <p:nvSpPr>
            <p:cNvPr id="73" name="Text 68">
              <a:extLst>
                <a:ext uri="{FF2B5EF4-FFF2-40B4-BE49-F238E27FC236}">
                  <a16:creationId xmlns:a16="http://schemas.microsoft.com/office/drawing/2014/main" id="{FA3B623A-F615-6A0E-7E48-24B5193778B3}"/>
                </a:ext>
              </a:extLst>
            </p:cNvPr>
            <p:cNvSpPr/>
            <p:nvPr/>
          </p:nvSpPr>
          <p:spPr>
            <a:xfrm>
              <a:off x="4792980" y="7162800"/>
              <a:ext cx="188214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 analysis</a:t>
              </a:r>
              <a:endParaRPr lang="en-US" sz="1008" dirty="0"/>
            </a:p>
          </p:txBody>
        </p:sp>
        <p:sp>
          <p:nvSpPr>
            <p:cNvPr id="74" name="Text 69">
              <a:extLst>
                <a:ext uri="{FF2B5EF4-FFF2-40B4-BE49-F238E27FC236}">
                  <a16:creationId xmlns:a16="http://schemas.microsoft.com/office/drawing/2014/main" id="{0A3A6571-F77F-7B36-1FDA-B0B646EFA750}"/>
                </a:ext>
              </a:extLst>
            </p:cNvPr>
            <p:cNvSpPr/>
            <p:nvPr/>
          </p:nvSpPr>
          <p:spPr>
            <a:xfrm>
              <a:off x="6827520" y="6492240"/>
              <a:ext cx="2545080" cy="21602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63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Planned extensions</a:t>
              </a:r>
              <a:endParaRPr lang="en-US" sz="963" dirty="0"/>
            </a:p>
          </p:txBody>
        </p:sp>
        <p:sp>
          <p:nvSpPr>
            <p:cNvPr id="75" name="Text 70">
              <a:extLst>
                <a:ext uri="{FF2B5EF4-FFF2-40B4-BE49-F238E27FC236}">
                  <a16:creationId xmlns:a16="http://schemas.microsoft.com/office/drawing/2014/main" id="{215E6932-FD28-BEBD-F917-6257F7500553}"/>
                </a:ext>
              </a:extLst>
            </p:cNvPr>
            <p:cNvSpPr/>
            <p:nvPr/>
          </p:nvSpPr>
          <p:spPr>
            <a:xfrm>
              <a:off x="6827520" y="6880860"/>
              <a:ext cx="254508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ECAD import &amp; alignment</a:t>
              </a:r>
              <a:endParaRPr lang="en-US" sz="1008" dirty="0"/>
            </a:p>
          </p:txBody>
        </p:sp>
        <p:sp>
          <p:nvSpPr>
            <p:cNvPr id="76" name="Text 71">
              <a:extLst>
                <a:ext uri="{FF2B5EF4-FFF2-40B4-BE49-F238E27FC236}">
                  <a16:creationId xmlns:a16="http://schemas.microsoft.com/office/drawing/2014/main" id="{057CF8B1-39FA-DB38-DE44-34C5A3DECEDC}"/>
                </a:ext>
              </a:extLst>
            </p:cNvPr>
            <p:cNvSpPr/>
            <p:nvPr/>
          </p:nvSpPr>
          <p:spPr>
            <a:xfrm>
              <a:off x="6827520" y="7162800"/>
              <a:ext cx="254508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Copper-fraction source grid</a:t>
              </a:r>
              <a:endParaRPr lang="en-US" sz="1008" dirty="0"/>
            </a:p>
          </p:txBody>
        </p:sp>
        <p:sp>
          <p:nvSpPr>
            <p:cNvPr id="77" name="Text 72">
              <a:extLst>
                <a:ext uri="{FF2B5EF4-FFF2-40B4-BE49-F238E27FC236}">
                  <a16:creationId xmlns:a16="http://schemas.microsoft.com/office/drawing/2014/main" id="{20E9A1EC-0904-BE73-43E6-051ABC0C7650}"/>
                </a:ext>
              </a:extLst>
            </p:cNvPr>
            <p:cNvSpPr/>
            <p:nvPr/>
          </p:nvSpPr>
          <p:spPr>
            <a:xfrm>
              <a:off x="6827520" y="7444740"/>
              <a:ext cx="254508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Grid–FE overlap weighting</a:t>
              </a:r>
              <a:endParaRPr lang="en-US" sz="1008" dirty="0"/>
            </a:p>
          </p:txBody>
        </p:sp>
        <p:sp>
          <p:nvSpPr>
            <p:cNvPr id="78" name="Text 73">
              <a:extLst>
                <a:ext uri="{FF2B5EF4-FFF2-40B4-BE49-F238E27FC236}">
                  <a16:creationId xmlns:a16="http://schemas.microsoft.com/office/drawing/2014/main" id="{92738637-5864-7961-043B-E5C6F8150317}"/>
                </a:ext>
              </a:extLst>
            </p:cNvPr>
            <p:cNvSpPr/>
            <p:nvPr/>
          </p:nvSpPr>
          <p:spPr>
            <a:xfrm>
              <a:off x="6827520" y="7726680"/>
              <a:ext cx="2545080" cy="22631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Effective material properties</a:t>
              </a:r>
              <a:endParaRPr lang="en-US" sz="1008" dirty="0"/>
            </a:p>
          </p:txBody>
        </p:sp>
        <p:sp>
          <p:nvSpPr>
            <p:cNvPr id="79" name="Shape 74">
              <a:extLst>
                <a:ext uri="{FF2B5EF4-FFF2-40B4-BE49-F238E27FC236}">
                  <a16:creationId xmlns:a16="http://schemas.microsoft.com/office/drawing/2014/main" id="{BA32BC6A-7B55-9B72-D8BD-050E7EC97848}"/>
                </a:ext>
              </a:extLst>
            </p:cNvPr>
            <p:cNvSpPr/>
            <p:nvPr/>
          </p:nvSpPr>
          <p:spPr>
            <a:xfrm>
              <a:off x="9753600" y="1630680"/>
              <a:ext cx="4343400" cy="6156960"/>
            </a:xfrm>
            <a:prstGeom prst="roundRect">
              <a:avLst>
                <a:gd name="adj" fmla="val 2105"/>
              </a:avLst>
            </a:prstGeom>
            <a:solidFill>
              <a:srgbClr val="FFF3E7"/>
            </a:solidFill>
            <a:ln w="10160">
              <a:solidFill>
                <a:srgbClr val="B57741"/>
              </a:solidFill>
              <a:prstDash val="solid"/>
            </a:ln>
          </p:spPr>
        </p:sp>
        <p:sp>
          <p:nvSpPr>
            <p:cNvPr id="80" name="Text 75">
              <a:extLst>
                <a:ext uri="{FF2B5EF4-FFF2-40B4-BE49-F238E27FC236}">
                  <a16:creationId xmlns:a16="http://schemas.microsoft.com/office/drawing/2014/main" id="{ACBAA4A1-0892-0AA4-7D9C-E4C6DF19B9B0}"/>
                </a:ext>
              </a:extLst>
            </p:cNvPr>
            <p:cNvSpPr/>
            <p:nvPr/>
          </p:nvSpPr>
          <p:spPr>
            <a:xfrm>
              <a:off x="9921240" y="1767840"/>
              <a:ext cx="4008120" cy="339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513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Risks &amp; gaps</a:t>
              </a:r>
              <a:endParaRPr lang="en-US" sz="1513" dirty="0"/>
            </a:p>
          </p:txBody>
        </p:sp>
        <p:sp>
          <p:nvSpPr>
            <p:cNvPr id="81" name="Text 76">
              <a:extLst>
                <a:ext uri="{FF2B5EF4-FFF2-40B4-BE49-F238E27FC236}">
                  <a16:creationId xmlns:a16="http://schemas.microsoft.com/office/drawing/2014/main" id="{4A2071BB-89A3-D605-67B3-4B63DF1DA5B9}"/>
                </a:ext>
              </a:extLst>
            </p:cNvPr>
            <p:cNvSpPr/>
            <p:nvPr/>
          </p:nvSpPr>
          <p:spPr>
            <a:xfrm>
              <a:off x="9921240" y="1333500"/>
              <a:ext cx="400812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 = Golden Tool</a:t>
              </a:r>
              <a:endParaRPr lang="en-US" sz="917" dirty="0"/>
            </a:p>
          </p:txBody>
        </p:sp>
        <p:sp>
          <p:nvSpPr>
            <p:cNvPr id="82" name="Text 77">
              <a:extLst>
                <a:ext uri="{FF2B5EF4-FFF2-40B4-BE49-F238E27FC236}">
                  <a16:creationId xmlns:a16="http://schemas.microsoft.com/office/drawing/2014/main" id="{8ADA4177-3C16-ACC2-AAB3-187A43774BB1}"/>
                </a:ext>
              </a:extLst>
            </p:cNvPr>
            <p:cNvSpPr/>
            <p:nvPr/>
          </p:nvSpPr>
          <p:spPr>
            <a:xfrm>
              <a:off x="9921240" y="2362200"/>
              <a:ext cx="400812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83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  Reference</a:t>
              </a:r>
              <a:endParaRPr lang="en-US" sz="1283" dirty="0"/>
            </a:p>
          </p:txBody>
        </p:sp>
        <p:sp>
          <p:nvSpPr>
            <p:cNvPr id="83" name="Text 78">
              <a:extLst>
                <a:ext uri="{FF2B5EF4-FFF2-40B4-BE49-F238E27FC236}">
                  <a16:creationId xmlns:a16="http://schemas.microsoft.com/office/drawing/2014/main" id="{46B4F0E2-5A8C-3298-5751-0323AFDEFDFD}"/>
                </a:ext>
              </a:extLst>
            </p:cNvPr>
            <p:cNvSpPr/>
            <p:nvPr/>
          </p:nvSpPr>
          <p:spPr>
            <a:xfrm>
              <a:off x="9921240" y="272796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Follows GT-S; GT-A coverage limited.</a:t>
              </a:r>
              <a:endParaRPr lang="en-US" sz="1192" dirty="0"/>
            </a:p>
          </p:txBody>
        </p:sp>
        <p:sp>
          <p:nvSpPr>
            <p:cNvPr id="84" name="Text 79">
              <a:extLst>
                <a:ext uri="{FF2B5EF4-FFF2-40B4-BE49-F238E27FC236}">
                  <a16:creationId xmlns:a16="http://schemas.microsoft.com/office/drawing/2014/main" id="{D3820B8A-8216-7DE6-C7D1-890681FD9937}"/>
                </a:ext>
              </a:extLst>
            </p:cNvPr>
            <p:cNvSpPr/>
            <p:nvPr/>
          </p:nvSpPr>
          <p:spPr>
            <a:xfrm>
              <a:off x="9921240" y="300990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GT-A has higher market share.</a:t>
              </a:r>
              <a:endParaRPr lang="en-US" sz="1192" dirty="0"/>
            </a:p>
          </p:txBody>
        </p:sp>
        <p:sp>
          <p:nvSpPr>
            <p:cNvPr id="85" name="Text 80">
              <a:extLst>
                <a:ext uri="{FF2B5EF4-FFF2-40B4-BE49-F238E27FC236}">
                  <a16:creationId xmlns:a16="http://schemas.microsoft.com/office/drawing/2014/main" id="{16CE2986-68A5-985D-20FA-C8934902CEAD}"/>
                </a:ext>
              </a:extLst>
            </p:cNvPr>
            <p:cNvSpPr/>
            <p:nvPr/>
          </p:nvSpPr>
          <p:spPr>
            <a:xfrm>
              <a:off x="9921240" y="3581400"/>
              <a:ext cx="400812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83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  Thermal analysis numerics</a:t>
              </a:r>
              <a:endParaRPr lang="en-US" sz="1283" dirty="0"/>
            </a:p>
          </p:txBody>
        </p:sp>
        <p:sp>
          <p:nvSpPr>
            <p:cNvPr id="86" name="Text 81">
              <a:extLst>
                <a:ext uri="{FF2B5EF4-FFF2-40B4-BE49-F238E27FC236}">
                  <a16:creationId xmlns:a16="http://schemas.microsoft.com/office/drawing/2014/main" id="{26F7DEFB-7178-B576-5FE1-59FA1A71F842}"/>
                </a:ext>
              </a:extLst>
            </p:cNvPr>
            <p:cNvSpPr/>
            <p:nvPr/>
          </p:nvSpPr>
          <p:spPr>
            <a:xfrm>
              <a:off x="9921240" y="394716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GT-S: FVM  /  GT-A: FEM</a:t>
              </a:r>
              <a:endParaRPr lang="en-US" sz="1192" dirty="0"/>
            </a:p>
          </p:txBody>
        </p:sp>
        <p:sp>
          <p:nvSpPr>
            <p:cNvPr id="87" name="Text 82">
              <a:extLst>
                <a:ext uri="{FF2B5EF4-FFF2-40B4-BE49-F238E27FC236}">
                  <a16:creationId xmlns:a16="http://schemas.microsoft.com/office/drawing/2014/main" id="{4DCBB097-4FA6-2455-6C1D-8DC475127895}"/>
                </a:ext>
              </a:extLst>
            </p:cNvPr>
            <p:cNvSpPr/>
            <p:nvPr/>
          </p:nvSpPr>
          <p:spPr>
            <a:xfrm>
              <a:off x="9921240" y="422910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Separate validation needed.</a:t>
              </a:r>
              <a:endParaRPr lang="en-US" sz="1192" dirty="0"/>
            </a:p>
          </p:txBody>
        </p:sp>
        <p:sp>
          <p:nvSpPr>
            <p:cNvPr id="88" name="Text 83">
              <a:extLst>
                <a:ext uri="{FF2B5EF4-FFF2-40B4-BE49-F238E27FC236}">
                  <a16:creationId xmlns:a16="http://schemas.microsoft.com/office/drawing/2014/main" id="{1F075EA7-6813-90A1-1044-1C0228DC9428}"/>
                </a:ext>
              </a:extLst>
            </p:cNvPr>
            <p:cNvSpPr/>
            <p:nvPr/>
          </p:nvSpPr>
          <p:spPr>
            <a:xfrm>
              <a:off x="9921240" y="4800600"/>
              <a:ext cx="400812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83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  User adoption</a:t>
              </a:r>
              <a:endParaRPr lang="en-US" sz="1283" dirty="0"/>
            </a:p>
          </p:txBody>
        </p:sp>
        <p:sp>
          <p:nvSpPr>
            <p:cNvPr id="89" name="Text 84">
              <a:extLst>
                <a:ext uri="{FF2B5EF4-FFF2-40B4-BE49-F238E27FC236}">
                  <a16:creationId xmlns:a16="http://schemas.microsoft.com/office/drawing/2014/main" id="{9C02251D-C15D-7342-F51D-22099525F80A}"/>
                </a:ext>
              </a:extLst>
            </p:cNvPr>
            <p:cNvSpPr/>
            <p:nvPr/>
          </p:nvSpPr>
          <p:spPr>
            <a:xfrm>
              <a:off x="9921240" y="516636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GT-S / GT-A input styles</a:t>
              </a:r>
              <a:endParaRPr lang="en-US" sz="1192" dirty="0"/>
            </a:p>
          </p:txBody>
        </p:sp>
        <p:sp>
          <p:nvSpPr>
            <p:cNvPr id="90" name="Text 85">
              <a:extLst>
                <a:ext uri="{FF2B5EF4-FFF2-40B4-BE49-F238E27FC236}">
                  <a16:creationId xmlns:a16="http://schemas.microsoft.com/office/drawing/2014/main" id="{D8833A70-B06F-6E21-4026-09F6D036C258}"/>
                </a:ext>
              </a:extLst>
            </p:cNvPr>
            <p:cNvSpPr/>
            <p:nvPr/>
          </p:nvSpPr>
          <p:spPr>
            <a:xfrm>
              <a:off x="9921240" y="544830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Learning &amp; migration barriers.</a:t>
              </a:r>
              <a:endParaRPr lang="en-US" sz="1192" dirty="0"/>
            </a:p>
          </p:txBody>
        </p:sp>
        <p:sp>
          <p:nvSpPr>
            <p:cNvPr id="91" name="Text 86">
              <a:extLst>
                <a:ext uri="{FF2B5EF4-FFF2-40B4-BE49-F238E27FC236}">
                  <a16:creationId xmlns:a16="http://schemas.microsoft.com/office/drawing/2014/main" id="{06A0DF36-1092-97D1-6B12-9217DE7013A0}"/>
                </a:ext>
              </a:extLst>
            </p:cNvPr>
            <p:cNvSpPr/>
            <p:nvPr/>
          </p:nvSpPr>
          <p:spPr>
            <a:xfrm>
              <a:off x="9921240" y="6019800"/>
              <a:ext cx="4008120" cy="2880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83" b="1" dirty="0">
                  <a:solidFill>
                    <a:srgbClr val="94581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  Pre/post-processing</a:t>
              </a:r>
              <a:endParaRPr lang="en-US" sz="1283" dirty="0"/>
            </a:p>
          </p:txBody>
        </p:sp>
        <p:sp>
          <p:nvSpPr>
            <p:cNvPr id="92" name="Text 87">
              <a:extLst>
                <a:ext uri="{FF2B5EF4-FFF2-40B4-BE49-F238E27FC236}">
                  <a16:creationId xmlns:a16="http://schemas.microsoft.com/office/drawing/2014/main" id="{37D68171-A20B-50E9-5B62-9A7FD84B392D}"/>
                </a:ext>
              </a:extLst>
            </p:cNvPr>
            <p:cNvSpPr/>
            <p:nvPr/>
          </p:nvSpPr>
          <p:spPr>
            <a:xfrm>
              <a:off x="9921240" y="638556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Only</a:t>
              </a:r>
              <a:r>
                <a:rPr lang="zh-CN" alt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zh-CN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</a:t>
              </a: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olver core available;</a:t>
              </a:r>
              <a:endParaRPr lang="en-US" sz="1192" dirty="0"/>
            </a:p>
          </p:txBody>
        </p:sp>
        <p:sp>
          <p:nvSpPr>
            <p:cNvPr id="93" name="Text 88">
              <a:extLst>
                <a:ext uri="{FF2B5EF4-FFF2-40B4-BE49-F238E27FC236}">
                  <a16:creationId xmlns:a16="http://schemas.microsoft.com/office/drawing/2014/main" id="{E6ACA6BA-D51B-C52D-5D58-0B516247B5FF}"/>
                </a:ext>
              </a:extLst>
            </p:cNvPr>
            <p:cNvSpPr/>
            <p:nvPr/>
          </p:nvSpPr>
          <p:spPr>
            <a:xfrm>
              <a:off x="9921240" y="6667500"/>
              <a:ext cx="400812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pre/post-processing needed.</a:t>
              </a:r>
              <a:endParaRPr lang="en-US" sz="1192" dirty="0"/>
            </a:p>
          </p:txBody>
        </p:sp>
      </p:grpSp>
    </p:spTree>
    <p:extLst>
      <p:ext uri="{BB962C8B-B14F-4D97-AF65-F5344CB8AC3E}">
        <p14:creationId xmlns:p14="http://schemas.microsoft.com/office/powerpoint/2010/main" val="178011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C93311D4-B6FD-EACE-DD5B-54D17F1A0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Mechanics &amp; Thermal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280AFC3-06B7-BE93-C283-6D1656D07C28}"/>
              </a:ext>
            </a:extLst>
          </p:cNvPr>
          <p:cNvGrpSpPr>
            <a:grpSpLocks noChangeAspect="1"/>
          </p:cNvGrpSpPr>
          <p:nvPr/>
        </p:nvGrpSpPr>
        <p:grpSpPr>
          <a:xfrm>
            <a:off x="827653" y="787400"/>
            <a:ext cx="10478479" cy="5408059"/>
            <a:chOff x="457200" y="678180"/>
            <a:chExt cx="13716000" cy="7078980"/>
          </a:xfrm>
        </p:grpSpPr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8BA5D99D-41A5-CE29-2A47-CA941E850DE2}"/>
                </a:ext>
              </a:extLst>
            </p:cNvPr>
            <p:cNvSpPr/>
            <p:nvPr/>
          </p:nvSpPr>
          <p:spPr>
            <a:xfrm>
              <a:off x="4953000" y="678180"/>
              <a:ext cx="9144000" cy="3810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67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Shared capabilities · Backup</a:t>
              </a:r>
              <a:endParaRPr lang="en-US" sz="1467" dirty="0"/>
            </a:p>
          </p:txBody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F295406B-C375-3C44-BE7B-541F9AB6A5D0}"/>
                </a:ext>
              </a:extLst>
            </p:cNvPr>
            <p:cNvSpPr/>
            <p:nvPr/>
          </p:nvSpPr>
          <p:spPr>
            <a:xfrm>
              <a:off x="457200" y="1478280"/>
              <a:ext cx="6705600" cy="6278880"/>
            </a:xfrm>
            <a:prstGeom prst="roundRect">
              <a:avLst>
                <a:gd name="adj" fmla="val 1456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A1F71327-3FC3-A058-7ED7-BBF0608819F4}"/>
                </a:ext>
              </a:extLst>
            </p:cNvPr>
            <p:cNvSpPr/>
            <p:nvPr/>
          </p:nvSpPr>
          <p:spPr>
            <a:xfrm>
              <a:off x="7315200" y="1478280"/>
              <a:ext cx="6858000" cy="6278880"/>
            </a:xfrm>
            <a:prstGeom prst="roundRect">
              <a:avLst>
                <a:gd name="adj" fmla="val 1456"/>
              </a:avLst>
            </a:prstGeom>
            <a:solidFill>
              <a:srgbClr val="DCE9F5"/>
            </a:solidFill>
            <a:ln w="10160">
              <a:solidFill>
                <a:srgbClr val="668AAA"/>
              </a:solidFill>
              <a:prstDash val="solid"/>
            </a:ln>
          </p:spPr>
        </p:sp>
        <p:sp>
          <p:nvSpPr>
            <p:cNvPr id="7" name="Text 4">
              <a:extLst>
                <a:ext uri="{FF2B5EF4-FFF2-40B4-BE49-F238E27FC236}">
                  <a16:creationId xmlns:a16="http://schemas.microsoft.com/office/drawing/2014/main" id="{49D3237C-6F3B-89F0-7F4B-3413FFCC9292}"/>
                </a:ext>
              </a:extLst>
            </p:cNvPr>
            <p:cNvSpPr/>
            <p:nvPr/>
          </p:nvSpPr>
          <p:spPr>
            <a:xfrm>
              <a:off x="655320" y="1645920"/>
              <a:ext cx="611124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6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interfaces</a:t>
              </a:r>
              <a:endParaRPr lang="en-US" sz="1467" dirty="0"/>
            </a:p>
          </p:txBody>
        </p:sp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95A53EA0-FF3A-79B6-BDB7-28A836E66E1C}"/>
                </a:ext>
              </a:extLst>
            </p:cNvPr>
            <p:cNvSpPr/>
            <p:nvPr/>
          </p:nvSpPr>
          <p:spPr>
            <a:xfrm>
              <a:off x="7513320" y="1645920"/>
              <a:ext cx="6111240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467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Multiscale modeling · Submodeling</a:t>
              </a:r>
              <a:endParaRPr lang="en-US" sz="1467" dirty="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F7BCA2B6-1AB0-D3E1-BD44-4B9E4EBFFE77}"/>
                </a:ext>
              </a:extLst>
            </p:cNvPr>
            <p:cNvSpPr/>
            <p:nvPr/>
          </p:nvSpPr>
          <p:spPr>
            <a:xfrm>
              <a:off x="655320" y="208788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Data import</a:t>
              </a:r>
              <a:endParaRPr lang="en-US" sz="1238" dirty="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D6C07797-16B1-5091-D482-A01C858BB44C}"/>
                </a:ext>
              </a:extLst>
            </p:cNvPr>
            <p:cNvSpPr/>
            <p:nvPr/>
          </p:nvSpPr>
          <p:spPr>
            <a:xfrm>
              <a:off x="655320" y="237744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External mesh import (supports GFR and DF-ISE)</a:t>
              </a:r>
              <a:endParaRPr lang="en-US" sz="1238" dirty="0"/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A05F42C1-107C-9662-8980-41A2BEDBF593}"/>
                </a:ext>
              </a:extLst>
            </p:cNvPr>
            <p:cNvSpPr/>
            <p:nvPr/>
          </p:nvSpPr>
          <p:spPr>
            <a:xfrm>
              <a:off x="655320" y="266700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Field import to resume simulations (GFR)</a:t>
              </a:r>
              <a:endParaRPr lang="en-US" sz="1238" dirty="0"/>
            </a:p>
          </p:txBody>
        </p:sp>
        <p:sp>
          <p:nvSpPr>
            <p:cNvPr id="12" name="Text 9">
              <a:extLst>
                <a:ext uri="{FF2B5EF4-FFF2-40B4-BE49-F238E27FC236}">
                  <a16:creationId xmlns:a16="http://schemas.microsoft.com/office/drawing/2014/main" id="{A1F8155E-336D-F485-A8F1-BF5222CEB251}"/>
                </a:ext>
              </a:extLst>
            </p:cNvPr>
            <p:cNvSpPr/>
            <p:nvPr/>
          </p:nvSpPr>
          <p:spPr>
            <a:xfrm>
              <a:off x="655320" y="294132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Results output</a:t>
              </a:r>
              <a:endParaRPr lang="en-US" sz="1238" dirty="0"/>
            </a:p>
          </p:txBody>
        </p:sp>
        <p:sp>
          <p:nvSpPr>
            <p:cNvPr id="13" name="Text 10">
              <a:extLst>
                <a:ext uri="{FF2B5EF4-FFF2-40B4-BE49-F238E27FC236}">
                  <a16:creationId xmlns:a16="http://schemas.microsoft.com/office/drawing/2014/main" id="{54572EAC-87F9-42FA-9B1E-809343FD91CF}"/>
                </a:ext>
              </a:extLst>
            </p:cNvPr>
            <p:cNvSpPr/>
            <p:nvPr/>
          </p:nvSpPr>
          <p:spPr>
            <a:xfrm>
              <a:off x="655320" y="321564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Field results (GFR)</a:t>
              </a:r>
              <a:endParaRPr lang="en-US" sz="1238" dirty="0"/>
            </a:p>
          </p:txBody>
        </p:sp>
        <p:sp>
          <p:nvSpPr>
            <p:cNvPr id="14" name="Text 11">
              <a:extLst>
                <a:ext uri="{FF2B5EF4-FFF2-40B4-BE49-F238E27FC236}">
                  <a16:creationId xmlns:a16="http://schemas.microsoft.com/office/drawing/2014/main" id="{F7C0AC87-7C1A-34D7-A686-89020E2E39F9}"/>
                </a:ext>
              </a:extLst>
            </p:cNvPr>
            <p:cNvSpPr/>
            <p:nvPr/>
          </p:nvSpPr>
          <p:spPr>
            <a:xfrm>
              <a:off x="655320" y="347472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Probe / profile results (X–Y tables)</a:t>
              </a:r>
              <a:endParaRPr lang="en-US" sz="1238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4EE956A7-7870-3737-925C-4BECFE6ECBC1}"/>
                </a:ext>
              </a:extLst>
            </p:cNvPr>
            <p:cNvSpPr/>
            <p:nvPr/>
          </p:nvSpPr>
          <p:spPr>
            <a:xfrm>
              <a:off x="655320" y="3863340"/>
              <a:ext cx="611124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75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Supported output fields</a:t>
              </a:r>
              <a:endParaRPr lang="en-US" sz="1375" dirty="0"/>
            </a:p>
          </p:txBody>
        </p:sp>
        <p:sp>
          <p:nvSpPr>
            <p:cNvPr id="16" name="Text 13">
              <a:extLst>
                <a:ext uri="{FF2B5EF4-FFF2-40B4-BE49-F238E27FC236}">
                  <a16:creationId xmlns:a16="http://schemas.microsoft.com/office/drawing/2014/main" id="{DA9A4197-DA2F-9DB7-8024-8FA9D9B202CA}"/>
                </a:ext>
              </a:extLst>
            </p:cNvPr>
            <p:cNvSpPr/>
            <p:nvPr/>
          </p:nvSpPr>
          <p:spPr>
            <a:xfrm>
              <a:off x="655320" y="419862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</a:t>
              </a:r>
              <a:endParaRPr lang="en-US" sz="1238" dirty="0"/>
            </a:p>
          </p:txBody>
        </p:sp>
        <p:sp>
          <p:nvSpPr>
            <p:cNvPr id="17" name="Text 14">
              <a:extLst>
                <a:ext uri="{FF2B5EF4-FFF2-40B4-BE49-F238E27FC236}">
                  <a16:creationId xmlns:a16="http://schemas.microsoft.com/office/drawing/2014/main" id="{C986D11E-D7DD-73CD-EE45-F88D5DD77161}"/>
                </a:ext>
              </a:extLst>
            </p:cNvPr>
            <p:cNvSpPr/>
            <p:nvPr/>
          </p:nvSpPr>
          <p:spPr>
            <a:xfrm>
              <a:off x="655320" y="448818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Displacement · displacement increments · pseudo displacement</a:t>
              </a:r>
              <a:endParaRPr lang="en-US" sz="1238" dirty="0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F1D10EB5-220B-A11A-5771-26DCD20145E2}"/>
                </a:ext>
              </a:extLst>
            </p:cNvPr>
            <p:cNvSpPr/>
            <p:nvPr/>
          </p:nvSpPr>
          <p:spPr>
            <a:xfrm>
              <a:off x="655320" y="473964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 components · von Mises stress · pressure</a:t>
              </a:r>
              <a:endParaRPr lang="en-US" sz="1238" dirty="0"/>
            </a:p>
          </p:txBody>
        </p:sp>
        <p:sp>
          <p:nvSpPr>
            <p:cNvPr id="19" name="Text 16">
              <a:extLst>
                <a:ext uri="{FF2B5EF4-FFF2-40B4-BE49-F238E27FC236}">
                  <a16:creationId xmlns:a16="http://schemas.microsoft.com/office/drawing/2014/main" id="{ED9967C9-D920-D8C1-5722-7FEF873AAF3E}"/>
                </a:ext>
              </a:extLst>
            </p:cNvPr>
            <p:cNvSpPr/>
            <p:nvPr/>
          </p:nvSpPr>
          <p:spPr>
            <a:xfrm>
              <a:off x="655320" y="499110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Principal stresses / strains · principal directions</a:t>
              </a:r>
              <a:endParaRPr lang="en-US" sz="1238" dirty="0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ECDC14E0-9786-C5D5-7421-A73B39A9F3D1}"/>
                </a:ext>
              </a:extLst>
            </p:cNvPr>
            <p:cNvSpPr/>
            <p:nvPr/>
          </p:nvSpPr>
          <p:spPr>
            <a:xfrm>
              <a:off x="655320" y="524256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Elastic / plastic / viscoplastic / creep / swelling strain</a:t>
              </a:r>
              <a:endParaRPr lang="en-US" sz="1238" dirty="0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778D810D-6864-BBC1-4C09-50E48A4499F9}"/>
                </a:ext>
              </a:extLst>
            </p:cNvPr>
            <p:cNvSpPr/>
            <p:nvPr/>
          </p:nvSpPr>
          <p:spPr>
            <a:xfrm>
              <a:off x="655320" y="549402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Equivalent plastic / viscoplastic / creep strain</a:t>
              </a:r>
              <a:endParaRPr lang="en-US" sz="1238" dirty="0"/>
            </a:p>
          </p:txBody>
        </p:sp>
        <p:sp>
          <p:nvSpPr>
            <p:cNvPr id="22" name="Text 19">
              <a:extLst>
                <a:ext uri="{FF2B5EF4-FFF2-40B4-BE49-F238E27FC236}">
                  <a16:creationId xmlns:a16="http://schemas.microsoft.com/office/drawing/2014/main" id="{30497C80-4383-37B3-BF6E-445A53E57D26}"/>
                </a:ext>
              </a:extLst>
            </p:cNvPr>
            <p:cNvSpPr/>
            <p:nvPr/>
          </p:nvSpPr>
          <p:spPr>
            <a:xfrm>
              <a:off x="655320" y="574548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Strain energy densities · energy-rate densities</a:t>
              </a:r>
              <a:endParaRPr lang="en-US" sz="1238" dirty="0"/>
            </a:p>
          </p:txBody>
        </p:sp>
        <p:sp>
          <p:nvSpPr>
            <p:cNvPr id="23" name="Text 20">
              <a:extLst>
                <a:ext uri="{FF2B5EF4-FFF2-40B4-BE49-F238E27FC236}">
                  <a16:creationId xmlns:a16="http://schemas.microsoft.com/office/drawing/2014/main" id="{E1AF16FD-3B5F-C8DC-FCD5-DCEB968265CE}"/>
                </a:ext>
              </a:extLst>
            </p:cNvPr>
            <p:cNvSpPr/>
            <p:nvPr/>
          </p:nvSpPr>
          <p:spPr>
            <a:xfrm>
              <a:off x="655320" y="599694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Nodal forces · reaction forces</a:t>
              </a:r>
              <a:endParaRPr lang="en-US" sz="1238" dirty="0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7B8B7A26-7234-EC7B-7CAE-CFF36EF0845F}"/>
                </a:ext>
              </a:extLst>
            </p:cNvPr>
            <p:cNvSpPr/>
            <p:nvPr/>
          </p:nvSpPr>
          <p:spPr>
            <a:xfrm>
              <a:off x="655320" y="624840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Stress / strain maxima · etc.</a:t>
              </a:r>
              <a:endParaRPr lang="en-US" sz="1238" dirty="0"/>
            </a:p>
          </p:txBody>
        </p:sp>
        <p:sp>
          <p:nvSpPr>
            <p:cNvPr id="25" name="Text 22">
              <a:extLst>
                <a:ext uri="{FF2B5EF4-FFF2-40B4-BE49-F238E27FC236}">
                  <a16:creationId xmlns:a16="http://schemas.microsoft.com/office/drawing/2014/main" id="{674D9D5B-2E31-D345-AF61-5E919D6943DE}"/>
                </a:ext>
              </a:extLst>
            </p:cNvPr>
            <p:cNvSpPr/>
            <p:nvPr/>
          </p:nvSpPr>
          <p:spPr>
            <a:xfrm>
              <a:off x="655320" y="656844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b="1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</a:t>
              </a:r>
              <a:endParaRPr lang="en-US" sz="1238" dirty="0"/>
            </a:p>
          </p:txBody>
        </p:sp>
        <p:sp>
          <p:nvSpPr>
            <p:cNvPr id="27" name="Text 23">
              <a:extLst>
                <a:ext uri="{FF2B5EF4-FFF2-40B4-BE49-F238E27FC236}">
                  <a16:creationId xmlns:a16="http://schemas.microsoft.com/office/drawing/2014/main" id="{5965B366-A2B8-3B96-E88E-BD20DAFD40D4}"/>
                </a:ext>
              </a:extLst>
            </p:cNvPr>
            <p:cNvSpPr/>
            <p:nvPr/>
          </p:nvSpPr>
          <p:spPr>
            <a:xfrm>
              <a:off x="655320" y="685800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Temperature · previous temperature · temperature gradient</a:t>
              </a:r>
              <a:endParaRPr lang="en-US" sz="1238" dirty="0"/>
            </a:p>
          </p:txBody>
        </p:sp>
        <p:sp>
          <p:nvSpPr>
            <p:cNvPr id="28" name="Text 24">
              <a:extLst>
                <a:ext uri="{FF2B5EF4-FFF2-40B4-BE49-F238E27FC236}">
                  <a16:creationId xmlns:a16="http://schemas.microsoft.com/office/drawing/2014/main" id="{99A6A65D-8323-3B4B-B3E1-CA5A177F1D08}"/>
                </a:ext>
              </a:extLst>
            </p:cNvPr>
            <p:cNvSpPr/>
            <p:nvPr/>
          </p:nvSpPr>
          <p:spPr>
            <a:xfrm>
              <a:off x="655320" y="711708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Heat flux · total heat-source density · Joule heating</a:t>
              </a:r>
              <a:endParaRPr lang="en-US" sz="1238" dirty="0"/>
            </a:p>
          </p:txBody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BA1DD8B8-BFAD-329F-96D3-4A0BE3FC3B16}"/>
                </a:ext>
              </a:extLst>
            </p:cNvPr>
            <p:cNvSpPr/>
            <p:nvPr/>
          </p:nvSpPr>
          <p:spPr>
            <a:xfrm>
              <a:off x="655320" y="737616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Derived hotspot maps · etc.</a:t>
              </a:r>
              <a:endParaRPr lang="en-US" sz="1238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432F125B-597C-6722-0497-40036630EF5E}"/>
                </a:ext>
              </a:extLst>
            </p:cNvPr>
            <p:cNvSpPr/>
            <p:nvPr/>
          </p:nvSpPr>
          <p:spPr>
            <a:xfrm>
              <a:off x="7513320" y="2072640"/>
              <a:ext cx="6111240" cy="2777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238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Coarse global response → refined local detail</a:t>
              </a:r>
              <a:endParaRPr lang="en-US" sz="1238" dirty="0"/>
            </a:p>
          </p:txBody>
        </p:sp>
        <p:sp>
          <p:nvSpPr>
            <p:cNvPr id="31" name="Shape 27">
              <a:extLst>
                <a:ext uri="{FF2B5EF4-FFF2-40B4-BE49-F238E27FC236}">
                  <a16:creationId xmlns:a16="http://schemas.microsoft.com/office/drawing/2014/main" id="{F6423566-46C1-13AD-04A4-1B4FAC150761}"/>
                </a:ext>
              </a:extLst>
            </p:cNvPr>
            <p:cNvSpPr/>
            <p:nvPr/>
          </p:nvSpPr>
          <p:spPr>
            <a:xfrm>
              <a:off x="7513320" y="2415540"/>
              <a:ext cx="6461760" cy="2788920"/>
            </a:xfrm>
            <a:prstGeom prst="roundRect">
              <a:avLst>
                <a:gd name="adj" fmla="val 3279"/>
              </a:avLst>
            </a:prstGeom>
            <a:solidFill>
              <a:srgbClr val="FFFFFF"/>
            </a:solidFill>
            <a:ln w="10160">
              <a:solidFill>
                <a:srgbClr val="FFFFFF"/>
              </a:solidFill>
              <a:prstDash val="solid"/>
            </a:ln>
          </p:spPr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646693D7-DDC0-A791-6BA1-242EC68AB270}"/>
                </a:ext>
              </a:extLst>
            </p:cNvPr>
            <p:cNvSpPr/>
            <p:nvPr/>
          </p:nvSpPr>
          <p:spPr>
            <a:xfrm>
              <a:off x="7680960" y="2545080"/>
              <a:ext cx="297180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 × 3 copper-pillar array</a:t>
              </a:r>
              <a:endParaRPr lang="en-US" sz="1192" dirty="0"/>
            </a:p>
          </p:txBody>
        </p:sp>
        <p:sp>
          <p:nvSpPr>
            <p:cNvPr id="33" name="Text 29">
              <a:extLst>
                <a:ext uri="{FF2B5EF4-FFF2-40B4-BE49-F238E27FC236}">
                  <a16:creationId xmlns:a16="http://schemas.microsoft.com/office/drawing/2014/main" id="{576C813A-11A3-8860-6FE5-26CFE1027DD9}"/>
                </a:ext>
              </a:extLst>
            </p:cNvPr>
            <p:cNvSpPr/>
            <p:nvPr/>
          </p:nvSpPr>
          <p:spPr>
            <a:xfrm>
              <a:off x="10789920" y="2545080"/>
              <a:ext cx="310896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Single-pillar submodel</a:t>
              </a:r>
              <a:endParaRPr lang="en-US" sz="1192" dirty="0"/>
            </a:p>
          </p:txBody>
        </p:sp>
        <p:pic>
          <p:nvPicPr>
            <p:cNvPr id="34" name="Image 0" descr="preencoded.png">
              <a:extLst>
                <a:ext uri="{FF2B5EF4-FFF2-40B4-BE49-F238E27FC236}">
                  <a16:creationId xmlns:a16="http://schemas.microsoft.com/office/drawing/2014/main" id="{FABFE026-B7D9-3ACA-4793-0E015D73C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4280" y="2933700"/>
              <a:ext cx="3124200" cy="1874520"/>
            </a:xfrm>
            <a:prstGeom prst="rect">
              <a:avLst/>
            </a:prstGeom>
          </p:spPr>
        </p:pic>
        <p:sp>
          <p:nvSpPr>
            <p:cNvPr id="35" name="Text 30">
              <a:extLst>
                <a:ext uri="{FF2B5EF4-FFF2-40B4-BE49-F238E27FC236}">
                  <a16:creationId xmlns:a16="http://schemas.microsoft.com/office/drawing/2014/main" id="{B5F22884-858A-1732-3296-ECECAC8C7398}"/>
                </a:ext>
              </a:extLst>
            </p:cNvPr>
            <p:cNvSpPr/>
            <p:nvPr/>
          </p:nvSpPr>
          <p:spPr>
            <a:xfrm>
              <a:off x="10622280" y="3383280"/>
              <a:ext cx="335280" cy="3086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75" b="1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→</a:t>
              </a:r>
              <a:endParaRPr lang="en-US" sz="1375" dirty="0"/>
            </a:p>
          </p:txBody>
        </p:sp>
        <p:pic>
          <p:nvPicPr>
            <p:cNvPr id="36" name="Image 1" descr="preencoded.png">
              <a:extLst>
                <a:ext uri="{FF2B5EF4-FFF2-40B4-BE49-F238E27FC236}">
                  <a16:creationId xmlns:a16="http://schemas.microsoft.com/office/drawing/2014/main" id="{4FE42BF4-9411-1BEB-8CC4-A1BDE8C9B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20400" y="2933700"/>
              <a:ext cx="3124200" cy="1874520"/>
            </a:xfrm>
            <a:prstGeom prst="rect">
              <a:avLst/>
            </a:prstGeom>
          </p:spPr>
        </p:pic>
        <p:sp>
          <p:nvSpPr>
            <p:cNvPr id="37" name="Text 31">
              <a:extLst>
                <a:ext uri="{FF2B5EF4-FFF2-40B4-BE49-F238E27FC236}">
                  <a16:creationId xmlns:a16="http://schemas.microsoft.com/office/drawing/2014/main" id="{9531B220-7A99-E139-793B-829723052A2C}"/>
                </a:ext>
              </a:extLst>
            </p:cNvPr>
            <p:cNvSpPr/>
            <p:nvPr/>
          </p:nvSpPr>
          <p:spPr>
            <a:xfrm>
              <a:off x="7680960" y="4899660"/>
              <a:ext cx="6096000" cy="2366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4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180 → 25 °C · Equivalent stress · 0–600 MPa</a:t>
              </a:r>
              <a:endParaRPr lang="en-US" sz="1054" dirty="0"/>
            </a:p>
          </p:txBody>
        </p:sp>
        <p:sp>
          <p:nvSpPr>
            <p:cNvPr id="38" name="Text 32">
              <a:extLst>
                <a:ext uri="{FF2B5EF4-FFF2-40B4-BE49-F238E27FC236}">
                  <a16:creationId xmlns:a16="http://schemas.microsoft.com/office/drawing/2014/main" id="{82DA85A1-7519-23AC-B89C-C6BDCA64B944}"/>
                </a:ext>
              </a:extLst>
            </p:cNvPr>
            <p:cNvSpPr/>
            <p:nvPr/>
          </p:nvSpPr>
          <p:spPr>
            <a:xfrm>
              <a:off x="7513320" y="5311140"/>
              <a:ext cx="6111240" cy="2057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17" dirty="0">
                  <a:solidFill>
                    <a:srgbClr val="52677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Source: CopperPillar_FlipChip_Crack · vendor-run submodel adaptation</a:t>
              </a:r>
              <a:endParaRPr lang="en-US" sz="917" dirty="0"/>
            </a:p>
          </p:txBody>
        </p:sp>
        <p:sp>
          <p:nvSpPr>
            <p:cNvPr id="39" name="Text 33">
              <a:extLst>
                <a:ext uri="{FF2B5EF4-FFF2-40B4-BE49-F238E27FC236}">
                  <a16:creationId xmlns:a16="http://schemas.microsoft.com/office/drawing/2014/main" id="{9EE3199D-1A7A-8F81-E403-151BAA347C11}"/>
                </a:ext>
              </a:extLst>
            </p:cNvPr>
            <p:cNvSpPr/>
            <p:nvPr/>
          </p:nvSpPr>
          <p:spPr>
            <a:xfrm>
              <a:off x="7513320" y="5829300"/>
              <a:ext cx="611124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b="1" dirty="0">
                  <a:solidFill>
                    <a:srgbClr val="172D4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Interpolate global fields onto local outer boundaries</a:t>
              </a:r>
              <a:endParaRPr lang="en-US" sz="1192" dirty="0"/>
            </a:p>
          </p:txBody>
        </p:sp>
        <p:sp>
          <p:nvSpPr>
            <p:cNvPr id="40" name="Text 34">
              <a:extLst>
                <a:ext uri="{FF2B5EF4-FFF2-40B4-BE49-F238E27FC236}">
                  <a16:creationId xmlns:a16="http://schemas.microsoft.com/office/drawing/2014/main" id="{61820C0E-3936-4679-8F2E-7B93B2C69789}"/>
                </a:ext>
              </a:extLst>
            </p:cNvPr>
            <p:cNvSpPr/>
            <p:nvPr/>
          </p:nvSpPr>
          <p:spPr>
            <a:xfrm>
              <a:off x="7513320" y="6149340"/>
              <a:ext cx="611124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206D65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Mechanics: displacement increments → local stress</a:t>
              </a:r>
              <a:endParaRPr lang="en-US" sz="1192" dirty="0"/>
            </a:p>
          </p:txBody>
        </p:sp>
        <p:sp>
          <p:nvSpPr>
            <p:cNvPr id="41" name="Text 35">
              <a:extLst>
                <a:ext uri="{FF2B5EF4-FFF2-40B4-BE49-F238E27FC236}">
                  <a16:creationId xmlns:a16="http://schemas.microsoft.com/office/drawing/2014/main" id="{A173E725-5E2E-B667-3256-B80CC55D28F7}"/>
                </a:ext>
              </a:extLst>
            </p:cNvPr>
            <p:cNvSpPr/>
            <p:nvPr/>
          </p:nvSpPr>
          <p:spPr>
            <a:xfrm>
              <a:off x="7513320" y="6454140"/>
              <a:ext cx="6111240" cy="267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92" dirty="0">
                  <a:solidFill>
                    <a:srgbClr val="A45B1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Thermal: temperature → local temperature / heat flow</a:t>
              </a:r>
              <a:endParaRPr lang="en-US" sz="1192" dirty="0"/>
            </a:p>
          </p:txBody>
        </p:sp>
      </p:grpSp>
    </p:spTree>
    <p:extLst>
      <p:ext uri="{BB962C8B-B14F-4D97-AF65-F5344CB8AC3E}">
        <p14:creationId xmlns:p14="http://schemas.microsoft.com/office/powerpoint/2010/main" val="3780965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88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2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主题​​">
  <a:themeElements>
    <a:clrScheme name="全芯智造配色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F98200"/>
      </a:accent1>
      <a:accent2>
        <a:srgbClr val="0059AA"/>
      </a:accent2>
      <a:accent3>
        <a:srgbClr val="104BA9"/>
      </a:accent3>
      <a:accent4>
        <a:srgbClr val="284A7E"/>
      </a:accent4>
      <a:accent5>
        <a:srgbClr val="447BD4"/>
      </a:accent5>
      <a:accent6>
        <a:srgbClr val="4867D6"/>
      </a:accent6>
      <a:hlink>
        <a:srgbClr val="052D6E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esentation">
  <a:themeElements>
    <a:clrScheme name="Blue and Point">
      <a:dk1>
        <a:srgbClr val="656D78"/>
      </a:dk1>
      <a:lt1>
        <a:srgbClr val="FFFFFF"/>
      </a:lt1>
      <a:dk2>
        <a:srgbClr val="44546A"/>
      </a:dk2>
      <a:lt2>
        <a:srgbClr val="E7E6E6"/>
      </a:lt2>
      <a:accent1>
        <a:srgbClr val="FF8C00"/>
      </a:accent1>
      <a:accent2>
        <a:srgbClr val="2196F3"/>
      </a:accent2>
      <a:accent3>
        <a:srgbClr val="1E88E5"/>
      </a:accent3>
      <a:accent4>
        <a:srgbClr val="1976D2"/>
      </a:accent4>
      <a:accent5>
        <a:srgbClr val="1565C0"/>
      </a:accent5>
      <a:accent6>
        <a:srgbClr val="0D47A1"/>
      </a:accent6>
      <a:hlink>
        <a:srgbClr val="0563C1"/>
      </a:hlink>
      <a:folHlink>
        <a:srgbClr val="954F72"/>
      </a:folHlink>
    </a:clrScheme>
    <a:fontScheme name="Tahom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chemeClr val="tx1">
                <a:lumMod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Office 主题​​">
  <a:themeElements>
    <a:clrScheme name="全芯智造配色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F98200"/>
      </a:accent1>
      <a:accent2>
        <a:srgbClr val="0059AA"/>
      </a:accent2>
      <a:accent3>
        <a:srgbClr val="104BA9"/>
      </a:accent3>
      <a:accent4>
        <a:srgbClr val="284A7E"/>
      </a:accent4>
      <a:accent5>
        <a:srgbClr val="447BD4"/>
      </a:accent5>
      <a:accent6>
        <a:srgbClr val="4867D6"/>
      </a:accent6>
      <a:hlink>
        <a:srgbClr val="052D6E"/>
      </a:hlink>
      <a:folHlink>
        <a:srgbClr val="954F72"/>
      </a:folHlink>
    </a:clrScheme>
    <a:fontScheme name="pqjqmvjq">
      <a:majorFont>
        <a:latin typeface="Calibri" panose="020F0302020204030204"/>
        <a:ea typeface="微软雅黑"/>
        <a:cs typeface=""/>
      </a:majorFont>
      <a:minorFont>
        <a:latin typeface="Calibri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512</TotalTime>
  <Words>1658</Words>
  <Application>Microsoft Office PowerPoint</Application>
  <PresentationFormat>宽屏</PresentationFormat>
  <Paragraphs>460</Paragraphs>
  <Slides>7</Slides>
  <Notes>7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等线</vt:lpstr>
      <vt:lpstr>等线 Light</vt:lpstr>
      <vt:lpstr>思源黑体 CN Heavy</vt:lpstr>
      <vt:lpstr>微软雅黑</vt:lpstr>
      <vt:lpstr>Arial</vt:lpstr>
      <vt:lpstr>Calibri</vt:lpstr>
      <vt:lpstr>Tahoma</vt:lpstr>
      <vt:lpstr>Office 主题​​</vt:lpstr>
      <vt:lpstr>Presentation</vt:lpstr>
      <vt:lpstr>3_Office 主题​​</vt:lpstr>
      <vt:lpstr>1_Office 主题​​</vt:lpstr>
      <vt:lpstr>6_Office 主题​​</vt:lpstr>
      <vt:lpstr>think-cell 幻灯片</vt:lpstr>
      <vt:lpstr>StressThermal</vt:lpstr>
      <vt:lpstr>Mechanics</vt:lpstr>
      <vt:lpstr>Thermal</vt:lpstr>
      <vt:lpstr>Case 1 — Package thermomechanical reliability</vt:lpstr>
      <vt:lpstr>Case 2 — Submodelling</vt:lpstr>
      <vt:lpstr>Future plans</vt:lpstr>
      <vt:lpstr>Mechanics &amp; Thermal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Aizhong Wei(卫爱忠)</dc:creator>
  <cp:lastModifiedBy>Yuanyuan Kong</cp:lastModifiedBy>
  <cp:revision>132</cp:revision>
  <dcterms:created xsi:type="dcterms:W3CDTF">2024-08-29T02:17:50Z</dcterms:created>
  <dcterms:modified xsi:type="dcterms:W3CDTF">2026-10-13T03:16:09Z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kyGuardCustomerLabelHistory">
    <vt:lpwstr>a7da6945-f3a6-4e4e-9f9f-dca6c75b804a add 2 {'SkyGuardDLPLabelUUID': '42874df0-7ec8-429a-a0a3-99cea44ced76 52921150-2dc3-4570-9395-86b2cb5842ae', 'SkyGuardDLPLabeler': 'DMS DMS', 'SkyGuardDLPLabelEndpointFQDN': 'dms.amedac.com dms.amedac.com', 'SkyGuardDLP</vt:lpwstr>
  </property>
  <property fmtid="{D5CDD505-2E9C-101B-9397-08002B2CF9AE}" pid="3" name="SkyGuardDLPLabelEndpointFQDN">
    <vt:lpwstr>dms.amedac.com dms.amedac.com</vt:lpwstr>
  </property>
  <property fmtid="{D5CDD505-2E9C-101B-9397-08002B2CF9AE}" pid="4" name="SkyGuardDLPLabelEndpointIP">
    <vt:lpwstr>172.18.23.100 172.18.23.100</vt:lpwstr>
  </property>
  <property fmtid="{D5CDD505-2E9C-101B-9397-08002B2CF9AE}" pid="5" name="SkyGuardDLPLabelEndpointUUID">
    <vt:lpwstr>74697A7874757A79767B667B6A676373 74697A7874757A79767B667B6A676373</vt:lpwstr>
  </property>
  <property fmtid="{D5CDD505-2E9C-101B-9397-08002B2CF9AE}" pid="6" name="SkyGuardDLPLabelFileUuid">
    <vt:lpwstr>cc09a674-778c-438c-9cee-743ce14e9ce7</vt:lpwstr>
  </property>
  <property fmtid="{D5CDD505-2E9C-101B-9397-08002B2CF9AE}" pid="7" name="SkyGuardDLPLabelHistory">
    <vt:lpwstr>amedac.com\0078 add 0 7e4ce440-49eb-471e-8cba-62d1b11582b0 on 79836A877183798268697B6A6767698B QXNB0078B.amedac.com 172.19.14.126 cc09a674-778c-438c-9cee-743ce14e9ce7 at 1724922466 cause labeled from RMenu's selected multifiles_x000d_AMEDAC.COM\0397 delete 0 7e</vt:lpwstr>
  </property>
  <property fmtid="{D5CDD505-2E9C-101B-9397-08002B2CF9AE}" pid="8" name="SkyGuardDLPLabelMode">
    <vt:lpwstr>0 0</vt:lpwstr>
  </property>
  <property fmtid="{D5CDD505-2E9C-101B-9397-08002B2CF9AE}" pid="9" name="SkyGuardDLPLabelReason">
    <vt:lpwstr>- -</vt:lpwstr>
  </property>
  <property fmtid="{D5CDD505-2E9C-101B-9397-08002B2CF9AE}" pid="10" name="SkyGuardDLPLabelTimestamp">
    <vt:lpwstr>1761194204 1761194204</vt:lpwstr>
  </property>
  <property fmtid="{D5CDD505-2E9C-101B-9397-08002B2CF9AE}" pid="11" name="SkyGuardDLPLabelUUID">
    <vt:lpwstr>42874df0-7ec8-429a-a0a3-99cea44ced76 52921150-2dc3-4570-9395-86b2cb5842ae</vt:lpwstr>
  </property>
  <property fmtid="{D5CDD505-2E9C-101B-9397-08002B2CF9AE}" pid="12" name="SkyGuardDLPLabelVersion">
    <vt:lpwstr>1.100000</vt:lpwstr>
  </property>
  <property fmtid="{D5CDD505-2E9C-101B-9397-08002B2CF9AE}" pid="13" name="SkyGuardDLPLabeler">
    <vt:lpwstr>DMS DMS</vt:lpwstr>
  </property>
</Properties>
</file>